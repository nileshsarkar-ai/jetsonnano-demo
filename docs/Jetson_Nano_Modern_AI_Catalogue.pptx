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8b9d7775fc4116" /><Relationship Type="http://schemas.openxmlformats.org/officeDocument/2006/relationships/extended-properties" Target="/docProps/app.xml" Id="R2afeb7d128874d9e" /><Relationship Type="http://schemas.openxmlformats.org/officeDocument/2006/relationships/officeDocument" Target="/ppt/presentation.xml" Id="R7516acf55b17417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527e56b4f6f4651"/>
  </p:sldMasterIdLst>
  <p:notesMasterIdLst>
    <p:notesMasterId xmlns:r="http://schemas.openxmlformats.org/officeDocument/2006/relationships" r:id="Rc1913478db24432d"/>
  </p:notesMasterIdLst>
  <p:sldIdLst>
    <p:sldId xmlns:r="http://schemas.openxmlformats.org/officeDocument/2006/relationships" id="256" r:id="R26026e7d5ee24734"/>
    <p:sldId xmlns:r="http://schemas.openxmlformats.org/officeDocument/2006/relationships" id="257" r:id="R653d3c368c364b16"/>
    <p:sldId xmlns:r="http://schemas.openxmlformats.org/officeDocument/2006/relationships" id="258" r:id="Rc4f3cdba4ec741b6"/>
    <p:sldId xmlns:r="http://schemas.openxmlformats.org/officeDocument/2006/relationships" id="259" r:id="R524a1e973489432e"/>
    <p:sldId xmlns:r="http://schemas.openxmlformats.org/officeDocument/2006/relationships" id="260" r:id="R32814ebcdf9643ac"/>
    <p:sldId xmlns:r="http://schemas.openxmlformats.org/officeDocument/2006/relationships" id="261" r:id="Rf7293a90b4dc4cf5"/>
    <p:sldId xmlns:r="http://schemas.openxmlformats.org/officeDocument/2006/relationships" id="262" r:id="R946ef1304e524f25"/>
    <p:sldId xmlns:r="http://schemas.openxmlformats.org/officeDocument/2006/relationships" id="263" r:id="Rab346a294e524e43"/>
    <p:sldId xmlns:r="http://schemas.openxmlformats.org/officeDocument/2006/relationships" id="264" r:id="R7f85e6d6637844c1"/>
    <p:sldId xmlns:r="http://schemas.openxmlformats.org/officeDocument/2006/relationships" id="265" r:id="R159167a0e5a94131"/>
    <p:sldId xmlns:r="http://schemas.openxmlformats.org/officeDocument/2006/relationships" id="266" r:id="Ra373a8b46ce44964"/>
    <p:sldId xmlns:r="http://schemas.openxmlformats.org/officeDocument/2006/relationships" id="267" r:id="R44741e29da4c4027"/>
    <p:sldId xmlns:r="http://schemas.openxmlformats.org/officeDocument/2006/relationships" id="268" r:id="R8806b1cea082467a"/>
    <p:sldId xmlns:r="http://schemas.openxmlformats.org/officeDocument/2006/relationships" id="269" r:id="R1bf24554511245a7"/>
    <p:sldId xmlns:r="http://schemas.openxmlformats.org/officeDocument/2006/relationships" id="270" r:id="R1b91cf8e5ab54efd"/>
    <p:sldId xmlns:r="http://schemas.openxmlformats.org/officeDocument/2006/relationships" id="271" r:id="R811ec12a88e84301"/>
    <p:sldId xmlns:r="http://schemas.openxmlformats.org/officeDocument/2006/relationships" id="272" r:id="R21b689dc8b0f440f"/>
    <p:sldId xmlns:r="http://schemas.openxmlformats.org/officeDocument/2006/relationships" id="273" r:id="R583ad0ee08e34f60"/>
    <p:sldId xmlns:r="http://schemas.openxmlformats.org/officeDocument/2006/relationships" id="274" r:id="R92d442e5e2ff4d82"/>
    <p:sldId xmlns:r="http://schemas.openxmlformats.org/officeDocument/2006/relationships" id="275" r:id="Rde765425041542f5"/>
    <p:sldId xmlns:r="http://schemas.openxmlformats.org/officeDocument/2006/relationships" id="276" r:id="Reb692c84f7434f5e"/>
    <p:sldId xmlns:r="http://schemas.openxmlformats.org/officeDocument/2006/relationships" id="277" r:id="R1b6c4c9a29dc4c7f"/>
    <p:sldId xmlns:r="http://schemas.openxmlformats.org/officeDocument/2006/relationships" id="278" r:id="R6496d6bf0e8945d4"/>
    <p:sldId xmlns:r="http://schemas.openxmlformats.org/officeDocument/2006/relationships" id="279" r:id="Rf19509a2b0da49d8"/>
    <p:sldId xmlns:r="http://schemas.openxmlformats.org/officeDocument/2006/relationships" id="280" r:id="Rac4c7f17980a432f"/>
    <p:sldId xmlns:r="http://schemas.openxmlformats.org/officeDocument/2006/relationships" id="281" r:id="R17bf9dd2347e4a40"/>
    <p:sldId xmlns:r="http://schemas.openxmlformats.org/officeDocument/2006/relationships" id="282" r:id="Rbe239d0265624991"/>
    <p:sldId xmlns:r="http://schemas.openxmlformats.org/officeDocument/2006/relationships" id="283" r:id="R3cc565abfd284565"/>
  </p:sldIdLst>
  <p:sldSz cx="12192000" cy="6858000"/>
  <p:notesSz cx="6858000" cy="9144000"/>
  <p:embeddedFontLst>
    <p:embeddedFont>
      <p:font typeface="OpenAI Sans"/>
      <p:regular xmlns:r="http://schemas.openxmlformats.org/officeDocument/2006/relationships" r:id="R6801151f66ba4671"/>
      <p:bold xmlns:r="http://schemas.openxmlformats.org/officeDocument/2006/relationships" r:id="R81d6e0909fd64265"/>
      <p:italic xmlns:r="http://schemas.openxmlformats.org/officeDocument/2006/relationships" r:id="R6983d0d719454bc2"/>
      <p:boldItalic xmlns:r="http://schemas.openxmlformats.org/officeDocument/2006/relationships" r:id="R9ff141aa487647a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117811c7b0a414a" /><Relationship Type="http://schemas.openxmlformats.org/officeDocument/2006/relationships/slideMaster" Target="/ppt/slideMasters/slideMaster1.xml" Id="Rc527e56b4f6f4651" /><Relationship Type="http://schemas.openxmlformats.org/officeDocument/2006/relationships/notesMaster" Target="/ppt/notesMasters/notesMaster1.xml" Id="Rc1913478db24432d" /><Relationship Type="http://schemas.openxmlformats.org/officeDocument/2006/relationships/presProps" Target="/ppt/presProps.xml" Id="Rbbfb96b847df4dc9" /><Relationship Type="http://schemas.openxmlformats.org/officeDocument/2006/relationships/viewProps" Target="/ppt/viewProps.xml" Id="R2c66af556b214881" /><Relationship Type="http://schemas.openxmlformats.org/officeDocument/2006/relationships/tableStyles" Target="/ppt/tableStyles.xml" Id="Rf690a570f5c44771" /><Relationship Type="http://schemas.openxmlformats.org/officeDocument/2006/relationships/font" Target="/ppt/fonts/font.dat" Id="R6801151f66ba4671" /><Relationship Type="http://schemas.openxmlformats.org/officeDocument/2006/relationships/font" Target="/ppt/fonts/font2.dat" Id="R81d6e0909fd64265" /><Relationship Type="http://schemas.openxmlformats.org/officeDocument/2006/relationships/font" Target="/ppt/fonts/font3.dat" Id="R6983d0d719454bc2" /><Relationship Type="http://schemas.openxmlformats.org/officeDocument/2006/relationships/font" Target="/ppt/fonts/font4.dat" Id="R9ff141aa487647a7" /><Relationship Type="http://schemas.openxmlformats.org/officeDocument/2006/relationships/slide" Target="/ppt/slides/slide1.xml" Id="R26026e7d5ee24734" /><Relationship Type="http://schemas.openxmlformats.org/officeDocument/2006/relationships/slide" Target="/ppt/slides/slide2.xml" Id="R653d3c368c364b16" /><Relationship Type="http://schemas.openxmlformats.org/officeDocument/2006/relationships/slide" Target="/ppt/slides/slide3.xml" Id="Rc4f3cdba4ec741b6" /><Relationship Type="http://schemas.openxmlformats.org/officeDocument/2006/relationships/slide" Target="/ppt/slides/slide4.xml" Id="R524a1e973489432e" /><Relationship Type="http://schemas.openxmlformats.org/officeDocument/2006/relationships/slide" Target="/ppt/slides/slide5.xml" Id="R32814ebcdf9643ac" /><Relationship Type="http://schemas.openxmlformats.org/officeDocument/2006/relationships/slide" Target="/ppt/slides/slide6.xml" Id="Rf7293a90b4dc4cf5" /><Relationship Type="http://schemas.openxmlformats.org/officeDocument/2006/relationships/slide" Target="/ppt/slides/slide7.xml" Id="R946ef1304e524f25" /><Relationship Type="http://schemas.openxmlformats.org/officeDocument/2006/relationships/slide" Target="/ppt/slides/slide8.xml" Id="Rab346a294e524e43" /><Relationship Type="http://schemas.openxmlformats.org/officeDocument/2006/relationships/slide" Target="/ppt/slides/slide9.xml" Id="R7f85e6d6637844c1" /><Relationship Type="http://schemas.openxmlformats.org/officeDocument/2006/relationships/slide" Target="/ppt/slides/slide10.xml" Id="R159167a0e5a94131" /><Relationship Type="http://schemas.openxmlformats.org/officeDocument/2006/relationships/slide" Target="/ppt/slides/slide11.xml" Id="Ra373a8b46ce44964" /><Relationship Type="http://schemas.openxmlformats.org/officeDocument/2006/relationships/slide" Target="/ppt/slides/slide12.xml" Id="R44741e29da4c4027" /><Relationship Type="http://schemas.openxmlformats.org/officeDocument/2006/relationships/slide" Target="/ppt/slides/slide13.xml" Id="R8806b1cea082467a" /><Relationship Type="http://schemas.openxmlformats.org/officeDocument/2006/relationships/slide" Target="/ppt/slides/slide14.xml" Id="R1bf24554511245a7" /><Relationship Type="http://schemas.openxmlformats.org/officeDocument/2006/relationships/slide" Target="/ppt/slides/slide15.xml" Id="R1b91cf8e5ab54efd" /><Relationship Type="http://schemas.openxmlformats.org/officeDocument/2006/relationships/slide" Target="/ppt/slides/slide16.xml" Id="R811ec12a88e84301" /><Relationship Type="http://schemas.openxmlformats.org/officeDocument/2006/relationships/slide" Target="/ppt/slides/slide17.xml" Id="R21b689dc8b0f440f" /><Relationship Type="http://schemas.openxmlformats.org/officeDocument/2006/relationships/slide" Target="/ppt/slides/slide18.xml" Id="R583ad0ee08e34f60" /><Relationship Type="http://schemas.openxmlformats.org/officeDocument/2006/relationships/slide" Target="/ppt/slides/slide19.xml" Id="R92d442e5e2ff4d82" /><Relationship Type="http://schemas.openxmlformats.org/officeDocument/2006/relationships/slide" Target="/ppt/slides/slide20.xml" Id="Rde765425041542f5" /><Relationship Type="http://schemas.openxmlformats.org/officeDocument/2006/relationships/slide" Target="/ppt/slides/slide21.xml" Id="Reb692c84f7434f5e" /><Relationship Type="http://schemas.openxmlformats.org/officeDocument/2006/relationships/slide" Target="/ppt/slides/slide22.xml" Id="R1b6c4c9a29dc4c7f" /><Relationship Type="http://schemas.openxmlformats.org/officeDocument/2006/relationships/slide" Target="/ppt/slides/slide23.xml" Id="R6496d6bf0e8945d4" /><Relationship Type="http://schemas.openxmlformats.org/officeDocument/2006/relationships/slide" Target="/ppt/slides/slide24.xml" Id="Rf19509a2b0da49d8" /><Relationship Type="http://schemas.openxmlformats.org/officeDocument/2006/relationships/slide" Target="/ppt/slides/slide25.xml" Id="Rac4c7f17980a432f" /><Relationship Type="http://schemas.openxmlformats.org/officeDocument/2006/relationships/slide" Target="/ppt/slides/slide26.xml" Id="R17bf9dd2347e4a40" /><Relationship Type="http://schemas.openxmlformats.org/officeDocument/2006/relationships/slide" Target="/ppt/slides/slide27.xml" Id="Rbe239d0265624991" /><Relationship Type="http://schemas.openxmlformats.org/officeDocument/2006/relationships/slide" Target="/ppt/slides/slide28.xml" Id="R3cc565abfd2845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dc701210924b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d31936e2f45ad" /><Relationship Type="http://schemas.openxmlformats.org/officeDocument/2006/relationships/notesMaster" Target="/ppt/notesMasters/notesMaster1.xml" Id="Rb2032ca8b17b42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3f7f09677043ad" /><Relationship Type="http://schemas.openxmlformats.org/officeDocument/2006/relationships/notesMaster" Target="/ppt/notesMasters/notesMaster1.xml" Id="R810b6e3eb7ec4b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5aa21ac2354c49" /><Relationship Type="http://schemas.openxmlformats.org/officeDocument/2006/relationships/notesMaster" Target="/ppt/notesMasters/notesMaster1.xml" Id="R7434a4c245264d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3640c3b49a4e8a" /><Relationship Type="http://schemas.openxmlformats.org/officeDocument/2006/relationships/notesMaster" Target="/ppt/notesMasters/notesMaster1.xml" Id="R3aef6cf5becd4f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2547a3d9ca4442" /><Relationship Type="http://schemas.openxmlformats.org/officeDocument/2006/relationships/notesMaster" Target="/ppt/notesMasters/notesMaster1.xml" Id="R83ac5f1e700143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b9b23e1a39414f" /><Relationship Type="http://schemas.openxmlformats.org/officeDocument/2006/relationships/notesMaster" Target="/ppt/notesMasters/notesMaster1.xml" Id="R853a5d103f1e44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ea526cce0245b0" /><Relationship Type="http://schemas.openxmlformats.org/officeDocument/2006/relationships/notesMaster" Target="/ppt/notesMasters/notesMaster1.xml" Id="R95241e9c8c5f42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3c7bd6bd6443a4" /><Relationship Type="http://schemas.openxmlformats.org/officeDocument/2006/relationships/notesMaster" Target="/ppt/notesMasters/notesMaster1.xml" Id="R94a2c2e46f6643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50350af039401c" /><Relationship Type="http://schemas.openxmlformats.org/officeDocument/2006/relationships/notesMaster" Target="/ppt/notesMasters/notesMaster1.xml" Id="R1214b3a7994c41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4790d02e764172" /><Relationship Type="http://schemas.openxmlformats.org/officeDocument/2006/relationships/notesMaster" Target="/ppt/notesMasters/notesMaster1.xml" Id="R05b5819dda6f4d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bb4fe776c8407c" /><Relationship Type="http://schemas.openxmlformats.org/officeDocument/2006/relationships/notesMaster" Target="/ppt/notesMasters/notesMaster1.xml" Id="Rd10af856710342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b8e746a63f4ee8" /><Relationship Type="http://schemas.openxmlformats.org/officeDocument/2006/relationships/notesMaster" Target="/ppt/notesMasters/notesMaster1.xml" Id="Ra23f5e698b6042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6a4aa852964bf3" /><Relationship Type="http://schemas.openxmlformats.org/officeDocument/2006/relationships/notesMaster" Target="/ppt/notesMasters/notesMaster1.xml" Id="Rab986f7b60cb4d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f764f2441b413f" /><Relationship Type="http://schemas.openxmlformats.org/officeDocument/2006/relationships/notesMaster" Target="/ppt/notesMasters/notesMaster1.xml" Id="Rccc5170990eb47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636164ee4f4d65" /><Relationship Type="http://schemas.openxmlformats.org/officeDocument/2006/relationships/notesMaster" Target="/ppt/notesMasters/notesMaster1.xml" Id="R405e363ae19345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a3fc0cb6ba44b8" /><Relationship Type="http://schemas.openxmlformats.org/officeDocument/2006/relationships/notesMaster" Target="/ppt/notesMasters/notesMaster1.xml" Id="Rdfe0a55bf0274b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aae8b6026b4d09" /><Relationship Type="http://schemas.openxmlformats.org/officeDocument/2006/relationships/notesMaster" Target="/ppt/notesMasters/notesMaster1.xml" Id="Rdfb6e83f115e4c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49ae8b0bc24dd8" /><Relationship Type="http://schemas.openxmlformats.org/officeDocument/2006/relationships/notesMaster" Target="/ppt/notesMasters/notesMaster1.xml" Id="Rbb11ba4aeae34e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2ef07a1dfc464d" /><Relationship Type="http://schemas.openxmlformats.org/officeDocument/2006/relationships/notesMaster" Target="/ppt/notesMasters/notesMaster1.xml" Id="R12a52f0b4ddd40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02cf70f9254d83" /><Relationship Type="http://schemas.openxmlformats.org/officeDocument/2006/relationships/notesMaster" Target="/ppt/notesMasters/notesMaster1.xml" Id="R9e5858e308ac44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ca219daa6a49bd" /><Relationship Type="http://schemas.openxmlformats.org/officeDocument/2006/relationships/notesMaster" Target="/ppt/notesMasters/notesMaster1.xml" Id="R6a15323714264e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304050b7a34f4d" /><Relationship Type="http://schemas.openxmlformats.org/officeDocument/2006/relationships/notesMaster" Target="/ppt/notesMasters/notesMaster1.xml" Id="R5668d6476c374a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d43ad5d9cb46de" /><Relationship Type="http://schemas.openxmlformats.org/officeDocument/2006/relationships/notesMaster" Target="/ppt/notesMasters/notesMaster1.xml" Id="R1b025a69d0b54f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eda83b3e8942b0" /><Relationship Type="http://schemas.openxmlformats.org/officeDocument/2006/relationships/notesMaster" Target="/ppt/notesMasters/notesMaster1.xml" Id="R68dffa5fdf404f9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f2f2ca9c5743f4" /><Relationship Type="http://schemas.openxmlformats.org/officeDocument/2006/relationships/notesMaster" Target="/ppt/notesMasters/notesMaster1.xml" Id="R29136e61705448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c7778964c74b10" /><Relationship Type="http://schemas.openxmlformats.org/officeDocument/2006/relationships/notesMaster" Target="/ppt/notesMasters/notesMaster1.xml" Id="R4fdca62680de42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2d88e3143a472a" /><Relationship Type="http://schemas.openxmlformats.org/officeDocument/2006/relationships/notesMaster" Target="/ppt/notesMasters/notesMaster1.xml" Id="R4ecbb07de8944b8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05f5cd60414fe1" /><Relationship Type="http://schemas.openxmlformats.org/officeDocument/2006/relationships/notesMaster" Target="/ppt/notesMasters/notesMaster1.xml" Id="R9661745f2e384f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original 2019 Jetson Nano 4GB developer kit. This is a master catalogue, not a session schedule. It teaches modern AI concepts with small implementations. It does not claim state-of-the-art performance or that every model has been tested on Nano. Research checked September 2026.</a:t>
            </a:r>
          </a:p>
          <a:p xmlns:a="http://schemas.openxmlformats.org/drawingml/2006/main">
            <a:r>
              <a:t/>
            </a:r>
          </a:p>
          <a:p xmlns:a="http://schemas.openxmlformats.org/drawingml/2006/main">
            <a:r>
              <a:t>Sources</a:t>
            </a:r>
          </a:p>
          <a:p xmlns:a="http://schemas.openxmlformats.org/drawingml/2006/main">
            <a:r>
              <a:t>https://developer.nvidia.com/embedded/jetson-nano</a:t>
            </a:r>
          </a:p>
          <a:p xmlns:a="http://schemas.openxmlformats.org/drawingml/2006/main">
            <a:r>
              <a:t>https://developer.nvidia.com/cuda/gpus/legacy</a:t>
            </a:r>
          </a:p>
          <a:p xmlns:a="http://schemas.openxmlformats.org/drawingml/2006/main">
            <a:r>
              <a:t>https://forums.developer.nvidia.com/t/announcing-end-of-life-for-nvidia-jetpack-4-with-the-release-of-jetpack-4-6-6/314300</a:t>
            </a:r>
          </a:p>
          <a:p xmlns:a="http://schemas.openxmlformats.org/drawingml/2006/main">
            <a:r>
              <a:t>https://developer.nvidia.com/embedded/jetpack-sdk-461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facts come from NVIDIA. JetPack 4 reached end of life in November 2024. A newer Python interpreter alone does not resolve old CUDA and binary compatibility. All route labels are planning assessments rather than on-board validation.</a:t>
            </a:r>
          </a:p>
          <a:p xmlns:a="http://schemas.openxmlformats.org/drawingml/2006/main">
            <a:r>
              <a:t/>
            </a:r>
          </a:p>
          <a:p xmlns:a="http://schemas.openxmlformats.org/drawingml/2006/main">
            <a:r>
              <a:t>Sources</a:t>
            </a:r>
          </a:p>
          <a:p xmlns:a="http://schemas.openxmlformats.org/drawingml/2006/main">
            <a:r>
              <a:t>https://developer.nvidia.com/embedded/jetson-nano</a:t>
            </a:r>
          </a:p>
          <a:p xmlns:a="http://schemas.openxmlformats.org/drawingml/2006/main">
            <a:r>
              <a:t>https://developer.nvidia.com/cuda/gpus/legacy</a:t>
            </a:r>
          </a:p>
          <a:p xmlns:a="http://schemas.openxmlformats.org/drawingml/2006/main">
            <a:r>
              <a:t>https://forums.developer.nvidia.com/t/announcing-end-of-life-for-nvidia-jetpack-4-with-the-release-of-jetpack-4-6-6/314300</a:t>
            </a:r>
          </a:p>
          <a:p xmlns:a="http://schemas.openxmlformats.org/drawingml/2006/main">
            <a:r>
              <a:t>https://developer.nvidia.com/embedded/jetpack-sdk-461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assumes a prepared and pinned software stack, a small model, and a bounded task. External training still requires checking inference compatibility after conversion. Experimental is not a promise of real-time operation. Ordinary quantized inference is not QLoRA training.</a:t>
            </a:r>
          </a:p>
          <a:p xmlns:a="http://schemas.openxmlformats.org/drawingml/2006/main">
            <a:r>
              <a:t/>
            </a:r>
          </a:p>
          <a:p xmlns:a="http://schemas.openxmlformats.org/drawingml/2006/main">
            <a:r>
              <a:t>Sources</a:t>
            </a:r>
          </a:p>
          <a:p xmlns:a="http://schemas.openxmlformats.org/drawingml/2006/main">
            <a:r>
              <a:t>https://arxiv.org/abs/2106.09685</a:t>
            </a:r>
          </a:p>
          <a:p xmlns:a="http://schemas.openxmlformats.org/drawingml/2006/main">
            <a:r>
              <a:t>https://arxiv.org/abs/2305.14314</a:t>
            </a:r>
          </a:p>
          <a:p xmlns:a="http://schemas.openxmlformats.org/drawingml/2006/main">
            <a:r>
              <a:t>https://huggingface.co/docs/bitsandbytes/installation</a:t>
            </a:r>
          </a:p>
          <a:p xmlns:a="http://schemas.openxmlformats.org/drawingml/2006/main">
            <a:r>
              <a:t>https://github.com/karpathy/llama2.c</a:t>
            </a:r>
          </a:p>
          <a:p xmlns:a="http://schemas.openxmlformats.org/drawingml/2006/main">
            <a:r>
              <a:t>https://github.com/dusty-nv/jetson-inference</a:t>
            </a:r>
          </a:p>
          <a:p xmlns:a="http://schemas.openxmlformats.org/drawingml/2006/main">
            <a:r>
              <a:t>https://github.com/ggml-org/llama.cpp</a:t>
            </a:r>
          </a:p>
          <a:p xmlns:a="http://schemas.openxmlformats.org/drawingml/2006/main">
            <a:r>
              <a:t>https://github.com/ggml-org/llama.cpp/blob/master/examples/speculative/README.md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numbers preserve the complete combined list of 72 requested topics. Categories organize the catalogue without prescribing a session sequence.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Thinking-mode tests require a supporting model such as Qwen3-0.6B and a compatible newer runtime. Fluent or longer output does not establish reliable reasoning.</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https://github.com/ggml-org/whisper.cpp</a:t>
            </a:r>
          </a:p>
          <a:p xmlns:a="http://schemas.openxmlformats.org/drawingml/2006/main">
            <a:r>
              <a:t>https://github.com/alphacep/vosk-space/blob/master/models.md</a:t>
            </a:r>
          </a:p>
          <a:p xmlns:a="http://schemas.openxmlformats.org/drawingml/2006/main">
            <a:r>
              <a:t>https://k2-fsa.github.io/sherpa/onnx/index.html</a:t>
            </a:r>
          </a:p>
          <a:p xmlns:a="http://schemas.openxmlformats.org/drawingml/2006/main">
            <a:r>
              <a:t>https://github.com/k2-fsa/sherpa-onnx/blob/master/python-api-examples/offline-tts.py</a:t>
            </a:r>
          </a:p>
          <a:p xmlns:a="http://schemas.openxmlformats.org/drawingml/2006/main">
            <a:r>
              <a:t>https://k2-fsa.github.io/sherpa/onnx/audio-tagging/index.html</a:t>
            </a:r>
          </a:p>
          <a:p xmlns:a="http://schemas.openxmlformats.org/drawingml/2006/main">
            <a:r>
              <a:t>https://k2-fsa.github.io/sherpa/onnx/speaker-identification/index.html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https://github.com/ggml-org/whisper.cpp</a:t>
            </a:r>
          </a:p>
          <a:p xmlns:a="http://schemas.openxmlformats.org/drawingml/2006/main">
            <a:r>
              <a:t>https://github.com/alphacep/vosk-space/blob/master/models.md</a:t>
            </a:r>
          </a:p>
          <a:p xmlns:a="http://schemas.openxmlformats.org/drawingml/2006/main">
            <a:r>
              <a:t>https://k2-fsa.github.io/sherpa/onnx/index.html</a:t>
            </a:r>
          </a:p>
          <a:p xmlns:a="http://schemas.openxmlformats.org/drawingml/2006/main">
            <a:r>
              <a:t>https://github.com/k2-fsa/sherpa-onnx/blob/master/python-api-examples/offline-tts.py</a:t>
            </a:r>
          </a:p>
          <a:p xmlns:a="http://schemas.openxmlformats.org/drawingml/2006/main">
            <a:r>
              <a:t>https://k2-fsa.github.io/sherpa/onnx/audio-tagging/index.html</a:t>
            </a:r>
          </a:p>
          <a:p xmlns:a="http://schemas.openxmlformats.org/drawingml/2006/main">
            <a:r>
              <a:t>https://k2-fsa.github.io/sherpa/onnx/speaker-identification/index.html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sherpa-onnx supports these task families, but its Nano backend documentation does not validate every model or latency target.</a:t>
            </a:r>
          </a:p>
          <a:p xmlns:a="http://schemas.openxmlformats.org/drawingml/2006/main">
            <a:r>
              <a:t/>
            </a:r>
          </a:p>
          <a:p xmlns:a="http://schemas.openxmlformats.org/drawingml/2006/main">
            <a:r>
              <a:t>Sources</a:t>
            </a:r>
          </a:p>
          <a:p xmlns:a="http://schemas.openxmlformats.org/drawingml/2006/main">
            <a:r>
              <a:t>https://github.com/ggml-org/whisper.cpp</a:t>
            </a:r>
          </a:p>
          <a:p xmlns:a="http://schemas.openxmlformats.org/drawingml/2006/main">
            <a:r>
              <a:t>https://github.com/alphacep/vosk-space/blob/master/models.md</a:t>
            </a:r>
          </a:p>
          <a:p xmlns:a="http://schemas.openxmlformats.org/drawingml/2006/main">
            <a:r>
              <a:t>https://k2-fsa.github.io/sherpa/onnx/index.html</a:t>
            </a:r>
          </a:p>
          <a:p xmlns:a="http://schemas.openxmlformats.org/drawingml/2006/main">
            <a:r>
              <a:t>https://github.com/k2-fsa/sherpa-onnx/blob/master/python-api-examples/offline-tts.py</a:t>
            </a:r>
          </a:p>
          <a:p xmlns:a="http://schemas.openxmlformats.org/drawingml/2006/main">
            <a:r>
              <a:t>https://k2-fsa.github.io/sherpa/onnx/audio-tagging/index.html</a:t>
            </a:r>
          </a:p>
          <a:p xmlns:a="http://schemas.openxmlformats.org/drawingml/2006/main">
            <a:r>
              <a:t>https://k2-fsa.github.io/sherpa/onnx/speaker-identification/index.html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Use a small corpus. A compatible small embedding runtime is required for local semantic search. Document embeddings can be precomputed elsewhere.</a:t>
            </a:r>
          </a:p>
          <a:p xmlns:a="http://schemas.openxmlformats.org/drawingml/2006/main">
            <a:r>
              <a:t/>
            </a:r>
          </a:p>
          <a:p xmlns:a="http://schemas.openxmlformats.org/drawingml/2006/main">
            <a:r>
              <a:t>Sources</a:t>
            </a:r>
          </a:p>
          <a:p xmlns:a="http://schemas.openxmlformats.org/drawingml/2006/main">
            <a:r>
              <a:t>https://huggingface.co/sentence-transformers/all-MiniLM-L6-v2</a:t>
            </a:r>
          </a:p>
          <a:p xmlns:a="http://schemas.openxmlformats.org/drawingml/2006/main">
            <a:r>
              <a:t>https://github.com/ggml-org/llama.cpp/blob/master/grammars/README.md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Constrained JSON guarantees syntax only. Application code must validate tool names and arguments. Hardware demonstrations should use a small fixed action set.</a:t>
            </a:r>
          </a:p>
          <a:p xmlns:a="http://schemas.openxmlformats.org/drawingml/2006/main">
            <a:r>
              <a:t/>
            </a:r>
          </a:p>
          <a:p xmlns:a="http://schemas.openxmlformats.org/drawingml/2006/main">
            <a:r>
              <a:t>Sources</a:t>
            </a:r>
          </a:p>
          <a:p xmlns:a="http://schemas.openxmlformats.org/drawingml/2006/main">
            <a:r>
              <a:t>https://huggingface.co/sentence-transformers/all-MiniLM-L6-v2</a:t>
            </a:r>
          </a:p>
          <a:p xmlns:a="http://schemas.openxmlformats.org/drawingml/2006/main">
            <a:r>
              <a:t>https://github.com/ggml-org/llama.cpp/blob/master/grammars/README.md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https://huggingface.co/sentence-transformers/all-MiniLM-L6-v2</a:t>
            </a:r>
          </a:p>
          <a:p xmlns:a="http://schemas.openxmlformats.org/drawingml/2006/main">
            <a:r>
              <a:t>https://github.com/ggml-org/llama.cpp/blob/master/grammars/README.md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Use a JetPack-4-compatible revision of jetson-inference. Custom training occurs elsewhere. Real-time behavior depends on the selected model and camera settings.</a:t>
            </a:r>
          </a:p>
          <a:p xmlns:a="http://schemas.openxmlformats.org/drawingml/2006/main">
            <a:r>
              <a:t/>
            </a:r>
          </a:p>
          <a:p xmlns:a="http://schemas.openxmlformats.org/drawingml/2006/main">
            <a:r>
              <a:t>Sources</a:t>
            </a:r>
          </a:p>
          <a:p xmlns:a="http://schemas.openxmlformats.org/drawingml/2006/main">
            <a:r>
              <a:t>https://github.com/dusty-nv/jetson-inference</a:t>
            </a:r>
          </a:p>
          <a:p xmlns:a="http://schemas.openxmlformats.org/drawingml/2006/main">
            <a:r>
              <a:t>https://huggingface.co/blog/smolervlm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SmolVLM 256M and 500M are exploratory model candidates. Their small parameter count alone does not confirm compatibility with original Nano.</a:t>
            </a:r>
          </a:p>
          <a:p xmlns:a="http://schemas.openxmlformats.org/drawingml/2006/main">
            <a:r>
              <a:t/>
            </a:r>
          </a:p>
          <a:p xmlns:a="http://schemas.openxmlformats.org/drawingml/2006/main">
            <a:r>
              <a:t>Sources</a:t>
            </a:r>
          </a:p>
          <a:p xmlns:a="http://schemas.openxmlformats.org/drawingml/2006/main">
            <a:r>
              <a:t>https://github.com/dusty-nv/jetson-inference</a:t>
            </a:r>
          </a:p>
          <a:p xmlns:a="http://schemas.openxmlformats.org/drawingml/2006/main">
            <a:r>
              <a:t>https://huggingface.co/blog/smolervlm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https://github.com/dusty-nv/jetson-inference</a:t>
            </a:r>
          </a:p>
          <a:p xmlns:a="http://schemas.openxmlformats.org/drawingml/2006/main">
            <a:r>
              <a:t>https://huggingface.co/blog/smolervlm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Current bitsandbytes CUDA QLoRA requires compute capability 6.0+ and CUDA 11.8+ in its documented build route. Nano has 5.3 and CUDA 10.2. Train QLoRA elsewhere. Tiny local LoRA needs a compatible framework and a bounded memory budget.</a:t>
            </a:r>
          </a:p>
          <a:p xmlns:a="http://schemas.openxmlformats.org/drawingml/2006/main">
            <a:r>
              <a:t/>
            </a:r>
          </a:p>
          <a:p xmlns:a="http://schemas.openxmlformats.org/drawingml/2006/main">
            <a:r>
              <a:t>Sources</a:t>
            </a:r>
          </a:p>
          <a:p xmlns:a="http://schemas.openxmlformats.org/drawingml/2006/main">
            <a:r>
              <a:t>https://arxiv.org/abs/2106.09685</a:t>
            </a:r>
          </a:p>
          <a:p xmlns:a="http://schemas.openxmlformats.org/drawingml/2006/main">
            <a:r>
              <a:t>https://arxiv.org/abs/2305.14314</a:t>
            </a:r>
          </a:p>
          <a:p xmlns:a="http://schemas.openxmlformats.org/drawingml/2006/main">
            <a:r>
              <a:t>https://huggingface.co/docs/bitsandbytes/installation</a:t>
            </a:r>
          </a:p>
          <a:p xmlns:a="http://schemas.openxmlformats.org/drawingml/2006/main">
            <a:r>
              <a:t>https://github.com/karpathy/llama2.c</a:t>
            </a:r>
          </a:p>
          <a:p xmlns:a="http://schemas.openxmlformats.org/drawingml/2006/main">
            <a:r>
              <a:t>https://github.com/dusty-nv/jetson-inference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https://arxiv.org/abs/2106.09685</a:t>
            </a:r>
          </a:p>
          <a:p xmlns:a="http://schemas.openxmlformats.org/drawingml/2006/main">
            <a:r>
              <a:t>https://arxiv.org/abs/2305.14314</a:t>
            </a:r>
          </a:p>
          <a:p xmlns:a="http://schemas.openxmlformats.org/drawingml/2006/main">
            <a:r>
              <a:t>https://huggingface.co/docs/bitsandbytes/installation</a:t>
            </a:r>
          </a:p>
          <a:p xmlns:a="http://schemas.openxmlformats.org/drawingml/2006/main">
            <a:r>
              <a:t>https://github.com/karpathy/llama2.c</a:t>
            </a:r>
          </a:p>
          <a:p xmlns:a="http://schemas.openxmlformats.org/drawingml/2006/main">
            <a:r>
              <a:t>https://github.com/dusty-nv/jetson-inference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Topic 61 can use a prepared small classifier or saved checkpoints so students evaluate overfitting locally without a large training run.</a:t>
            </a:r>
          </a:p>
          <a:p xmlns:a="http://schemas.openxmlformats.org/drawingml/2006/main">
            <a:r>
              <a:t/>
            </a:r>
          </a:p>
          <a:p xmlns:a="http://schemas.openxmlformats.org/drawingml/2006/main">
            <a:r>
              <a:t>Sources</a:t>
            </a:r>
          </a:p>
          <a:p xmlns:a="http://schemas.openxmlformats.org/drawingml/2006/main">
            <a:r>
              <a:t>https://arxiv.org/abs/2106.09685</a:t>
            </a:r>
          </a:p>
          <a:p xmlns:a="http://schemas.openxmlformats.org/drawingml/2006/main">
            <a:r>
              <a:t>https://arxiv.org/abs/2305.14314</a:t>
            </a:r>
          </a:p>
          <a:p xmlns:a="http://schemas.openxmlformats.org/drawingml/2006/main">
            <a:r>
              <a:t>https://huggingface.co/docs/bitsandbytes/installation</a:t>
            </a:r>
          </a:p>
          <a:p xmlns:a="http://schemas.openxmlformats.org/drawingml/2006/main">
            <a:r>
              <a:t>https://github.com/karpathy/llama2.c</a:t>
            </a:r>
          </a:p>
          <a:p xmlns:a="http://schemas.openxmlformats.org/drawingml/2006/main">
            <a:r>
              <a:t>https://github.com/dusty-nv/jetson-inference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https://github.com/ggml-org/llama.cpp</a:t>
            </a:r>
          </a:p>
          <a:p xmlns:a="http://schemas.openxmlformats.org/drawingml/2006/main">
            <a:r>
              <a:t>https://github.com/ggml-org/llama.cpp/blob/master/examples/speculative/README.md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 Speculative decoding requires compatible draft and target models and runtime support. Extra computation and memory may make it slower on Nano. Model routing may load models sequentially rather than keeping both resident.</a:t>
            </a:r>
          </a:p>
          <a:p xmlns:a="http://schemas.openxmlformats.org/drawingml/2006/main">
            <a:r>
              <a:t/>
            </a:r>
          </a:p>
          <a:p xmlns:a="http://schemas.openxmlformats.org/drawingml/2006/main">
            <a:r>
              <a:t>Sources</a:t>
            </a:r>
          </a:p>
          <a:p xmlns:a="http://schemas.openxmlformats.org/drawingml/2006/main">
            <a:r>
              <a:t>https://github.com/ggml-org/llama.cpp</a:t>
            </a:r>
          </a:p>
          <a:p xmlns:a="http://schemas.openxmlformats.org/drawingml/2006/main">
            <a:r>
              <a:t>https://github.com/ggml-org/llama.cpp/blob/master/examples/speculative/README.md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labels are assessments. The specific model, export format, runtime version, and task size determine compatibility. These are project proposals, not experimental findings.</a:t>
            </a:r>
          </a:p>
          <a:p xmlns:a="http://schemas.openxmlformats.org/drawingml/2006/main">
            <a:r>
              <a:t/>
            </a:r>
          </a:p>
          <a:p xmlns:a="http://schemas.openxmlformats.org/drawingml/2006/main">
            <a:r>
              <a:t>Sources</a:t>
            </a:r>
          </a:p>
          <a:p xmlns:a="http://schemas.openxmlformats.org/drawingml/2006/main">
            <a:r>
              <a:t>https://github.com/ggml-org/llama.cpp</a:t>
            </a:r>
          </a:p>
          <a:p xmlns:a="http://schemas.openxmlformats.org/drawingml/2006/main">
            <a:r>
              <a:t>https://github.com/ggml-org/llama.cpp/blob/master/examples/speculative/README.md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TinyStories models are story generators, not general assistants. Model sizes follow the linked model cards and project documentation. TinyLlama and Gemma 3 1B have community original-Nano deployment evidence using pinned and modified llama.cpp builds. Do not assume current upstream GPU builds work unchanged.</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sherpa-onnx explicitly documents Linux ARM64 CUDA 10.2/cuDNN8 and Jetson Nano B01. Individual ONNX model/operator compatibility still needs checking. MiniLM is a semantic-search candidate, not a verified deployment here. Generic ARM64 binaries may depend on newer system libraries.</a:t>
            </a:r>
          </a:p>
          <a:p xmlns:a="http://schemas.openxmlformats.org/drawingml/2006/main">
            <a:r>
              <a:t/>
            </a:r>
          </a:p>
          <a:p xmlns:a="http://schemas.openxmlformats.org/drawingml/2006/main">
            <a:r>
              <a:t>Sources</a:t>
            </a:r>
          </a:p>
          <a:p xmlns:a="http://schemas.openxmlformats.org/drawingml/2006/main">
            <a:r>
              <a:t>https://github.com/ggml-org/whisper.cpp</a:t>
            </a:r>
          </a:p>
          <a:p xmlns:a="http://schemas.openxmlformats.org/drawingml/2006/main">
            <a:r>
              <a:t>https://github.com/alphacep/vosk-space/blob/master/models.md</a:t>
            </a:r>
          </a:p>
          <a:p xmlns:a="http://schemas.openxmlformats.org/drawingml/2006/main">
            <a:r>
              <a:t>https://k2-fsa.github.io/sherpa/onnx/index.html</a:t>
            </a:r>
          </a:p>
          <a:p xmlns:a="http://schemas.openxmlformats.org/drawingml/2006/main">
            <a:r>
              <a:t>https://github.com/k2-fsa/sherpa-onnx/blob/master/python-api-examples/offline-tts.py</a:t>
            </a:r>
          </a:p>
          <a:p xmlns:a="http://schemas.openxmlformats.org/drawingml/2006/main">
            <a:r>
              <a:t>https://k2-fsa.github.io/sherpa/onnx/audio-tagging/index.html</a:t>
            </a:r>
          </a:p>
          <a:p xmlns:a="http://schemas.openxmlformats.org/drawingml/2006/main">
            <a:r>
              <a:t>https://k2-fsa.github.io/sherpa/onnx/speaker-identification/index.html</a:t>
            </a:r>
          </a:p>
          <a:p xmlns:a="http://schemas.openxmlformats.org/drawingml/2006/main">
            <a:r>
              <a:t>https://huggingface.co/sentence-transformers/all-MiniLM-L6-v2</a:t>
            </a:r>
          </a:p>
          <a:p xmlns:a="http://schemas.openxmlformats.org/drawingml/2006/main">
            <a:r>
              <a:t>https://github.com/ggml-org/llama.cpp/blob/master/grammars/README.md</a:t>
            </a:r>
          </a:p>
          <a:p xmlns:a="http://schemas.openxmlformats.org/drawingml/2006/main">
            <a:r>
              <a:t>https://github.com/dusty-nv/jetson-inference</a:t>
            </a:r>
          </a:p>
          <a:p xmlns:a="http://schemas.openxmlformats.org/drawingml/2006/main">
            <a:r>
              <a:t>https://huggingface.co/blog/smolervlm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exploratory candidates rather than a verified compatible list. Qwen3.5-0.8B model card lists 0.8B language-model parameters and a vision encoder, so 0.8B should not be treated as total multimodal memory. Do not assume a pinned older llama.cpp port understands newer architectures.</a:t>
            </a:r>
          </a:p>
          <a:p xmlns:a="http://schemas.openxmlformats.org/drawingml/2006/main">
            <a:r>
              <a:t/>
            </a:r>
          </a:p>
          <a:p xmlns:a="http://schemas.openxmlformats.org/drawingml/2006/main">
            <a:r>
              <a:t>Sources</a:t>
            </a:r>
          </a:p>
          <a:p xmlns:a="http://schemas.openxmlformats.org/drawingml/2006/main">
            <a:r>
              <a:t>https://huggingface.co/google/gemma-3-270m-it</a:t>
            </a:r>
          </a:p>
          <a:p xmlns:a="http://schemas.openxmlformats.org/drawingml/2006/main">
            <a:r>
              <a:t>https://huggingface.co/Qwen/Qwen3-0.6B</a:t>
            </a:r>
          </a:p>
          <a:p xmlns:a="http://schemas.openxmlformats.org/drawingml/2006/main">
            <a:r>
              <a:t>https://huggingface.co/Qwen/Qwen3.5-0.8B</a:t>
            </a:r>
          </a:p>
          <a:p xmlns:a="http://schemas.openxmlformats.org/drawingml/2006/main">
            <a:r>
              <a:t>https://github.com/k2-fsa/sherpa-onnx</a:t>
            </a:r>
          </a:p>
          <a:p xmlns:a="http://schemas.openxmlformats.org/drawingml/2006/main">
            <a:r>
              <a:t>https://huggingface.co/blog/smolervlm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checked September 2026. The catalogue combines source-backed capabilities with proposed teaching experiments. Feasibility assessments have not been validated on the user's board.</a:t>
            </a:r>
          </a:p>
          <a:p xmlns:a="http://schemas.openxmlformats.org/drawingml/2006/main">
            <a:r>
              <a:t/>
            </a:r>
          </a:p>
          <a:p xmlns:a="http://schemas.openxmlformats.org/drawingml/2006/main">
            <a:r>
              <a:t>Sources</a:t>
            </a:r>
          </a:p>
          <a:p xmlns:a="http://schemas.openxmlformats.org/drawingml/2006/main">
            <a:r>
              <a:t>https://developer.nvidia.com/embedded/jetson-nano</a:t>
            </a:r>
          </a:p>
          <a:p xmlns:a="http://schemas.openxmlformats.org/drawingml/2006/main">
            <a:r>
              <a:t>https://developer.nvidia.com/cuda/gpus/legacy</a:t>
            </a:r>
          </a:p>
          <a:p xmlns:a="http://schemas.openxmlformats.org/drawingml/2006/main">
            <a:r>
              <a:t>https://forums.developer.nvidia.com/t/announcing-end-of-life-for-nvidia-jetpack-4-with-the-release-of-jetpack-4-6-6/314300</a:t>
            </a:r>
          </a:p>
          <a:p xmlns:a="http://schemas.openxmlformats.org/drawingml/2006/main">
            <a:r>
              <a:t>https://developer.nvidia.com/embedded/jetpack-sdk-461</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a:p xmlns:a="http://schemas.openxmlformats.org/drawingml/2006/main">
            <a:r>
              <a:t>https://github.com/ggml-org/whisper.cpp</a:t>
            </a:r>
          </a:p>
          <a:p xmlns:a="http://schemas.openxmlformats.org/drawingml/2006/main">
            <a:r>
              <a:t>https://github.com/alphacep/vosk-space/blob/master/models.md</a:t>
            </a:r>
          </a:p>
          <a:p xmlns:a="http://schemas.openxmlformats.org/drawingml/2006/main">
            <a:r>
              <a:t>https://k2-fsa.github.io/sherpa/onnx/index.html</a:t>
            </a:r>
          </a:p>
          <a:p xmlns:a="http://schemas.openxmlformats.org/drawingml/2006/main">
            <a:r>
              <a:t>https://github.com/k2-fsa/sherpa-onnx/blob/master/python-api-examples/offline-tts.py</a:t>
            </a:r>
          </a:p>
          <a:p xmlns:a="http://schemas.openxmlformats.org/drawingml/2006/main">
            <a:r>
              <a:t>https://k2-fsa.github.io/sherpa/onnx/audio-tagging/index.html</a:t>
            </a:r>
          </a:p>
          <a:p xmlns:a="http://schemas.openxmlformats.org/drawingml/2006/main">
            <a:r>
              <a:t>https://k2-fsa.github.io/sherpa/onnx/speaker-identification/index.html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checked September 2026. The catalogue combines source-backed capabilities with proposed teaching experiments. Feasibility assessments have not been validated on the user's board.</a:t>
            </a:r>
          </a:p>
          <a:p xmlns:a="http://schemas.openxmlformats.org/drawingml/2006/main">
            <a:r>
              <a:t/>
            </a:r>
          </a:p>
          <a:p xmlns:a="http://schemas.openxmlformats.org/drawingml/2006/main">
            <a:r>
              <a:t>Sources</a:t>
            </a:r>
          </a:p>
          <a:p xmlns:a="http://schemas.openxmlformats.org/drawingml/2006/main">
            <a:r>
              <a:t>https://github.com/karpathy/llama2.c</a:t>
            </a:r>
          </a:p>
          <a:p xmlns:a="http://schemas.openxmlformats.org/drawingml/2006/main">
            <a:r>
              <a:t>https://huggingface.co/HuggingFaceTB/SmolLM2-360M-Instruct</a:t>
            </a:r>
          </a:p>
          <a:p xmlns:a="http://schemas.openxmlformats.org/drawingml/2006/main">
            <a:r>
              <a:t>https://huggingface.co/Qwen/Qwen2.5-0.5B-Instruct</a:t>
            </a:r>
          </a:p>
          <a:p xmlns:a="http://schemas.openxmlformats.org/drawingml/2006/main">
            <a:r>
              <a:t>https://huggingface.co/Qwen/Qwen3-0.6B</a:t>
            </a:r>
          </a:p>
          <a:p xmlns:a="http://schemas.openxmlformats.org/drawingml/2006/main">
            <a:r>
              <a:t>https://github.com/ggml-org/llama.cpp/blob/master/grammars/README.md</a:t>
            </a:r>
          </a:p>
          <a:p xmlns:a="http://schemas.openxmlformats.org/drawingml/2006/main">
            <a:r>
              <a:t>https://github.com/kreier/llama.cpp-jetson</a:t>
            </a:r>
          </a:p>
          <a:p xmlns:a="http://schemas.openxmlformats.org/drawingml/2006/main">
            <a:r>
              <a:t>https://huggingface.co/sentence-transformers/all-MiniLM-L6-v2</a:t>
            </a:r>
          </a:p>
          <a:p xmlns:a="http://schemas.openxmlformats.org/drawingml/2006/main">
            <a:r>
              <a:t>https://github.com/dusty-nv/jetson-inference</a:t>
            </a:r>
          </a:p>
          <a:p xmlns:a="http://schemas.openxmlformats.org/drawingml/2006/main">
            <a:r>
              <a:t>https://huggingface.co/blog/smolervlm</a:t>
            </a:r>
          </a:p>
          <a:p xmlns:a="http://schemas.openxmlformats.org/drawingml/2006/main">
            <a:r>
              <a:t>https://arxiv.org/abs/2106.09685</a:t>
            </a:r>
          </a:p>
          <a:p xmlns:a="http://schemas.openxmlformats.org/drawingml/2006/main">
            <a:r>
              <a:t>https://arxiv.org/abs/2305.14314</a:t>
            </a:r>
          </a:p>
          <a:p xmlns:a="http://schemas.openxmlformats.org/drawingml/2006/main">
            <a:r>
              <a:t>https://huggingface.co/docs/bitsandbytes/installation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ba47c51fb340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a9a7cedc9f47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e5cbadc4934c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e8ff14cf9d4c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653a1848864a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6d8d681fa6422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5538d609e1a474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8899b538ed461c"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dca444ca7446d" /><Relationship Type="http://schemas.openxmlformats.org/officeDocument/2006/relationships/slideLayout" Target="/ppt/slideLayouts/slideLayout1.xml" Id="R39da88333bf54a7f" /><Relationship Type="http://schemas.openxmlformats.org/officeDocument/2006/relationships/slideLayout" Target="/ppt/slideLayouts/slideLayout2.xml" Id="Rb61c23cff5444e6b" /><Relationship Type="http://schemas.openxmlformats.org/officeDocument/2006/relationships/slideLayout" Target="/ppt/slideLayouts/slideLayout3.xml" Id="Rc664e32b04cd43a1" /><Relationship Type="http://schemas.openxmlformats.org/officeDocument/2006/relationships/slideLayout" Target="/ppt/slideLayouts/slideLayout4.xml" Id="Re7411f5af0594dd4" /><Relationship Type="http://schemas.openxmlformats.org/officeDocument/2006/relationships/slideLayout" Target="/ppt/slideLayouts/slideLayout5.xml" Id="Re4777cc3b8ee4867" /><Relationship Type="http://schemas.openxmlformats.org/officeDocument/2006/relationships/slideLayout" Target="/ppt/slideLayouts/slideLayout6.xml" Id="Reb2caf4f67f84fb8" /><Relationship Type="http://schemas.openxmlformats.org/officeDocument/2006/relationships/slideLayout" Target="/ppt/slideLayouts/slideLayout7.xml" Id="R4280584b01274269" /><Relationship Type="http://schemas.openxmlformats.org/officeDocument/2006/relationships/slideLayout" Target="/ppt/slideLayouts/slideLayout8.xml" Id="R21520cbb7ec1471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da88333bf54a7f"/>
    <p:sldLayoutId xmlns:r="http://schemas.openxmlformats.org/officeDocument/2006/relationships" id="2147483650" r:id="Rb61c23cff5444e6b"/>
    <p:sldLayoutId xmlns:r="http://schemas.openxmlformats.org/officeDocument/2006/relationships" id="2147483651" r:id="Rc664e32b04cd43a1"/>
    <p:sldLayoutId xmlns:r="http://schemas.openxmlformats.org/officeDocument/2006/relationships" id="2147483652" r:id="Re7411f5af0594dd4"/>
    <p:sldLayoutId xmlns:r="http://schemas.openxmlformats.org/officeDocument/2006/relationships" id="2147483653" r:id="Re4777cc3b8ee4867"/>
    <p:sldLayoutId xmlns:r="http://schemas.openxmlformats.org/officeDocument/2006/relationships" id="2147483654" r:id="Reb2caf4f67f84fb8"/>
    <p:sldLayoutId xmlns:r="http://schemas.openxmlformats.org/officeDocument/2006/relationships" id="2147483655" r:id="R4280584b01274269"/>
    <p:sldLayoutId xmlns:r="http://schemas.openxmlformats.org/officeDocument/2006/relationships" id="2147483656" r:id="R21520cbb7ec1471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55dcd460cd4ff7" /><Relationship Type="http://schemas.openxmlformats.org/officeDocument/2006/relationships/notesSlide" Target="/ppt/notesSlides/notesSlide1.xml" Id="Rb85df7a66f8146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e9b30ea612453a" /><Relationship Type="http://schemas.openxmlformats.org/officeDocument/2006/relationships/notesSlide" Target="/ppt/notesSlides/notesSlide2.xml" Id="R52b0a2c787bc47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0a3b54f8e7486e" /><Relationship Type="http://schemas.openxmlformats.org/officeDocument/2006/relationships/notesSlide" Target="/ppt/notesSlides/notesSlide3.xml" Id="Rd8fb533c24bd47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256ddac0934261" /><Relationship Type="http://schemas.openxmlformats.org/officeDocument/2006/relationships/notesSlide" Target="/ppt/notesSlides/notesSlide4.xml" Id="R35aadfeb87354a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19f6f79f984cea" /><Relationship Type="http://schemas.openxmlformats.org/officeDocument/2006/relationships/notesSlide" Target="/ppt/notesSlides/notesSlide5.xml" Id="R039668e064d04f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b7df7affa342e2" /><Relationship Type="http://schemas.openxmlformats.org/officeDocument/2006/relationships/notesSlide" Target="/ppt/notesSlides/notesSlide6.xml" Id="R69fe36ca4edb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2102c7e9cb45f3" /><Relationship Type="http://schemas.openxmlformats.org/officeDocument/2006/relationships/notesSlide" Target="/ppt/notesSlides/notesSlide7.xml" Id="R91b96403fa2f4a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c88d904872478c" /><Relationship Type="http://schemas.openxmlformats.org/officeDocument/2006/relationships/notesSlide" Target="/ppt/notesSlides/notesSlide8.xml" Id="Rd08db00af2ab41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c77d2ac7794640" /><Relationship Type="http://schemas.openxmlformats.org/officeDocument/2006/relationships/notesSlide" Target="/ppt/notesSlides/notesSlide9.xml" Id="R569e730dace94e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7a4e93e0c1439e" /><Relationship Type="http://schemas.openxmlformats.org/officeDocument/2006/relationships/notesSlide" Target="/ppt/notesSlides/notesSlide10.xml" Id="R6307dd556b3442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96eb7cc854f47c7" /><Relationship Type="http://schemas.openxmlformats.org/officeDocument/2006/relationships/notesSlide" Target="/ppt/notesSlides/notesSlide11.xml" Id="R4af4da12ee3346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15f7c42945467d" /><Relationship Type="http://schemas.openxmlformats.org/officeDocument/2006/relationships/notesSlide" Target="/ppt/notesSlides/notesSlide12.xml" Id="R59690ff595d345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15fa9d0d29a4e0c" /><Relationship Type="http://schemas.openxmlformats.org/officeDocument/2006/relationships/notesSlide" Target="/ppt/notesSlides/notesSlide13.xml" Id="R6e17d78cc54541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0f244cf27948dd" /><Relationship Type="http://schemas.openxmlformats.org/officeDocument/2006/relationships/notesSlide" Target="/ppt/notesSlides/notesSlide14.xml" Id="Rd2f505275d9044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e59c8bae154e80" /><Relationship Type="http://schemas.openxmlformats.org/officeDocument/2006/relationships/notesSlide" Target="/ppt/notesSlides/notesSlide15.xml" Id="Raa622a8c0d7b4a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be7f5c38c44f7c" /><Relationship Type="http://schemas.openxmlformats.org/officeDocument/2006/relationships/notesSlide" Target="/ppt/notesSlides/notesSlide16.xml" Id="R4ac35b3f806147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2441f87517b47e9" /><Relationship Type="http://schemas.openxmlformats.org/officeDocument/2006/relationships/notesSlide" Target="/ppt/notesSlides/notesSlide17.xml" Id="Rdfa060cf9d3e43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5f0981f12d54b19" /><Relationship Type="http://schemas.openxmlformats.org/officeDocument/2006/relationships/notesSlide" Target="/ppt/notesSlides/notesSlide18.xml" Id="R4eb9164e6dce41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8063a8496994c1c" /><Relationship Type="http://schemas.openxmlformats.org/officeDocument/2006/relationships/notesSlide" Target="/ppt/notesSlides/notesSlide19.xml" Id="Rc33514934b4047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ce7910e8e34124" /><Relationship Type="http://schemas.openxmlformats.org/officeDocument/2006/relationships/notesSlide" Target="/ppt/notesSlides/notesSlide20.xml" Id="Rd88944c58f9240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20ef3b7cc5844e8" /><Relationship Type="http://schemas.openxmlformats.org/officeDocument/2006/relationships/notesSlide" Target="/ppt/notesSlides/notesSlide21.xml" Id="Ra87b4aa4348146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c99bb691e7842f8" /><Relationship Type="http://schemas.openxmlformats.org/officeDocument/2006/relationships/notesSlide" Target="/ppt/notesSlides/notesSlide22.xml" Id="R9ca379db7662403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8f4c667b4404e79" /><Relationship Type="http://schemas.openxmlformats.org/officeDocument/2006/relationships/notesSlide" Target="/ppt/notesSlides/notesSlide23.xml" Id="Rb1169af52a2c42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b101f97713c43e9" /><Relationship Type="http://schemas.openxmlformats.org/officeDocument/2006/relationships/notesSlide" Target="/ppt/notesSlides/notesSlide24.xml" Id="R42ae37e197364f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1cf4f1554974c16" /><Relationship Type="http://schemas.openxmlformats.org/officeDocument/2006/relationships/notesSlide" Target="/ppt/notesSlides/notesSlide25.xml" Id="R39f428c95b70468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f8bc3383a7d4088" /><Relationship Type="http://schemas.openxmlformats.org/officeDocument/2006/relationships/notesSlide" Target="/ppt/notesSlides/notesSlide26.xml" Id="R676ee6b0836c4ba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5cf4174cdb34480" /><Relationship Type="http://schemas.openxmlformats.org/officeDocument/2006/relationships/notesSlide" Target="/ppt/notesSlides/notesSlide27.xml" Id="Rd21a1fe908a54b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934d636c9d14b5b" /><Relationship Type="http://schemas.openxmlformats.org/officeDocument/2006/relationships/notesSlide" Target="/ppt/notesSlides/notesSlide28.xml" Id="R867457bf406c45e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3B429257-4F07-4AA5-8356-F4F07DC91B6D}"/>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chor="t">
            <a:noAutofit/>
          </a:bodyPr>
          <a:lstStyle xmlns:a="http://schemas.openxmlformats.org/drawingml/2006/main"/>
          <a:p xmlns:a="http://schemas.openxmlformats.org/drawingml/2006/main">
            <a:pPr>
              <a:defRPr sz="6600" b="0">
                <a:solidFill>
                  <a:srgbClr val="000000"/>
                </a:solidFill>
                <a:latin typeface="Helvetica Neue"/>
                <a:ea typeface="Helvetica Neue"/>
                <a:cs typeface="Helvetica Neue"/>
              </a:defRPr>
            </a:pPr>
            <a:r>
              <a:rPr sz="6600" b="0">
                <a:solidFill>
                  <a:srgbClr val="000000"/>
                </a:solidFill>
                <a:latin typeface="Helvetica Neue"/>
                <a:ea typeface="Helvetica Neue"/>
                <a:cs typeface="Helvetica Neue"/>
              </a:rPr>
              <a:t>Jetson Nano</a:t>
            </a:r>
          </a:p>
          <a:p xmlns:a="http://schemas.openxmlformats.org/drawingml/2006/main">
            <a:pPr>
              <a:defRPr sz="6600" b="0">
                <a:solidFill>
                  <a:srgbClr val="000000"/>
                </a:solidFill>
                <a:latin typeface="Helvetica Neue"/>
                <a:ea typeface="Helvetica Neue"/>
                <a:cs typeface="Helvetica Neue"/>
              </a:defRPr>
            </a:pPr>
            <a:r>
              <a:rPr sz="6600" b="0">
                <a:solidFill>
                  <a:srgbClr val="000000"/>
                </a:solidFill>
                <a:latin typeface="Helvetica Neue"/>
                <a:ea typeface="Helvetica Neue"/>
                <a:cs typeface="Helvetica Neue"/>
              </a:rPr>
              <a:t>Modern AI catalogue</a:t>
            </a:r>
          </a:p>
        </p:txBody>
      </p:sp>
      <p:sp>
        <p:nvSpPr>
          <p:cNvPr id="2" name="Subtitle 4">
            <a:extLst xmlns:a="http://schemas.openxmlformats.org/drawingml/2006/main">
              <a:ext uri="{FF2B5EF4-FFF2-40B4-BE49-F238E27FC236}">
                <a16:creationId xmlns:a16="http://schemas.microsoft.com/office/drawing/2014/main" id="{BDFBBA1A-18D0-441E-A900-720B8EFA860B}"/>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72 topics and project ideas for junior students</a:t>
            </a:r>
          </a:p>
          <a:p xmlns:a="http://schemas.openxmlformats.org/drawingml/2006/main">
            <a:pPr>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 combined reference catalogue</a:t>
            </a:r>
          </a:p>
        </p:txBody>
      </p:sp>
      <p:sp>
        <p:nvSpPr>
          <p:cNvPr id="3" name="Subtitle 4">
            <a:extLst xmlns:a="http://schemas.openxmlformats.org/drawingml/2006/main">
              <a:ext uri="{FF2B5EF4-FFF2-40B4-BE49-F238E27FC236}">
                <a16:creationId xmlns:a16="http://schemas.microsoft.com/office/drawing/2014/main" id="{ED009A84-20E8-492E-991C-8B79D2F2ABE7}"/>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Original developer kit / 4GB</a:t>
            </a:r>
          </a:p>
        </p:txBody>
      </p:sp>
    </p:spTree>
    <p:extLst>
      <p:ext uri="{BB962C8B-B14F-4D97-AF65-F5344CB8AC3E}">
        <p14:creationId xmlns:p14="http://schemas.microsoft.com/office/powerpoint/2010/main" val="100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Footer Placeholder 5">
            <a:extLst xmlns:a="http://schemas.openxmlformats.org/drawingml/2006/main">
              <a:ext uri="{FF2B5EF4-FFF2-40B4-BE49-F238E27FC236}">
                <a16:creationId xmlns:a16="http://schemas.microsoft.com/office/drawing/2014/main" id="{65CC8B50-7DD1-4DC1-B3FB-04748961AF61}"/>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475892E5-B643-4626-8D10-1B0FCDCAA07B}"/>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E2598689-54C9-18A7-3A19-ED76AA08988F}" type="slidenum">
              <a:rPr sz="900" b="0">
                <a:solidFill>
                  <a:srgbClr val="666666"/>
                </a:solidFill>
                <a:latin typeface="Helvetica Neue"/>
                <a:ea typeface="Helvetica Neue"/>
                <a:cs typeface="Helvetica Neue"/>
              </a:rPr>
              <a:t>2</a:t>
            </a:fld>
            <a:endParaRPr/>
          </a:p>
        </p:txBody>
      </p:sp>
      <p:sp>
        <p:nvSpPr>
          <p:cNvPr id="3" name="Title 2">
            <a:extLst xmlns:a="http://schemas.openxmlformats.org/drawingml/2006/main">
              <a:ext uri="{FF2B5EF4-FFF2-40B4-BE49-F238E27FC236}">
                <a16:creationId xmlns:a16="http://schemas.microsoft.com/office/drawing/2014/main" id="{3907D88B-BD80-4E05-9B3B-AE2E87239AC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The board behind the catalogue</a:t>
            </a:r>
            <a:endParaRPr/>
          </a:p>
        </p:txBody>
      </p:sp>
      <p:sp>
        <p:nvSpPr>
          <p:cNvPr id="4" name="Content Placeholder 9">
            <a:extLst xmlns:a="http://schemas.openxmlformats.org/drawingml/2006/main">
              <a:ext uri="{FF2B5EF4-FFF2-40B4-BE49-F238E27FC236}">
                <a16:creationId xmlns:a16="http://schemas.microsoft.com/office/drawing/2014/main" id="{2BBC9693-F6AD-4DBD-A33D-3E37080966E2}"/>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4GB shared memory</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solidFill>
                  <a:prstClr val="black"/>
                </a:solidFill>
                <a:latin typeface="Helvetica Neue"/>
                <a:ea typeface="Helvetica Neue"/>
                <a:cs typeface="Helvetica Neue"/>
              </a:rPr>
              <a:t/>
            </a:r>
          </a:p>
          <a:p xmlns:a="http://schemas.openxmlformats.org/drawingml/2006/main">
            <a:pPr marL="0" marR="0" lvl="0" indent="0" algn="l" defTabSz="914400">
              <a:lnSpc>
                <a:spcPct val="100000"/>
              </a:lnSpc>
              <a:spcBef>
                <a:spcPts val="1300"/>
              </a:spcBef>
              <a:spcAft>
                <a:spcPts val="1300"/>
              </a:spcAft>
              <a:buClrTx/>
              <a:buSzTx/>
              <a:buFontTx/>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The operating system, CPU, and GPU share the same memory pool.</a:t>
            </a:r>
          </a:p>
        </p:txBody>
      </p:sp>
      <p:sp>
        <p:nvSpPr>
          <p:cNvPr id="5" name="Content Placeholder 10">
            <a:extLst xmlns:a="http://schemas.openxmlformats.org/drawingml/2006/main">
              <a:ext uri="{FF2B5EF4-FFF2-40B4-BE49-F238E27FC236}">
                <a16:creationId xmlns:a16="http://schemas.microsoft.com/office/drawing/2014/main" id="{2F7C41D7-BC41-4E42-B731-3B23F796A900}"/>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Original Jetson Nano</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solidFill>
                  <a:prstClr val="black"/>
                </a:solidFill>
                <a:latin typeface="Helvetica Neue"/>
                <a:ea typeface="Helvetica Neue"/>
                <a:cs typeface="Helvetica Neue"/>
              </a:rPr>
              <a:t/>
            </a:r>
          </a:p>
          <a:p xmlns:a="http://schemas.openxmlformats.org/drawingml/2006/main">
            <a:pPr marL="0" marR="0" lvl="0" indent="0" algn="l" defTabSz="914400">
              <a:lnSpc>
                <a:spcPct val="100000"/>
              </a:lnSpc>
              <a:spcBef>
                <a:spcPts val="1300"/>
              </a:spcBef>
              <a:spcAft>
                <a:spcPts val="1300"/>
              </a:spcAft>
              <a:buClrTx/>
              <a:buSzTx/>
              <a:buFontTx/>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128-core Maxwell GPU. Compute capability 5.3. This catalogue targets the 2019 board.</a:t>
            </a:r>
          </a:p>
        </p:txBody>
      </p:sp>
      <p:sp>
        <p:nvSpPr>
          <p:cNvPr id="6" name="Content Placeholder 9">
            <a:extLst xmlns:a="http://schemas.openxmlformats.org/drawingml/2006/main">
              <a:ext uri="{FF2B5EF4-FFF2-40B4-BE49-F238E27FC236}">
                <a16:creationId xmlns:a16="http://schemas.microsoft.com/office/drawing/2014/main" id="{926CF513-3BBB-4470-8322-0A0B54DAAD60}"/>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Legacy software stack</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
            </a:r>
          </a:p>
          <a:p xmlns:a="http://schemas.openxmlformats.org/drawingml/2006/main">
            <a:pPr marL="0" indent="0">
              <a:lnSpc>
                <a:spcPct val="100000"/>
              </a:lnSpc>
              <a:spcBef>
                <a:spcPts val="1300"/>
              </a:spcBef>
              <a:spcAft>
                <a:spcPts val="1300"/>
              </a:spcAft>
              <a:buFontTx/>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Final official release: JetPack 4.6.6. Ubuntu 18.04 base and CUDA 10.2.</a:t>
            </a:r>
          </a:p>
        </p:txBody>
      </p:sp>
      <p:sp>
        <p:nvSpPr>
          <p:cNvPr id="7" name="Content Placeholder 10">
            <a:extLst xmlns:a="http://schemas.openxmlformats.org/drawingml/2006/main">
              <a:ext uri="{FF2B5EF4-FFF2-40B4-BE49-F238E27FC236}">
                <a16:creationId xmlns:a16="http://schemas.microsoft.com/office/drawing/2014/main" id="{2B77D67E-22B9-4BAB-8215-E278C770979E}"/>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Modern ideas, small implementations</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
            </a:r>
          </a:p>
          <a:p xmlns:a="http://schemas.openxmlformats.org/drawingml/2006/main">
            <a:pPr marL="0" indent="0">
              <a:lnSpc>
                <a:spcPct val="100000"/>
              </a:lnSpc>
              <a:spcBef>
                <a:spcPts val="1300"/>
              </a:spcBef>
              <a:spcAft>
                <a:spcPts val="1300"/>
              </a:spcAft>
              <a:buFontTx/>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Use compatible runtimes. New model architectures may need a separate porting effort.</a:t>
            </a:r>
          </a:p>
        </p:txBody>
      </p:sp>
    </p:spTree>
    <p:extLst>
      <p:ext uri="{BB962C8B-B14F-4D97-AF65-F5344CB8AC3E}">
        <p14:creationId xmlns:p14="http://schemas.microsoft.com/office/powerpoint/2010/main" val="100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 name="Footer Placeholder 3">
            <a:extLst xmlns:a="http://schemas.openxmlformats.org/drawingml/2006/main">
              <a:ext uri="{FF2B5EF4-FFF2-40B4-BE49-F238E27FC236}">
                <a16:creationId xmlns:a16="http://schemas.microsoft.com/office/drawing/2014/main" id="{8DCA0851-3AA9-4511-BA57-1FA4790A5C1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0224BD5F-9010-4749-B458-C4F1099E0E22}"/>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000000"/>
                </a:solidFill>
                <a:latin typeface="Helvetica Neue"/>
                <a:ea typeface="Helvetica Neue"/>
                <a:cs typeface="Helvetica Neue"/>
              </a:defRPr>
            </a:pPr>
            <a:fld id="{202359C0-8A7A-196E-DD58-8E6569619F09}" type="slidenum">
              <a:rPr sz="900" b="0">
                <a:solidFill>
                  <a:srgbClr val="000000"/>
                </a:solidFill>
                <a:latin typeface="Helvetica Neue"/>
                <a:ea typeface="Helvetica Neue"/>
                <a:cs typeface="Helvetica Neue"/>
              </a:rPr>
              <a:t>3</a:t>
            </a:fld>
            <a:endParaRPr/>
          </a:p>
        </p:txBody>
      </p:sp>
      <p:sp>
        <p:nvSpPr>
          <p:cNvPr id="3" name="Google Shape;533;p58">
            <a:extLst xmlns:a="http://schemas.openxmlformats.org/drawingml/2006/main">
              <a:ext uri="{FF2B5EF4-FFF2-40B4-BE49-F238E27FC236}">
                <a16:creationId xmlns:a16="http://schemas.microsoft.com/office/drawing/2014/main" id="{04C10742-7E09-4DC6-A956-6DD09837106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How to read the routes</a:t>
            </a:r>
          </a:p>
        </p:txBody>
      </p:sp>
      <p:sp>
        <p:nvSpPr>
          <p:cNvPr id="4" name="Google Shape;534;p58">
            <a:extLst xmlns:a="http://schemas.openxmlformats.org/drawingml/2006/main">
              <a:ext uri="{FF2B5EF4-FFF2-40B4-BE49-F238E27FC236}">
                <a16:creationId xmlns:a16="http://schemas.microsoft.com/office/drawing/2014/main" id="{20D79CC6-F2E9-46F1-B4F3-EEDBF66D6F4E}"/>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Local</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Practical candidate after the instructor prepares a compatible environment.</a:t>
            </a:r>
            <a:endParaRPr sz="1800">
              <a:latin typeface="Helvetica Neue"/>
              <a:ea typeface="Helvetica Neue"/>
              <a:cs typeface="Helvetica Neue"/>
            </a:endParaRPr>
          </a:p>
        </p:txBody>
      </p:sp>
      <p:sp>
        <p:nvSpPr>
          <p:cNvPr id="5" name="Content Placeholder 1">
            <a:extLst xmlns:a="http://schemas.openxmlformats.org/drawingml/2006/main">
              <a:ext uri="{FF2B5EF4-FFF2-40B4-BE49-F238E27FC236}">
                <a16:creationId xmlns:a16="http://schemas.microsoft.com/office/drawing/2014/main" id="{3258E115-2CAA-40E0-A6AA-D794BA9ECB1C}"/>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External training</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solidFill>
                  <a:prstClr val="black"/>
                </a:solidFill>
                <a:latin typeface="Helvetica Neue"/>
                <a:ea typeface="Helvetica Neue"/>
                <a:cs typeface="Helvetica Neue"/>
              </a:rPr>
              <a:t/>
            </a:r>
          </a:p>
          <a:p xmlns:a="http://schemas.openxmlformats.org/drawingml/2006/main">
            <a:pPr marL="0" marR="0" lvl="0" indent="0" algn="l" defTabSz="914400">
              <a:lnSpc>
                <a:spcPct val="114000"/>
              </a:lnSpc>
              <a:spcBef>
                <a:spcPts val="0"/>
              </a:spcBef>
              <a:spcAft>
                <a:spcPts val="800"/>
              </a:spcAft>
              <a:buClrTx/>
              <a:buSzTx/>
              <a:buFont typeface="Arial"/>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Train on another computer or GPU, then deploy a suitable small model on Nano.</a:t>
            </a:r>
          </a:p>
        </p:txBody>
      </p:sp>
      <p:sp>
        <p:nvSpPr>
          <p:cNvPr id="6" name="Content Placeholder 2">
            <a:extLst xmlns:a="http://schemas.openxmlformats.org/drawingml/2006/main">
              <a:ext uri="{FF2B5EF4-FFF2-40B4-BE49-F238E27FC236}">
                <a16:creationId xmlns:a16="http://schemas.microsoft.com/office/drawing/2014/main" id="{90B94F43-96A9-45DD-9370-BA32A5CC4031}"/>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950">
                <a:solidFill>
                  <a:srgbClr val="000000"/>
                </a:solidFill>
                <a:latin typeface="Helvetica Neue"/>
                <a:ea typeface="Helvetica Neue"/>
                <a:cs typeface="Helvetica Neue"/>
              </a:defRPr>
            </a:pPr>
            <a:r>
              <a:rPr sz="1950" b="0" i="0" u="none" cap="none" spc="0">
                <a:ln>
                  <a:noFill/>
                </a:ln>
                <a:solidFill>
                  <a:srgbClr val="000000"/>
                </a:solidFill>
                <a:latin typeface="Helvetica Neue"/>
                <a:ea typeface="Helvetica Neue"/>
                <a:cs typeface="Helvetica Neue"/>
              </a:rPr>
              <a:t>Experimental</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solidFill>
                  <a:prstClr val="black"/>
                </a:solidFill>
                <a:latin typeface="Helvetica Neue"/>
                <a:ea typeface="Helvetica Neue"/>
                <a:cs typeface="Helvetica Neue"/>
              </a:rPr>
              <a:t/>
            </a:r>
          </a:p>
          <a:p xmlns:a="http://schemas.openxmlformats.org/drawingml/2006/main">
            <a:pPr marL="0" indent="0">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Check runtime support, memory, and speed before using it in a demonstration.</a:t>
            </a:r>
            <a:endParaRPr/>
          </a:p>
        </p:txBody>
      </p:sp>
      <p:sp>
        <p:nvSpPr>
          <p:cNvPr id="7" name="scope-note">
            <a:extLst xmlns:a="http://schemas.openxmlformats.org/drawingml/2006/main">
              <a:ext uri="{FF2B5EF4-FFF2-40B4-BE49-F238E27FC236}">
                <a16:creationId xmlns:a16="http://schemas.microsoft.com/office/drawing/2014/main" id="{C3F60ED9-7E3B-4A9F-809F-B96B999C4AD1}"/>
              </a:ext>
            </a:extLst>
          </p:cNvPr>
          <p:cNvSpPr>
            <a:spLocks xmlns:a="http://schemas.openxmlformats.org/drawingml/2006/main" noGrp="1"/>
          </p:cNvSpPr>
          <p:nvPr/>
        </p:nvSpPr>
        <p:spPr>
          <a:xfrm xmlns:a="http://schemas.openxmlformats.org/drawingml/2006/main">
            <a:off x="393668" y="1600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Routes describe feasibility, not confirmed results on your board.</a:t>
            </a:r>
          </a:p>
        </p:txBody>
      </p:sp>
    </p:spTree>
    <p:extLst>
      <p:ext uri="{BB962C8B-B14F-4D97-AF65-F5344CB8AC3E}">
        <p14:creationId xmlns:p14="http://schemas.microsoft.com/office/powerpoint/2010/main" val="100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D3DE3AA-8C77-4579-BB9D-F3746FCD7F7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C75F0634-5E3D-4678-9D7A-332F7E4A2F4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EFD6AB9A-5F9E-5F59-51AB-3C8734130965}" type="slidenum">
              <a:rPr sz="900" b="0">
                <a:solidFill>
                  <a:srgbClr val="666666"/>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CA3E0850-7505-4456-82B9-1D61C3E6E57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Catalogue index</a:t>
            </a:r>
          </a:p>
        </p:txBody>
      </p:sp>
      <p:graphicFrame>
        <p:nvGraphicFramePr>
          <p:cNvPr id="8"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1714500"/>
                <a:gridCol w="9690068"/>
              </a:tblGrid>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01–15</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Language models</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16–29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Speech and audio</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30–41</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Retrieval and agents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42–51</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Vision and multimodal AI</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52–62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Training and adaptation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777777"/>
                          </a:solidFill>
                          <a:latin typeface="Helvetica Neue"/>
                          <a:ea typeface="Helvetica Neue"/>
                          <a:cs typeface="Helvetica Neue"/>
                        </a:rPr>
                        <a:t>63–72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noAutofit/>
                    </a:bodyPr>
                    <a:lstStyle/>
                    <a:p>
                      <a:pPr marL="0" marR="0" lvl="0" indent="0" algn="l" defTabSz="914400">
                        <a:lnSpc>
                          <a:spcPct val="100000"/>
                        </a:lnSpc>
                        <a:spcBef>
                          <a:spcPts val="0"/>
                        </a:spcBef>
                        <a:spcAft>
                          <a:spcPts val="0"/>
                        </a:spcAft>
                        <a:buClrTx/>
                        <a:buSzTx/>
                        <a:buFontTx/>
                        <a:buNone/>
                      </a:pPr>
                      <a:r>
                        <a:rPr sz="2400" b="0" i="0" u="none" cap="none" spc="0">
                          <a:ln>
                            <a:noFill/>
                          </a:ln>
                          <a:solidFill>
                            <a:srgbClr val="000000"/>
                          </a:solidFill>
                          <a:latin typeface="Helvetica Neue"/>
                          <a:ea typeface="Helvetica Neue"/>
                          <a:cs typeface="Helvetica Neue"/>
                        </a:rPr>
                        <a:t>Efficient inference and evaluation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00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4D779D15-1DB3-406F-8DB5-3FF51E8D3EB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BE261798-8B54-4ABE-A277-DC6A5B01051C}"/>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EE5B3003-2C54-13C6-9832-7637201064DE}" type="slidenum">
              <a:rPr sz="900" b="0">
                <a:solidFill>
                  <a:srgbClr val="666666"/>
                </a:solidFill>
                <a:latin typeface="Helvetica Neue"/>
                <a:ea typeface="Helvetica Neue"/>
                <a:cs typeface="Helvetica Neue"/>
              </a:rPr>
              <a:t>5</a:t>
            </a:fld>
            <a:endParaRPr/>
          </a:p>
        </p:txBody>
      </p:sp>
      <p:sp>
        <p:nvSpPr>
          <p:cNvPr id="3" name="Google Shape;533;p58">
            <a:extLst xmlns:a="http://schemas.openxmlformats.org/drawingml/2006/main">
              <a:ext uri="{FF2B5EF4-FFF2-40B4-BE49-F238E27FC236}">
                <a16:creationId xmlns:a16="http://schemas.microsoft.com/office/drawing/2014/main" id="{A60E7CD0-9836-4A36-886D-EE3C140377C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Language-model foundations</a:t>
            </a:r>
          </a:p>
        </p:txBody>
      </p:sp>
      <p:sp>
        <p:nvSpPr>
          <p:cNvPr id="4" name="Content Placeholder 15">
            <a:extLst xmlns:a="http://schemas.openxmlformats.org/drawingml/2006/main">
              <a:ext uri="{FF2B5EF4-FFF2-40B4-BE49-F238E27FC236}">
                <a16:creationId xmlns:a16="http://schemas.microsoft.com/office/drawing/2014/main" id="{B7703FBD-9408-49F8-B896-A8A1D5E2BB10}"/>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Language models / Topics 01–04</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Small models make token-by-token generation easy to inspect.</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Offline chatbot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Generate responses with no internet connection.</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Model-size comparisons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models from 15M to about 1B parameters on identical tasks.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Tiny story generation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Continue a story one token at a time with a small transformer.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Tokenization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how text, code, emojis, and languages become tokens.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272D6084-6861-4440-8A82-47570057F226}"/>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DE99B07B-9F25-4F04-AE02-D400AC43429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8C630A04-5A25-9E0C-9436-126091DB86B3}" type="slidenum">
              <a:rPr sz="900" b="0">
                <a:solidFill>
                  <a:srgbClr val="666666"/>
                </a:solidFill>
                <a:latin typeface="Helvetica Neue"/>
                <a:ea typeface="Helvetica Neue"/>
                <a:cs typeface="Helvetica Neue"/>
              </a:rPr>
              <a:t>6</a:t>
            </a:fld>
            <a:endParaRPr/>
          </a:p>
        </p:txBody>
      </p:sp>
      <p:sp>
        <p:nvSpPr>
          <p:cNvPr id="3" name="Google Shape;533;p58">
            <a:extLst xmlns:a="http://schemas.openxmlformats.org/drawingml/2006/main">
              <a:ext uri="{FF2B5EF4-FFF2-40B4-BE49-F238E27FC236}">
                <a16:creationId xmlns:a16="http://schemas.microsoft.com/office/drawing/2014/main" id="{F50CE589-C84D-4B80-AE5E-2E894444B22A}"/>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Generation and prompting</a:t>
            </a:r>
          </a:p>
        </p:txBody>
      </p:sp>
      <p:sp>
        <p:nvSpPr>
          <p:cNvPr id="4" name="Content Placeholder 15">
            <a:extLst xmlns:a="http://schemas.openxmlformats.org/drawingml/2006/main">
              <a:ext uri="{FF2B5EF4-FFF2-40B4-BE49-F238E27FC236}">
                <a16:creationId xmlns:a16="http://schemas.microsoft.com/office/drawing/2014/main" id="{CA20DC01-B058-4DF0-B2D4-644E87057ABD}"/>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Language models / Topics 05–08</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The same model can behave differently under different instructions.</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Sampling strategies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Explore greedy decoding, temperature, top-k, and top-p.</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Prompt engineering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Measure how instructions and formatting change responses.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Few-shot learning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Teach a small task through examples inside the prompt.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Structured generation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Produce constrained JSON that a simple program can read.</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1390BE1E-01FA-462E-AB01-623E37CA12A1}"/>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56F7D9EA-9598-4A92-A046-DEB1140304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D3D7D1C8-AE23-AA48-DF65-C742588DBE47}" type="slidenum">
              <a:rPr sz="900" b="0">
                <a:solidFill>
                  <a:srgbClr val="666666"/>
                </a:solidFill>
                <a:latin typeface="Helvetica Neue"/>
                <a:ea typeface="Helvetica Neue"/>
                <a:cs typeface="Helvetica Neue"/>
              </a:rPr>
              <a:t>7</a:t>
            </a:fld>
            <a:endParaRPr/>
          </a:p>
        </p:txBody>
      </p:sp>
      <p:sp>
        <p:nvSpPr>
          <p:cNvPr id="3" name="Google Shape;533;p58">
            <a:extLst xmlns:a="http://schemas.openxmlformats.org/drawingml/2006/main">
              <a:ext uri="{FF2B5EF4-FFF2-40B4-BE49-F238E27FC236}">
                <a16:creationId xmlns:a16="http://schemas.microsoft.com/office/drawing/2014/main" id="{0370ACE1-55EA-4906-A537-09567C01832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Useful text tasks</a:t>
            </a:r>
          </a:p>
        </p:txBody>
      </p:sp>
      <p:sp>
        <p:nvSpPr>
          <p:cNvPr id="4" name="Content Placeholder 15">
            <a:extLst xmlns:a="http://schemas.openxmlformats.org/drawingml/2006/main">
              <a:ext uri="{FF2B5EF4-FFF2-40B4-BE49-F238E27FC236}">
                <a16:creationId xmlns:a16="http://schemas.microsoft.com/office/drawing/2014/main" id="{10E56948-9FBF-4024-AE82-0D5E7B03F62B}"/>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Language models / Topics 09–12</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Keep inputs short and evaluate each task with examples.</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09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Text classification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Categorize messages, questions, or feedback.</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10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Information extraction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Extract names, dates, quantities, and simple fields.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11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Short-text summarization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Test how well small models summarize brief passages.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12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Conversation memory</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Maintain, trim, and summarize a dialogue history.</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C0A56A0F-E901-4DC0-A2DF-D2D216DDD0E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C0D83437-1901-423A-AF8F-5B627224CF8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BA58DA2A-B818-18A9-29C1-B697728D5BCE}" type="slidenum">
              <a:rPr sz="900" b="0">
                <a:solidFill>
                  <a:srgbClr val="666666"/>
                </a:solidFill>
                <a:latin typeface="Helvetica Neue"/>
                <a:ea typeface="Helvetica Neue"/>
                <a:cs typeface="Helvetica Neue"/>
              </a:rPr>
              <a:t>8</a:t>
            </a:fld>
            <a:endParaRPr/>
          </a:p>
        </p:txBody>
      </p:sp>
      <p:sp>
        <p:nvSpPr>
          <p:cNvPr id="3" name="Google Shape;533;p58">
            <a:extLst xmlns:a="http://schemas.openxmlformats.org/drawingml/2006/main">
              <a:ext uri="{FF2B5EF4-FFF2-40B4-BE49-F238E27FC236}">
                <a16:creationId xmlns:a16="http://schemas.microsoft.com/office/drawing/2014/main" id="{D77ADF11-725C-4588-BA3C-8FE0C7FBF7E8}"/>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Reasoning and reliability</a:t>
            </a:r>
          </a:p>
        </p:txBody>
      </p:sp>
      <p:sp>
        <p:nvSpPr>
          <p:cNvPr id="4" name="Content Placeholder 15">
            <a:extLst xmlns:a="http://schemas.openxmlformats.org/drawingml/2006/main">
              <a:ext uri="{FF2B5EF4-FFF2-40B4-BE49-F238E27FC236}">
                <a16:creationId xmlns:a16="http://schemas.microsoft.com/office/drawing/2014/main" id="{F328A8EE-9408-4A92-BC86-22FF5A48C112}"/>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Language models / Topics 13–15</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Longer answers and fluent language do not establish correctness.</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13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Thinking modes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answer accuracy and latency with thinking on or off.</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14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Multilingual evaluation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a model across the languages it supports.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15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Hallucination experiments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Find invented answers and test ways to ground them.</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C0A0FB23-C526-48EC-BC57-512C4EBFDAD9}"/>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57709676-3A7D-46A7-9B75-121456D07A7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388657AE-30A1-5A7A-6A7F-315D84436430}" type="slidenum">
              <a:rPr sz="900" b="0">
                <a:solidFill>
                  <a:srgbClr val="666666"/>
                </a:solidFill>
                <a:latin typeface="Helvetica Neue"/>
                <a:ea typeface="Helvetica Neue"/>
                <a:cs typeface="Helvetica Neue"/>
              </a:rPr>
              <a:t>9</a:t>
            </a:fld>
            <a:endParaRPr/>
          </a:p>
        </p:txBody>
      </p:sp>
      <p:sp>
        <p:nvSpPr>
          <p:cNvPr id="3" name="Google Shape;533;p58">
            <a:extLst xmlns:a="http://schemas.openxmlformats.org/drawingml/2006/main">
              <a:ext uri="{FF2B5EF4-FFF2-40B4-BE49-F238E27FC236}">
                <a16:creationId xmlns:a16="http://schemas.microsoft.com/office/drawing/2014/main" id="{972E9F59-A350-4FFE-84D2-B2B775FB530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Speech input and output</a:t>
            </a:r>
          </a:p>
        </p:txBody>
      </p:sp>
      <p:sp>
        <p:nvSpPr>
          <p:cNvPr id="4" name="Content Placeholder 15">
            <a:extLst xmlns:a="http://schemas.openxmlformats.org/drawingml/2006/main">
              <a:ext uri="{FF2B5EF4-FFF2-40B4-BE49-F238E27FC236}">
                <a16:creationId xmlns:a16="http://schemas.microsoft.com/office/drawing/2014/main" id="{4465E88C-EEB2-47AE-873B-B8495107A21C}"/>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Speech and audio / Topics 16–20</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Start with short utterances and turn-based interaction.</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16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Offline speech recognition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Convert short recordings into text on the device.</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17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Streaming recognition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Display transcription while someone speaks.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18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Neural text-to-speech</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Generate spoken audio from text.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19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TTS comparisons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voice quality, model size, and synthesis time.</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Offline voice assistant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Combine speech recognition, a small LLM, and spoken output.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953A9138-3DEB-4879-8EA8-492F4404DB46}"/>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890DB62E-18BC-433F-9FEE-161C241066AC}"/>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DB7BEEEC-A170-5376-2B6E-CB54687B0CB1}" type="slidenum">
              <a:rPr sz="900" b="0">
                <a:solidFill>
                  <a:srgbClr val="666666"/>
                </a:solidFill>
                <a:latin typeface="Helvetica Neue"/>
                <a:ea typeface="Helvetica Neue"/>
                <a:cs typeface="Helvetica Neue"/>
              </a:rPr>
              <a:t>10</a:t>
            </a:fld>
            <a:endParaRPr/>
          </a:p>
        </p:txBody>
      </p:sp>
      <p:sp>
        <p:nvSpPr>
          <p:cNvPr id="3" name="Google Shape;533;p58">
            <a:extLst xmlns:a="http://schemas.openxmlformats.org/drawingml/2006/main">
              <a:ext uri="{FF2B5EF4-FFF2-40B4-BE49-F238E27FC236}">
                <a16:creationId xmlns:a16="http://schemas.microsoft.com/office/drawing/2014/main" id="{D9291891-81A7-4B0D-8C7A-CEEE380A7C5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Voice interfaces</a:t>
            </a:r>
          </a:p>
        </p:txBody>
      </p:sp>
      <p:sp>
        <p:nvSpPr>
          <p:cNvPr id="4" name="Content Placeholder 15">
            <a:extLst xmlns:a="http://schemas.openxmlformats.org/drawingml/2006/main">
              <a:ext uri="{FF2B5EF4-FFF2-40B4-BE49-F238E27FC236}">
                <a16:creationId xmlns:a16="http://schemas.microsoft.com/office/drawing/2014/main" id="{D5DE204D-61D8-403D-842B-B1B3C4A4274B}"/>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Speech and audio / Topics 21–24</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 small command vocabulary can produce an engaging device demo.</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21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Wake-word detection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Activate an application using a supported keyword.</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22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Voice activity detection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Detect speech boundaries and split audio recordings.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23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Spoken commands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Recognize a small vocabulary of device commands.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24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Voice-controlled devices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Connect recognized commands to LEDs or a display.</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A11A147F-00EA-4D91-8A3A-0BB9E18BBF1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5783CB05-2765-43A9-920C-3E141FF63D02}"/>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30394428-F1DC-E5F6-DB0C-7DE31F3D8A23}" type="slidenum">
              <a:rPr sz="900" b="0">
                <a:solidFill>
                  <a:srgbClr val="666666"/>
                </a:solidFill>
                <a:latin typeface="Helvetica Neue"/>
                <a:ea typeface="Helvetica Neue"/>
                <a:cs typeface="Helvetica Neue"/>
              </a:rPr>
              <a:t>11</a:t>
            </a:fld>
            <a:endParaRPr/>
          </a:p>
        </p:txBody>
      </p:sp>
      <p:sp>
        <p:nvSpPr>
          <p:cNvPr id="3" name="Google Shape;533;p58">
            <a:extLst xmlns:a="http://schemas.openxmlformats.org/drawingml/2006/main">
              <a:ext uri="{FF2B5EF4-FFF2-40B4-BE49-F238E27FC236}">
                <a16:creationId xmlns:a16="http://schemas.microsoft.com/office/drawing/2014/main" id="{FB3BB395-241F-42ED-83E9-76908341142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Audio understanding</a:t>
            </a:r>
          </a:p>
        </p:txBody>
      </p:sp>
      <p:sp>
        <p:nvSpPr>
          <p:cNvPr id="4" name="Content Placeholder 15">
            <a:extLst xmlns:a="http://schemas.openxmlformats.org/drawingml/2006/main">
              <a:ext uri="{FF2B5EF4-FFF2-40B4-BE49-F238E27FC236}">
                <a16:creationId xmlns:a16="http://schemas.microsoft.com/office/drawing/2014/main" id="{6DEA75AA-1B8A-409B-9BF9-F6480BC0FA01}"/>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Speech and audio / Topics 25–29</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Model availability does not establish Nano performance.</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Sound-event recognition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Recognize selected sounds in the environment.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Speech enhancement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Reduce noise and compare transcription before and after.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Speaker verification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whether volunteer recordings share a speaker.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Speaker diarization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Explore who spoke when in a short recording.</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29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Language identification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Identify spoken languages supported by the chosen model.</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32A8807B-628D-4602-86D2-AE8DEDA0B85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F65F54C9-34E9-44C2-A261-1DD432134AA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4DB16885-0D3F-A391-B669-3211DB3B26E8}" type="slidenum">
              <a:rPr sz="900" b="0">
                <a:solidFill>
                  <a:srgbClr val="666666"/>
                </a:solidFill>
                <a:latin typeface="Helvetica Neue"/>
                <a:ea typeface="Helvetica Neue"/>
                <a:cs typeface="Helvetica Neue"/>
              </a:rPr>
              <a:t>12</a:t>
            </a:fld>
            <a:endParaRPr/>
          </a:p>
        </p:txBody>
      </p:sp>
      <p:sp>
        <p:nvSpPr>
          <p:cNvPr id="3" name="Google Shape;533;p58">
            <a:extLst xmlns:a="http://schemas.openxmlformats.org/drawingml/2006/main">
              <a:ext uri="{FF2B5EF4-FFF2-40B4-BE49-F238E27FC236}">
                <a16:creationId xmlns:a16="http://schemas.microsoft.com/office/drawing/2014/main" id="{F0892AA2-8DE4-4325-A5DD-918A8C8EE9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Retrieval and grounded answers</a:t>
            </a:r>
          </a:p>
        </p:txBody>
      </p:sp>
      <p:sp>
        <p:nvSpPr>
          <p:cNvPr id="4" name="Content Placeholder 15">
            <a:extLst xmlns:a="http://schemas.openxmlformats.org/drawingml/2006/main">
              <a:ext uri="{FF2B5EF4-FFF2-40B4-BE49-F238E27FC236}">
                <a16:creationId xmlns:a16="http://schemas.microsoft.com/office/drawing/2014/main" id="{51A046A8-2EA3-4C93-8E4E-1D962BEFE4C0}"/>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Retrieval and agents / Topics 30–34</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Use a small document collection with known answers.</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30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Semantic search</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Find relevant text by meaning rather than exact keywords.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31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RAG over class notes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Retrieve relevant notes before generating an answer.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32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Evidence-backed answers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Display source passages beside generated responses.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33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Keyword vs vector search</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retrieval methods on the same questions.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34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Document chunking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Explore how passage size affects retrieval and answers.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56D21A84-719E-4E51-A0CA-C0CDE18D4125}"/>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7A7D593E-4914-44FE-A85D-2BB252D7473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2DD23107-4986-8758-3A93-3D74F35908CC}" type="slidenum">
              <a:rPr sz="900" b="0">
                <a:solidFill>
                  <a:srgbClr val="666666"/>
                </a:solidFill>
                <a:latin typeface="Helvetica Neue"/>
                <a:ea typeface="Helvetica Neue"/>
                <a:cs typeface="Helvetica Neue"/>
              </a:rPr>
              <a:t>13</a:t>
            </a:fld>
            <a:endParaRPr/>
          </a:p>
        </p:txBody>
      </p:sp>
      <p:sp>
        <p:nvSpPr>
          <p:cNvPr id="3" name="Google Shape;533;p58">
            <a:extLst xmlns:a="http://schemas.openxmlformats.org/drawingml/2006/main">
              <a:ext uri="{FF2B5EF4-FFF2-40B4-BE49-F238E27FC236}">
                <a16:creationId xmlns:a16="http://schemas.microsoft.com/office/drawing/2014/main" id="{612BEE8C-AB1A-4CB6-96F9-E99179B6B54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Tools and physical actions</a:t>
            </a:r>
          </a:p>
        </p:txBody>
      </p:sp>
      <p:sp>
        <p:nvSpPr>
          <p:cNvPr id="4" name="Content Placeholder 15">
            <a:extLst xmlns:a="http://schemas.openxmlformats.org/drawingml/2006/main">
              <a:ext uri="{FF2B5EF4-FFF2-40B4-BE49-F238E27FC236}">
                <a16:creationId xmlns:a16="http://schemas.microsoft.com/office/drawing/2014/main" id="{B45686AB-21A9-4195-8875-1920673D1B81}"/>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Retrieval and agents / Topics 35–38</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The application validates the model's proposed tool calls.</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35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Calculator assistant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Use a calculator tool to perform numerical operations.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36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Sensor-aware assistant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Answer questions using actual sensor readings.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37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Natural-language control</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Translate a request into one of a few validated actions.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38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Small tool-using agent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Select among a small set of predefined tools.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7AC9AE72-548C-473C-8144-0A23D689112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D447DB1B-3FEA-4DF8-9170-53A19242D09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327921A4-25C4-3DB4-06B1-32693CEE2241}" type="slidenum">
              <a:rPr sz="900" b="0">
                <a:solidFill>
                  <a:srgbClr val="666666"/>
                </a:solidFill>
                <a:latin typeface="Helvetica Neue"/>
                <a:ea typeface="Helvetica Neue"/>
                <a:cs typeface="Helvetica Neue"/>
              </a:rPr>
              <a:t>14</a:t>
            </a:fld>
            <a:endParaRPr/>
          </a:p>
        </p:txBody>
      </p:sp>
      <p:sp>
        <p:nvSpPr>
          <p:cNvPr id="3" name="Google Shape;533;p58">
            <a:extLst xmlns:a="http://schemas.openxmlformats.org/drawingml/2006/main">
              <a:ext uri="{FF2B5EF4-FFF2-40B4-BE49-F238E27FC236}">
                <a16:creationId xmlns:a16="http://schemas.microsoft.com/office/drawing/2014/main" id="{CF49F0F3-63AB-44FC-9802-4D6CE22AB95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Memory and trust</a:t>
            </a:r>
          </a:p>
        </p:txBody>
      </p:sp>
      <p:sp>
        <p:nvSpPr>
          <p:cNvPr id="4" name="Content Placeholder 15">
            <a:extLst xmlns:a="http://schemas.openxmlformats.org/drawingml/2006/main">
              <a:ext uri="{FF2B5EF4-FFF2-40B4-BE49-F238E27FC236}">
                <a16:creationId xmlns:a16="http://schemas.microsoft.com/office/drawing/2014/main" id="{9B6CA4F9-4C90-4413-9EEE-104CA56278F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Retrieval and agents / Topics 39–41</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Test evidence handling as carefully as answer generation.</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39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Persistent memory</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Store and retrieve explicit preferences or facts.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40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Prompt injection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Explore misleading instructions inside retrieved content.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41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Answer or abstain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Evaluate when an assistant should report missing evidence.</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BFCA5E40-C1FE-4C4A-9055-32BEBD19196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E415E96B-E47A-4734-AC9F-2A5FFB044FDC}"/>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EA83FA91-883A-0168-8075-96CEB9DCA3C2}" type="slidenum">
              <a:rPr sz="900" b="0">
                <a:solidFill>
                  <a:srgbClr val="666666"/>
                </a:solidFill>
                <a:latin typeface="Helvetica Neue"/>
                <a:ea typeface="Helvetica Neue"/>
                <a:cs typeface="Helvetica Neue"/>
              </a:rPr>
              <a:t>15</a:t>
            </a:fld>
            <a:endParaRPr/>
          </a:p>
        </p:txBody>
      </p:sp>
      <p:sp>
        <p:nvSpPr>
          <p:cNvPr id="3" name="Google Shape;533;p58">
            <a:extLst xmlns:a="http://schemas.openxmlformats.org/drawingml/2006/main">
              <a:ext uri="{FF2B5EF4-FFF2-40B4-BE49-F238E27FC236}">
                <a16:creationId xmlns:a16="http://schemas.microsoft.com/office/drawing/2014/main" id="{DD63E4AD-D771-441E-916A-B7D4A77A322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Camera perception</a:t>
            </a:r>
          </a:p>
        </p:txBody>
      </p:sp>
      <p:sp>
        <p:nvSpPr>
          <p:cNvPr id="4" name="Content Placeholder 15">
            <a:extLst xmlns:a="http://schemas.openxmlformats.org/drawingml/2006/main">
              <a:ext uri="{FF2B5EF4-FFF2-40B4-BE49-F238E27FC236}">
                <a16:creationId xmlns:a16="http://schemas.microsoft.com/office/drawing/2014/main" id="{0BF534C7-9DDD-48C0-81A8-9242936D79C8}"/>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Vision and multimodal AI / Topics 42–45</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Use lightweight models from a compatible JetPack 4 stack.</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Live object detection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Detect supported objects in a camera feed.</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Custom object classifier</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Teach a classifier to recognize classroom objects.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Tracking and counting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Follow detections across frames and count crossings.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Pose estimation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Detect body keypoints in camera images.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0A473ED2-1F0D-4273-B8EB-88C7B348DF1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0F8C16D2-E810-4CB4-BAA9-597AA9AF2422}"/>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DC9C7607-4BA3-B4DC-A00F-2E67A9FCFF7E}" type="slidenum">
              <a:rPr sz="900" b="0">
                <a:solidFill>
                  <a:srgbClr val="666666"/>
                </a:solidFill>
                <a:latin typeface="Helvetica Neue"/>
                <a:ea typeface="Helvetica Neue"/>
                <a:cs typeface="Helvetica Neue"/>
              </a:rPr>
              <a:t>16</a:t>
            </a:fld>
            <a:endParaRPr/>
          </a:p>
        </p:txBody>
      </p:sp>
      <p:sp>
        <p:nvSpPr>
          <p:cNvPr id="3" name="Google Shape;533;p58">
            <a:extLst xmlns:a="http://schemas.openxmlformats.org/drawingml/2006/main">
              <a:ext uri="{FF2B5EF4-FFF2-40B4-BE49-F238E27FC236}">
                <a16:creationId xmlns:a16="http://schemas.microsoft.com/office/drawing/2014/main" id="{C84A378D-F822-47D2-B733-145D634CDFC2}"/>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Visual interaction</a:t>
            </a:r>
          </a:p>
        </p:txBody>
      </p:sp>
      <p:sp>
        <p:nvSpPr>
          <p:cNvPr id="4" name="Content Placeholder 15">
            <a:extLst xmlns:a="http://schemas.openxmlformats.org/drawingml/2006/main">
              <a:ext uri="{FF2B5EF4-FFF2-40B4-BE49-F238E27FC236}">
                <a16:creationId xmlns:a16="http://schemas.microsoft.com/office/drawing/2014/main" id="{64FEA290-71D0-4938-AEE4-E77DC41B3B22}"/>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Vision and multimodal AI / Topics 46–49</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 talking detector combines vision and speech without a VLM.</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Gesture interaction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Map a few poses or gestures to application controls.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Image segmentation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pixel labels with object-detection boxes.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Talking camera</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Convert detected object labels into spoken descriptions.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49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Small vision-language models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Ask short questions about a single image.</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2BB60016-D383-43AC-AF44-A6C99013B1F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E40B7C5C-0344-4C65-B594-7032601E3AC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90F7333B-44AC-F7E9-D49D-FE92F45E0477}" type="slidenum">
              <a:rPr sz="900" b="0">
                <a:solidFill>
                  <a:srgbClr val="666666"/>
                </a:solidFill>
                <a:latin typeface="Helvetica Neue"/>
                <a:ea typeface="Helvetica Neue"/>
                <a:cs typeface="Helvetica Neue"/>
              </a:rPr>
              <a:t>17</a:t>
            </a:fld>
            <a:endParaRPr/>
          </a:p>
        </p:txBody>
      </p:sp>
      <p:sp>
        <p:nvSpPr>
          <p:cNvPr id="3" name="Google Shape;533;p58">
            <a:extLst xmlns:a="http://schemas.openxmlformats.org/drawingml/2006/main">
              <a:ext uri="{FF2B5EF4-FFF2-40B4-BE49-F238E27FC236}">
                <a16:creationId xmlns:a16="http://schemas.microsoft.com/office/drawing/2014/main" id="{75E33F0A-949E-42C7-ADC8-98802310EFF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Image descriptions and anomalies</a:t>
            </a:r>
          </a:p>
        </p:txBody>
      </p:sp>
      <p:sp>
        <p:nvSpPr>
          <p:cNvPr id="4" name="Content Placeholder 15">
            <a:extLst xmlns:a="http://schemas.openxmlformats.org/drawingml/2006/main">
              <a:ext uri="{FF2B5EF4-FFF2-40B4-BE49-F238E27FC236}">
                <a16:creationId xmlns:a16="http://schemas.microsoft.com/office/drawing/2014/main" id="{4C5E7229-AEBC-4091-B89C-97D25FC279FC}"/>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Vision and multimodal AI / Topics 50–51</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Begin with individual images and a narrowly defined task.</a:t>
            </a:r>
          </a:p>
        </p:txBody>
      </p:sp>
      <p:graphicFrame>
        <p:nvGraphicFramePr>
          <p:cNvPr id="10" name=""/>
          <p:cNvGraphicFramePr/>
          <p:nvPr/>
        </p:nvGraphicFramePr>
        <p:xfrm>
          <a:off xmlns:a="http://schemas.openxmlformats.org/drawingml/2006/main" x="393668" y="2247900"/>
          <a:ext xmlns:a="http://schemas.openxmlformats.org/drawingml/2006/main" cx="11404568" cy="2305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50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Image captioning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Generate short descriptions of images.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51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Visual anomaly detection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Learn normal appearances and flag deviations.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E452382B-6443-4C95-ADF7-01A9AD532315}"/>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D416930D-A94E-476B-9CCD-76B46C21CC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B1C6C81E-38B9-7560-621D-5A151A79DF9B}" type="slidenum">
              <a:rPr sz="900" b="0">
                <a:solidFill>
                  <a:srgbClr val="666666"/>
                </a:solidFill>
                <a:latin typeface="Helvetica Neue"/>
                <a:ea typeface="Helvetica Neue"/>
                <a:cs typeface="Helvetica Neue"/>
              </a:rPr>
              <a:t>18</a:t>
            </a:fld>
            <a:endParaRPr/>
          </a:p>
        </p:txBody>
      </p:sp>
      <p:sp>
        <p:nvSpPr>
          <p:cNvPr id="3" name="Google Shape;533;p58">
            <a:extLst xmlns:a="http://schemas.openxmlformats.org/drawingml/2006/main">
              <a:ext uri="{FF2B5EF4-FFF2-40B4-BE49-F238E27FC236}">
                <a16:creationId xmlns:a16="http://schemas.microsoft.com/office/drawing/2014/main" id="{D691C58E-5733-434C-A4B7-5BEEBDCF267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Learning and adaptation</a:t>
            </a:r>
          </a:p>
        </p:txBody>
      </p:sp>
      <p:sp>
        <p:nvSpPr>
          <p:cNvPr id="4" name="Content Placeholder 15">
            <a:extLst xmlns:a="http://schemas.openxmlformats.org/drawingml/2006/main">
              <a:ext uri="{FF2B5EF4-FFF2-40B4-BE49-F238E27FC236}">
                <a16:creationId xmlns:a16="http://schemas.microsoft.com/office/drawing/2014/main" id="{A4062A75-521D-43E6-9132-E4D4B7878CC6}"/>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Training and adaptation / Topics 52–56</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Local LoRA is a tiny-model experiment. QLoRA training belongs elsewhere.</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52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Tiny transformer training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Train a very small language model on a limited dataset.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53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Transfer learning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Adapt a pretrained classifier to new categories.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54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LoRA fundamentals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Freeze base weights and train small low-rank updates.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55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LoRA model deployment</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original and adapted models on the Nano.</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56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QLoRA workflow</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Fine-tune elsewhere, then export an adapted model.</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D9E3DC6F-98B9-4FDE-96E1-4B8A17C94B3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E4C2BB3C-F3BF-4A1E-9CD5-63791C3B1F3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CCF91274-D221-1BB4-3BF9-836E3AD31EBE}" type="slidenum">
              <a:rPr sz="900" b="0">
                <a:solidFill>
                  <a:srgbClr val="666666"/>
                </a:solidFill>
                <a:latin typeface="Helvetica Neue"/>
                <a:ea typeface="Helvetica Neue"/>
                <a:cs typeface="Helvetica Neue"/>
              </a:rPr>
              <a:t>19</a:t>
            </a:fld>
            <a:endParaRPr/>
          </a:p>
        </p:txBody>
      </p:sp>
      <p:sp>
        <p:nvSpPr>
          <p:cNvPr id="3" name="Google Shape;533;p58">
            <a:extLst xmlns:a="http://schemas.openxmlformats.org/drawingml/2006/main">
              <a:ext uri="{FF2B5EF4-FFF2-40B4-BE49-F238E27FC236}">
                <a16:creationId xmlns:a16="http://schemas.microsoft.com/office/drawing/2014/main" id="{8DA656A6-2DB1-4BB9-8AE2-8391D978E308}"/>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Adapters and teacher models</a:t>
            </a:r>
          </a:p>
        </p:txBody>
      </p:sp>
      <p:sp>
        <p:nvSpPr>
          <p:cNvPr id="4" name="Content Placeholder 15">
            <a:extLst xmlns:a="http://schemas.openxmlformats.org/drawingml/2006/main">
              <a:ext uri="{FF2B5EF4-FFF2-40B4-BE49-F238E27FC236}">
                <a16:creationId xmlns:a16="http://schemas.microsoft.com/office/drawing/2014/main" id="{79B687D5-3788-407F-9449-BCF8A18A6297}"/>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Training and adaptation / Topics 57–59</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Deploy a small student or adapted model on the Nano.</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57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Adapter merging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adapter-based and merged deployment when supported.</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58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Knowledge distillation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Transfer a larger teacher's behavior to a small student.</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59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Synthetic training data</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Generate, inspect, and use teacher-created examples.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D9D18EAC-C4EA-4DA8-B71C-00FC617207F7}"/>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440EDE5B-E16E-4579-88FC-C899A641204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844E025A-983C-6D44-79C6-4612AACD43FC}" type="slidenum">
              <a:rPr sz="900" b="0">
                <a:solidFill>
                  <a:srgbClr val="666666"/>
                </a:solidFill>
                <a:latin typeface="Helvetica Neue"/>
                <a:ea typeface="Helvetica Neue"/>
                <a:cs typeface="Helvetica Neue"/>
              </a:rPr>
              <a:t>20</a:t>
            </a:fld>
            <a:endParaRPr/>
          </a:p>
        </p:txBody>
      </p:sp>
      <p:sp>
        <p:nvSpPr>
          <p:cNvPr id="3" name="Google Shape;533;p58">
            <a:extLst xmlns:a="http://schemas.openxmlformats.org/drawingml/2006/main">
              <a:ext uri="{FF2B5EF4-FFF2-40B4-BE49-F238E27FC236}">
                <a16:creationId xmlns:a16="http://schemas.microsoft.com/office/drawing/2014/main" id="{10BB0AB0-761E-46D6-8C75-638CF901B5E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Data and generalization</a:t>
            </a:r>
          </a:p>
        </p:txBody>
      </p:sp>
      <p:sp>
        <p:nvSpPr>
          <p:cNvPr id="4" name="Content Placeholder 15">
            <a:extLst xmlns:a="http://schemas.openxmlformats.org/drawingml/2006/main">
              <a:ext uri="{FF2B5EF4-FFF2-40B4-BE49-F238E27FC236}">
                <a16:creationId xmlns:a16="http://schemas.microsoft.com/office/drawing/2014/main" id="{1F393B66-685E-4E35-B91F-EF9C4EABDF4E}"/>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Training and adaptation / Topics 60–62</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Hold out examples before training and report failures.</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Active learning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Select informative examples for students to label.</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Data quality and overfitting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clean/noisy data and training/unseen examples.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Forgetting after fine-tuning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Measure whether adaptation harms earlier capabilities.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External training</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D8EA88CA-2E02-4F82-8280-CE6C96DED69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A6FED6F5-F9A9-46AF-B409-43A188439D5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F6DF2BE2-2DFA-1C03-677D-BDC2260D6D92}" type="slidenum">
              <a:rPr sz="900" b="0">
                <a:solidFill>
                  <a:srgbClr val="666666"/>
                </a:solidFill>
                <a:latin typeface="Helvetica Neue"/>
                <a:ea typeface="Helvetica Neue"/>
                <a:cs typeface="Helvetica Neue"/>
              </a:rPr>
              <a:t>21</a:t>
            </a:fld>
            <a:endParaRPr/>
          </a:p>
        </p:txBody>
      </p:sp>
      <p:sp>
        <p:nvSpPr>
          <p:cNvPr id="3" name="Google Shape;533;p58">
            <a:extLst xmlns:a="http://schemas.openxmlformats.org/drawingml/2006/main">
              <a:ext uri="{FF2B5EF4-FFF2-40B4-BE49-F238E27FC236}">
                <a16:creationId xmlns:a16="http://schemas.microsoft.com/office/drawing/2014/main" id="{8499B58E-ABB9-4243-997B-6DF42FA9C9CD}"/>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Precision, memory, and compute</a:t>
            </a:r>
          </a:p>
        </p:txBody>
      </p:sp>
      <p:sp>
        <p:nvSpPr>
          <p:cNvPr id="4" name="Content Placeholder 15">
            <a:extLst xmlns:a="http://schemas.openxmlformats.org/drawingml/2006/main">
              <a:ext uri="{FF2B5EF4-FFF2-40B4-BE49-F238E27FC236}">
                <a16:creationId xmlns:a16="http://schemas.microsoft.com/office/drawing/2014/main" id="{49F6703A-015E-46C0-8FD3-808E07476DA3}"/>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Efficient inference / Topics 63–66</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Change one setting at a time and measure the same workload.</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63</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Quantization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four-bit, eight-bit, and higher-precision inference.</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64</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Context-window experiments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Measure memory and latency as prompts grow.</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65</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KV caching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Explore how cached attention states affect generation.</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66</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CPU vs GPU inference</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Measure the effect of GPU offloading on a fixed workload.</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29FBA1BB-E31A-4DDE-9A68-92CF063D7CF5}"/>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FD867A2A-269F-499A-BA91-B6515C1417C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0BB18BA8-60F4-C50D-CD9B-1BB87D3E8506}" type="slidenum">
              <a:rPr sz="900" b="0">
                <a:solidFill>
                  <a:srgbClr val="666666"/>
                </a:solidFill>
                <a:latin typeface="Helvetica Neue"/>
                <a:ea typeface="Helvetica Neue"/>
                <a:cs typeface="Helvetica Neue"/>
              </a:rPr>
              <a:t>22</a:t>
            </a:fld>
            <a:endParaRPr/>
          </a:p>
        </p:txBody>
      </p:sp>
      <p:sp>
        <p:nvSpPr>
          <p:cNvPr id="3" name="Google Shape;533;p58">
            <a:extLst xmlns:a="http://schemas.openxmlformats.org/drawingml/2006/main">
              <a:ext uri="{FF2B5EF4-FFF2-40B4-BE49-F238E27FC236}">
                <a16:creationId xmlns:a16="http://schemas.microsoft.com/office/drawing/2014/main" id="{521D5DF4-C5F3-46FA-9EA6-F744B3E0D8FA}"/>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Generation and deployment choices</a:t>
            </a:r>
          </a:p>
        </p:txBody>
      </p:sp>
      <p:sp>
        <p:nvSpPr>
          <p:cNvPr id="4" name="Content Placeholder 15">
            <a:extLst xmlns:a="http://schemas.openxmlformats.org/drawingml/2006/main">
              <a:ext uri="{FF2B5EF4-FFF2-40B4-BE49-F238E27FC236}">
                <a16:creationId xmlns:a16="http://schemas.microsoft.com/office/drawing/2014/main" id="{984CDCC8-864C-4BCB-98ED-30C2B0E53DD1}"/>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Efficient inference / Topics 67–69</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Extra models or services add costs as well as capabilities.</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67</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Speculative decoding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Test draft-and-verify generation without assuming a speedup.</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68</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Model routing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Choose a small or larger model according to the task.</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Experimental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69</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Local vs remote inference</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Compare offline operation, latency, and data transfer.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489D26DA-108B-4A20-8AEE-FE2854507D6F}"/>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3331DF20-43BE-4815-9386-73F3CFDB69D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A4E99CEF-AF55-BA3C-ADF8-4E52E186DD8F}" type="slidenum">
              <a:rPr sz="900" b="0">
                <a:solidFill>
                  <a:srgbClr val="666666"/>
                </a:solidFill>
                <a:latin typeface="Helvetica Neue"/>
                <a:ea typeface="Helvetica Neue"/>
                <a:cs typeface="Helvetica Neue"/>
              </a:rPr>
              <a:t>23</a:t>
            </a:fld>
            <a:endParaRPr/>
          </a:p>
        </p:txBody>
      </p:sp>
      <p:sp>
        <p:nvSpPr>
          <p:cNvPr id="3" name="Google Shape;533;p58">
            <a:extLst xmlns:a="http://schemas.openxmlformats.org/drawingml/2006/main">
              <a:ext uri="{FF2B5EF4-FFF2-40B4-BE49-F238E27FC236}">
                <a16:creationId xmlns:a16="http://schemas.microsoft.com/office/drawing/2014/main" id="{D0CEC650-FB90-4E2E-A4A7-F54CC3A8142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Measurement and reproducibility</a:t>
            </a:r>
          </a:p>
        </p:txBody>
      </p:sp>
      <p:sp>
        <p:nvSpPr>
          <p:cNvPr id="4" name="Content Placeholder 15">
            <a:extLst xmlns:a="http://schemas.openxmlformats.org/drawingml/2006/main">
              <a:ext uri="{FF2B5EF4-FFF2-40B4-BE49-F238E27FC236}">
                <a16:creationId xmlns:a16="http://schemas.microsoft.com/office/drawing/2014/main" id="{4EE8E9C8-801B-488F-8D8A-3FF58BCAE7F0}"/>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Efficient inference / Topics 70–72</a:t>
            </a:r>
          </a:p>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Record the runtime, model revision, settings, and evaluation data.</a:t>
            </a:r>
          </a:p>
        </p:txBody>
      </p:sp>
      <p:graphicFrame>
        <p:nvGraphicFramePr>
          <p:cNvPr id="10" name=""/>
          <p:cNvGraphicFramePr/>
          <p:nvPr/>
        </p:nvGraphicFramePr>
        <p:xfrm>
          <a:off xmlns:a="http://schemas.openxmlformats.org/drawingml/2006/main" x="393668" y="2247900"/>
          <a:ext xmlns:a="http://schemas.openxmlformats.org/drawingml/2006/main" cx="11404568" cy="3257550"/>
        </p:xfrm>
        <a:graphic xmlns:a="http://schemas.openxmlformats.org/drawingml/2006/main">
          <a:graphicData uri="http://schemas.openxmlformats.org/drawingml/2006/table">
            <a:tbl>
              <a:tblPr firstRow="0" bandRow="0"/>
              <a:tblGrid>
                <a:gridCol w="609600"/>
                <a:gridCol w="3095625"/>
                <a:gridCol w="5667375"/>
                <a:gridCol w="2031968"/>
              </a:tblGrid>
              <a:tr h="400050">
                <a:tc>
                  <a:txBody>
                    <a:bodyPr>
                      <a:noAutofit/>
                    </a:bodyPr>
                    <a:lstStyle/>
                    <a:p>
                      <a:r>
                        <a:rPr sz="1350" b="1">
                          <a:solidFill>
                            <a:srgbClr val="666666"/>
                          </a:solidFill>
                          <a:latin typeface="Helvetica Neue"/>
                          <a:ea typeface="Helvetica Neue"/>
                          <a:cs typeface="Helvetica Neue"/>
                        </a:rPr>
                        <a: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Topic</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Student demonstration</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Route</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70</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Energy-aware inference</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Measure energy per completed task with a power meter.</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71</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Voice-pipeline profiling</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Separate recognition, generation, and synthesis delays.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r h="952500">
                <a:tc>
                  <a:txBody>
                    <a:bodyPr>
                      <a:noAutofit/>
                    </a:bodyPr>
                    <a:lstStyle/>
                    <a:p>
                      <a:r>
                        <a:rPr sz="1725" b="0">
                          <a:solidFill>
                            <a:srgbClr val="000000"/>
                          </a:solidFill>
                          <a:latin typeface="Helvetica Neue"/>
                          <a:ea typeface="Helvetica Neue"/>
                          <a:cs typeface="Helvetica Neue"/>
                        </a:rPr>
                        <a:t>72</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Reproducible evaluation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Report task accuracy, memory, latency, and failure cases.</a:t>
                      </a:r>
                    </a:p>
                  </a:txBody>
                  <a:tcPr marL="76200" marR="95250" marT="114300" marB="76200" anchor="ctr">
                    <a:solidFill>
                      <a:srgbClr val="FFFFFF"/>
                    </a:solidFill>
                  </a:tcPr>
                </a:tc>
                <a:tc>
                  <a:txBody>
                    <a:bodyPr>
                      <a:noAutofit/>
                    </a:bodyPr>
                    <a:lstStyle/>
                    <a:p>
                      <a:r>
                        <a:rPr sz="1575" b="0">
                          <a:solidFill>
                            <a:srgbClr val="333333"/>
                          </a:solidFill>
                          <a:latin typeface="Helvetica Neue"/>
                          <a:ea typeface="Helvetica Neue"/>
                          <a:cs typeface="Helvetica Neue"/>
                        </a:rPr>
                        <a:t>Local</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89B3F5F4-1488-45F4-A613-1871876E8321}"/>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27DF9EED-6A10-4150-B855-AB2C1523D6B2}"/>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4A59AF09-D197-0193-A7DE-FAAF0B691058}" type="slidenum">
              <a:rPr sz="900" b="0">
                <a:solidFill>
                  <a:srgbClr val="666666"/>
                </a:solidFill>
                <a:latin typeface="Helvetica Neue"/>
                <a:ea typeface="Helvetica Neue"/>
                <a:cs typeface="Helvetica Neue"/>
              </a:rPr>
              <a:t>24</a:t>
            </a:fld>
            <a:endParaRPr/>
          </a:p>
        </p:txBody>
      </p:sp>
      <p:sp>
        <p:nvSpPr>
          <p:cNvPr id="3" name="Google Shape;533;p58">
            <a:extLst xmlns:a="http://schemas.openxmlformats.org/drawingml/2006/main">
              <a:ext uri="{FF2B5EF4-FFF2-40B4-BE49-F238E27FC236}">
                <a16:creationId xmlns:a16="http://schemas.microsoft.com/office/drawing/2014/main" id="{099BEB30-9809-4110-A63B-FE24D730FF2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Language-model starting pool</a:t>
            </a:r>
          </a:p>
        </p:txBody>
      </p:sp>
      <p:sp>
        <p:nvSpPr>
          <p:cNvPr id="4" name="Content Placeholder 15">
            <a:extLst xmlns:a="http://schemas.openxmlformats.org/drawingml/2006/main">
              <a:ext uri="{FF2B5EF4-FFF2-40B4-BE49-F238E27FC236}">
                <a16:creationId xmlns:a16="http://schemas.microsoft.com/office/drawing/2014/main" id="{6B760846-E8E3-4F5A-92EE-66BB4F9EB24F}"/>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Model sizes support comparison. Select a compatible runtime before downloading weights.</a:t>
            </a:r>
          </a:p>
        </p:txBody>
      </p:sp>
      <p:graphicFrame>
        <p:nvGraphicFramePr>
          <p:cNvPr id="10" name=""/>
          <p:cNvGraphicFramePr/>
          <p:nvPr/>
        </p:nvGraphicFramePr>
        <p:xfrm>
          <a:off xmlns:a="http://schemas.openxmlformats.org/drawingml/2006/main" x="393668" y="2247900"/>
          <a:ext xmlns:a="http://schemas.openxmlformats.org/drawingml/2006/main" cx="11404568" cy="3829050"/>
        </p:xfrm>
        <a:graphic xmlns:a="http://schemas.openxmlformats.org/drawingml/2006/main">
          <a:graphicData uri="http://schemas.openxmlformats.org/drawingml/2006/table">
            <a:tbl>
              <a:tblPr firstRow="0" bandRow="0"/>
              <a:tblGrid>
                <a:gridCol w="3286125"/>
                <a:gridCol w="2190750"/>
                <a:gridCol w="3895725"/>
                <a:gridCol w="2031968"/>
              </a:tblGrid>
              <a:tr h="400050">
                <a:tc>
                  <a:txBody>
                    <a:bodyPr>
                      <a:noAutofit/>
                    </a:bodyPr>
                    <a:lstStyle/>
                    <a:p>
                      <a:r>
                        <a:rPr sz="1350" b="1">
                          <a:solidFill>
                            <a:srgbClr val="666666"/>
                          </a:solidFill>
                          <a:latin typeface="Helvetica Neue"/>
                          <a:ea typeface="Helvetica Neue"/>
                          <a:cs typeface="Helvetica Neue"/>
                        </a:rPr>
                        <a:t>Model family</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Parameters</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Teaching use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Status</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TinyStories / llama2.c</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15M / 42M / 110M</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Story generation and transformer basics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Local candidate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SmolLM2-Instruct</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135M / 360M</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Small chat models and task comparisons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Local candidate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Qwen2.5-Instruct</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About 500M</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Instruction following and extraction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Local candidate</a:t>
                      </a:r>
                    </a:p>
                  </a:txBody>
                  <a:tcPr marL="76200" marR="95250" marT="114300" marB="76200" anchor="ctr">
                    <a:solidFill>
                      <a:srgbClr val="FFFFFF"/>
                    </a:solidFill>
                  </a:tcPr>
                </a:tc>
              </a:tr>
              <a:tr h="857250">
                <a:tc>
                  <a:txBody>
                    <a:bodyPr>
                      <a:noAutofit/>
                    </a:bodyPr>
                    <a:lstStyle/>
                    <a:p>
                      <a:r>
                        <a:rPr sz="1725" b="0">
                          <a:solidFill>
                            <a:srgbClr val="000000"/>
                          </a:solidFill>
                          <a:latin typeface="Helvetica Neue"/>
                          <a:ea typeface="Helvetica Neue"/>
                          <a:cs typeface="Helvetica Neue"/>
                        </a:rPr>
                        <a:t>TinyLlama-Chat / Gemma 3 IT</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1.1B / 1B</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A larger-model comparison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Community demo</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C1BD4111-2835-4273-956F-4F1F7095D49F}"/>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6862DA9D-3F45-4A1E-835A-6E15E847E71E}"/>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F3AE1AE4-D79E-94D6-E825-3FC6C21A77D2}" type="slidenum">
              <a:rPr sz="900" b="0">
                <a:solidFill>
                  <a:srgbClr val="666666"/>
                </a:solidFill>
                <a:latin typeface="Helvetica Neue"/>
                <a:ea typeface="Helvetica Neue"/>
                <a:cs typeface="Helvetica Neue"/>
              </a:rPr>
              <a:t>25</a:t>
            </a:fld>
            <a:endParaRPr/>
          </a:p>
        </p:txBody>
      </p:sp>
      <p:sp>
        <p:nvSpPr>
          <p:cNvPr id="3" name="Google Shape;533;p58">
            <a:extLst xmlns:a="http://schemas.openxmlformats.org/drawingml/2006/main">
              <a:ext uri="{FF2B5EF4-FFF2-40B4-BE49-F238E27FC236}">
                <a16:creationId xmlns:a16="http://schemas.microsoft.com/office/drawing/2014/main" id="{57C78D7D-4C4E-47DB-973C-9D38FA80587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Speech, search, and vision tools</a:t>
            </a:r>
          </a:p>
        </p:txBody>
      </p:sp>
      <p:sp>
        <p:nvSpPr>
          <p:cNvPr id="4" name="Content Placeholder 15">
            <a:extLst xmlns:a="http://schemas.openxmlformats.org/drawingml/2006/main">
              <a:ext uri="{FF2B5EF4-FFF2-40B4-BE49-F238E27FC236}">
                <a16:creationId xmlns:a16="http://schemas.microsoft.com/office/drawing/2014/main" id="{30E30623-3FC2-4EF6-A176-58C7D0D0E6E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Toolkit support still requires checking the chosen model and binary.</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2619375"/>
                <a:gridCol w="3476625"/>
                <a:gridCol w="5308568"/>
              </a:tblGrid>
              <a:tr h="400050">
                <a:tc>
                  <a:txBody>
                    <a:bodyPr>
                      <a:noAutofit/>
                    </a:bodyPr>
                    <a:lstStyle/>
                    <a:p>
                      <a:r>
                        <a:rPr sz="1350" b="1">
                          <a:solidFill>
                            <a:srgbClr val="666666"/>
                          </a:solidFill>
                          <a:latin typeface="Helvetica Neue"/>
                          <a:ea typeface="Helvetica Neue"/>
                          <a:cs typeface="Helvetica Neue"/>
                        </a:rPr>
                        <a:t>Task</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Starting point</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Nano deployment approach</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Speech recognition</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Whisper tiny / Vosk small</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Short utterances, compatible CPU runtime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Speech interfaces</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sherpa-onnx</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Nano-specific CUDA 10.2 route or CPU</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Speech synthesis</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Piper / VITS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Start with a lightweight supported voice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Semantic search</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all-MiniLM-L6-v2</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Compatible embedding runtime, small corpus</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Camera perception</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jetson-inference</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Pin a JetPack-4-compatible revision</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C1A3F245-C77F-41C9-8DF6-FCAF5A0FA88F}"/>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E6424244-8B65-47AF-91AE-9E6A26FA3E5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5AB55966-FA28-BC73-EA9E-53DF014DF033}" type="slidenum">
              <a:rPr sz="900" b="0">
                <a:solidFill>
                  <a:srgbClr val="666666"/>
                </a:solidFill>
                <a:latin typeface="Helvetica Neue"/>
                <a:ea typeface="Helvetica Neue"/>
                <a:cs typeface="Helvetica Neue"/>
              </a:rPr>
              <a:t>26</a:t>
            </a:fld>
            <a:endParaRPr/>
          </a:p>
        </p:txBody>
      </p:sp>
      <p:sp>
        <p:nvSpPr>
          <p:cNvPr id="3" name="Google Shape;533;p58">
            <a:extLst xmlns:a="http://schemas.openxmlformats.org/drawingml/2006/main">
              <a:ext uri="{FF2B5EF4-FFF2-40B4-BE49-F238E27FC236}">
                <a16:creationId xmlns:a16="http://schemas.microsoft.com/office/drawing/2014/main" id="{24C32B8B-FA50-4D03-AB30-99B9CDB2BDF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Newer models to investigate</a:t>
            </a:r>
          </a:p>
        </p:txBody>
      </p:sp>
      <p:sp>
        <p:nvSpPr>
          <p:cNvPr id="4" name="Content Placeholder 15">
            <a:extLst xmlns:a="http://schemas.openxmlformats.org/drawingml/2006/main">
              <a:ext uri="{FF2B5EF4-FFF2-40B4-BE49-F238E27FC236}">
                <a16:creationId xmlns:a16="http://schemas.microsoft.com/office/drawing/2014/main" id="{D0B1CAC6-97F0-4705-A640-16CF5CCA55A0}"/>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Experimental candidates. Their size alone does not establish original-Nano compatibility.</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3333750"/>
                <a:gridCol w="3333750"/>
                <a:gridCol w="4737068"/>
              </a:tblGrid>
              <a:tr h="400050">
                <a:tc>
                  <a:txBody>
                    <a:bodyPr>
                      <a:noAutofit/>
                    </a:bodyPr>
                    <a:lstStyle/>
                    <a:p>
                      <a:r>
                        <a:rPr sz="1350" b="1">
                          <a:solidFill>
                            <a:srgbClr val="666666"/>
                          </a:solidFill>
                          <a:latin typeface="Helvetica Neue"/>
                          <a:ea typeface="Helvetica Neue"/>
                          <a:cs typeface="Helvetica Neue"/>
                        </a:rPr>
                        <a:t>Model</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Scale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Interesting direction</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Gemma 3 270M IT</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270M parameters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Very small instruction-model comparison</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Qwen3-0.6B</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About 600M parameters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Thinking and non-thinking behavior</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Qwen3.5-0.8B</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800M language model + vision</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Newer hybrid architecture</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Kokoro-82M</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82M parameters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Neural speech quality versus latency</a:t>
                      </a:r>
                    </a:p>
                  </a:txBody>
                  <a:tcPr marL="76200" marR="95250" marT="114300" marB="76200" anchor="ctr">
                    <a:solidFill>
                      <a:srgbClr val="FFFFFF"/>
                    </a:solidFill>
                  </a:tcPr>
                </a:tc>
              </a:tr>
              <a:tr h="723900">
                <a:tc>
                  <a:txBody>
                    <a:bodyPr>
                      <a:noAutofit/>
                    </a:bodyPr>
                    <a:lstStyle/>
                    <a:p>
                      <a:r>
                        <a:rPr sz="1725" b="0">
                          <a:solidFill>
                            <a:srgbClr val="000000"/>
                          </a:solidFill>
                          <a:latin typeface="Helvetica Neue"/>
                          <a:ea typeface="Helvetica Neue"/>
                          <a:cs typeface="Helvetica Neue"/>
                        </a:rPr>
                        <a:t>SmolVLM</a:t>
                      </a:r>
                    </a:p>
                  </a:txBody>
                  <a:tcPr marL="76200" marR="95250" marT="114300" marB="76200" anchor="ctr">
                    <a:solidFill>
                      <a:srgbClr val="FFFFFF"/>
                    </a:solidFill>
                  </a:tcPr>
                </a:tc>
                <a:tc>
                  <a:txBody>
                    <a:bodyPr>
                      <a:noAutofit/>
                    </a:bodyPr>
                    <a:lstStyle/>
                    <a:p>
                      <a:r>
                        <a:rPr sz="1725" b="1">
                          <a:solidFill>
                            <a:srgbClr val="000000"/>
                          </a:solidFill>
                          <a:latin typeface="Helvetica Neue"/>
                          <a:ea typeface="Helvetica Neue"/>
                          <a:cs typeface="Helvetica Neue"/>
                        </a:rPr>
                        <a:t>256M / 500M parameters</a:t>
                      </a:r>
                    </a:p>
                  </a:txBody>
                  <a:tcPr marL="76200" marR="95250" marT="114300" marB="76200" anchor="ctr">
                    <a:solidFill>
                      <a:srgbClr val="FFFFFF"/>
                    </a:solidFill>
                  </a:tcPr>
                </a:tc>
                <a:tc>
                  <a:txBody>
                    <a:bodyPr>
                      <a:noAutofit/>
                    </a:bodyPr>
                    <a:lstStyle/>
                    <a:p>
                      <a:r>
                        <a:rPr sz="1725" b="0">
                          <a:solidFill>
                            <a:srgbClr val="000000"/>
                          </a:solidFill>
                          <a:latin typeface="Helvetica Neue"/>
                          <a:ea typeface="Helvetica Neue"/>
                          <a:cs typeface="Helvetica Neue"/>
                        </a:rPr>
                        <a:t>Single-image questions and descriptions</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F88A0432-BEF2-40DA-A79C-A92EB9DD4A0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43BC6548-9DF1-4742-B4D6-409ECDF944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02F15020-66A7-620A-7B7A-C05C4312DEAE}" type="slidenum">
              <a:rPr sz="900" b="0">
                <a:solidFill>
                  <a:srgbClr val="666666"/>
                </a:solidFill>
                <a:latin typeface="Helvetica Neue"/>
                <a:ea typeface="Helvetica Neue"/>
                <a:cs typeface="Helvetica Neue"/>
              </a:rPr>
              <a:t>27</a:t>
            </a:fld>
            <a:endParaRPr/>
          </a:p>
        </p:txBody>
      </p:sp>
      <p:sp>
        <p:nvSpPr>
          <p:cNvPr id="3" name="Google Shape;533;p58">
            <a:extLst xmlns:a="http://schemas.openxmlformats.org/drawingml/2006/main">
              <a:ext uri="{FF2B5EF4-FFF2-40B4-BE49-F238E27FC236}">
                <a16:creationId xmlns:a16="http://schemas.microsoft.com/office/drawing/2014/main" id="{79EC1599-91ED-4D9C-B6D5-DEC99172C56A}"/>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Sources and implementation references</a:t>
            </a:r>
          </a:p>
        </p:txBody>
      </p:sp>
      <p:sp>
        <p:nvSpPr>
          <p:cNvPr id="4" name="Content Placeholder 15">
            <a:extLst xmlns:a="http://schemas.openxmlformats.org/drawingml/2006/main">
              <a:ext uri="{FF2B5EF4-FFF2-40B4-BE49-F238E27FC236}">
                <a16:creationId xmlns:a16="http://schemas.microsoft.com/office/drawing/2014/main" id="{71CC790C-4972-45DE-8A33-FEF0B2B0CA6D}"/>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Primary documentation and project repositories. Full URLs appear in slide notes.</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3143250"/>
                <a:gridCol w="5810250"/>
                <a:gridCol w="2451068"/>
              </a:tblGrid>
              <a:tr h="400050">
                <a:tc>
                  <a:txBody>
                    <a:bodyPr>
                      <a:noAutofit/>
                    </a:bodyPr>
                    <a:lstStyle/>
                    <a:p>
                      <a:r>
                        <a:rPr sz="1350" b="1">
                          <a:solidFill>
                            <a:srgbClr val="666666"/>
                          </a:solidFill>
                          <a:latin typeface="Helvetica Neue"/>
                          <a:ea typeface="Helvetica Neue"/>
                          <a:cs typeface="Helvetica Neue"/>
                        </a:rPr>
                        <a:t>Source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Reference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Used for</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NVIDIA</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Jetson Nano specifications and JetPack 4 end of life</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Hardware boundary</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ggml-org / llama.cpp</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Build documentation and constrained grammars</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LLM inference</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kreier / llama.cpp-jetson</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Pinned CUDA 10.2 build and Nano experiments</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Community evidence</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ggml-org / whisper.cpp</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Speech-recognition runtime</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Speech input</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k2-fsa / sherpa-onnx</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Nano installation and speech model catalogue</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Audio applications</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2">
            <a:extLst xmlns:a="http://schemas.openxmlformats.org/drawingml/2006/main">
              <a:ext uri="{FF2B5EF4-FFF2-40B4-BE49-F238E27FC236}">
                <a16:creationId xmlns:a16="http://schemas.microsoft.com/office/drawing/2014/main" id="{CAAAC7BD-DB36-4269-ADFC-433392BB5F9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Google Shape;532;p58">
            <a:extLst xmlns:a="http://schemas.openxmlformats.org/drawingml/2006/main">
              <a:ext uri="{FF2B5EF4-FFF2-40B4-BE49-F238E27FC236}">
                <a16:creationId xmlns:a16="http://schemas.microsoft.com/office/drawing/2014/main" id="{F0788910-6984-4F69-A4F8-ED6A1F2A228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900" b="0">
                <a:solidFill>
                  <a:srgbClr val="666666"/>
                </a:solidFill>
                <a:latin typeface="Helvetica Neue"/>
                <a:ea typeface="Helvetica Neue"/>
                <a:cs typeface="Helvetica Neue"/>
              </a:defRPr>
            </a:pPr>
            <a:fld id="{68AD4375-9F50-F53A-6F9F-DD8473067C05}" type="slidenum">
              <a:rPr sz="900" b="0">
                <a:solidFill>
                  <a:srgbClr val="666666"/>
                </a:solidFill>
                <a:latin typeface="Helvetica Neue"/>
                <a:ea typeface="Helvetica Neue"/>
                <a:cs typeface="Helvetica Neue"/>
              </a:rPr>
              <a:t>28</a:t>
            </a:fld>
            <a:endParaRPr/>
          </a:p>
        </p:txBody>
      </p:sp>
      <p:sp>
        <p:nvSpPr>
          <p:cNvPr id="3" name="Google Shape;533;p58">
            <a:extLst xmlns:a="http://schemas.openxmlformats.org/drawingml/2006/main">
              <a:ext uri="{FF2B5EF4-FFF2-40B4-BE49-F238E27FC236}">
                <a16:creationId xmlns:a16="http://schemas.microsoft.com/office/drawing/2014/main" id="{65A49589-16E4-4318-9D3F-985BE8A49F08}"/>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Sources for models and adaptation</a:t>
            </a:r>
          </a:p>
        </p:txBody>
      </p:sp>
      <p:sp>
        <p:nvSpPr>
          <p:cNvPr id="4" name="Content Placeholder 15">
            <a:extLst xmlns:a="http://schemas.openxmlformats.org/drawingml/2006/main">
              <a:ext uri="{FF2B5EF4-FFF2-40B4-BE49-F238E27FC236}">
                <a16:creationId xmlns:a16="http://schemas.microsoft.com/office/drawing/2014/main" id="{A47375FF-58E8-482C-B9A8-A3577F19CBB2}"/>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Primary documentation and project repositories. Full URLs appear in slide notes.</a:t>
            </a:r>
          </a:p>
        </p:txBody>
      </p:sp>
      <p:graphicFrame>
        <p:nvGraphicFramePr>
          <p:cNvPr id="10" name=""/>
          <p:cNvGraphicFramePr/>
          <p:nvPr/>
        </p:nvGraphicFramePr>
        <p:xfrm>
          <a:off xmlns:a="http://schemas.openxmlformats.org/drawingml/2006/main" x="393668" y="2247900"/>
          <a:ext xmlns:a="http://schemas.openxmlformats.org/drawingml/2006/main" cx="11404568" cy="4019550"/>
        </p:xfrm>
        <a:graphic xmlns:a="http://schemas.openxmlformats.org/drawingml/2006/main">
          <a:graphicData uri="http://schemas.openxmlformats.org/drawingml/2006/table">
            <a:tbl>
              <a:tblPr firstRow="0" bandRow="0"/>
              <a:tblGrid>
                <a:gridCol w="3143250"/>
                <a:gridCol w="5810250"/>
                <a:gridCol w="2451068"/>
              </a:tblGrid>
              <a:tr h="400050">
                <a:tc>
                  <a:txBody>
                    <a:bodyPr>
                      <a:noAutofit/>
                    </a:bodyPr>
                    <a:lstStyle/>
                    <a:p>
                      <a:r>
                        <a:rPr sz="1350" b="1">
                          <a:solidFill>
                            <a:srgbClr val="666666"/>
                          </a:solidFill>
                          <a:latin typeface="Helvetica Neue"/>
                          <a:ea typeface="Helvetica Neue"/>
                          <a:cs typeface="Helvetica Neue"/>
                        </a:rPr>
                        <a:t>Source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Reference</a:t>
                      </a:r>
                    </a:p>
                  </a:txBody>
                  <a:tcPr marL="76200" marR="95250" marT="114300" marB="76200" anchor="ctr">
                    <a:solidFill>
                      <a:srgbClr val="FFFFFF"/>
                    </a:solidFill>
                  </a:tcPr>
                </a:tc>
                <a:tc>
                  <a:txBody>
                    <a:bodyPr>
                      <a:noAutofit/>
                    </a:bodyPr>
                    <a:lstStyle/>
                    <a:p>
                      <a:r>
                        <a:rPr sz="1350" b="1">
                          <a:solidFill>
                            <a:srgbClr val="666666"/>
                          </a:solidFill>
                          <a:latin typeface="Helvetica Neue"/>
                          <a:ea typeface="Helvetica Neue"/>
                          <a:cs typeface="Helvetica Neue"/>
                        </a:rPr>
                        <a:t>Used for</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Model publishers</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TinyStories, SmolLM2, Qwen, Gemma, SmolVLM</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Model cards</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sentence-transformers</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all-MiniLM-L6-v2</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Semantic search</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dusty-nv / jetson-inference</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Vision primitives and deployment tutorials</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Camera applications</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Hu et al. / Dettmers et al.</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LoRA and QLoRA papers</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Adaptation methods</a:t>
                      </a:r>
                    </a:p>
                  </a:txBody>
                  <a:tcPr marL="76200" marR="95250" marT="114300" marB="76200" anchor="ctr">
                    <a:solidFill>
                      <a:srgbClr val="FFFFFF"/>
                    </a:solidFill>
                  </a:tcPr>
                </a:tc>
              </a:tr>
              <a:tr h="723900">
                <a:tc>
                  <a:txBody>
                    <a:bodyPr>
                      <a:noAutofit/>
                    </a:bodyPr>
                    <a:lstStyle/>
                    <a:p>
                      <a:r>
                        <a:rPr sz="1650" b="0">
                          <a:solidFill>
                            <a:srgbClr val="000000"/>
                          </a:solidFill>
                          <a:latin typeface="Helvetica Neue"/>
                          <a:ea typeface="Helvetica Neue"/>
                          <a:cs typeface="Helvetica Neue"/>
                        </a:rPr>
                        <a:t>bitsandbytes</a:t>
                      </a:r>
                    </a:p>
                  </a:txBody>
                  <a:tcPr marL="76200" marR="95250" marT="114300" marB="76200" anchor="ctr">
                    <a:solidFill>
                      <a:srgbClr val="FFFFFF"/>
                    </a:solidFill>
                  </a:tcPr>
                </a:tc>
                <a:tc>
                  <a:txBody>
                    <a:bodyPr>
                      <a:noAutofit/>
                    </a:bodyPr>
                    <a:lstStyle/>
                    <a:p>
                      <a:r>
                        <a:rPr sz="1650" b="1">
                          <a:solidFill>
                            <a:srgbClr val="000000"/>
                          </a:solidFill>
                          <a:latin typeface="Helvetica Neue"/>
                          <a:ea typeface="Helvetica Neue"/>
                          <a:cs typeface="Helvetica Neue"/>
                        </a:rPr>
                        <a:t>Current CUDA hardware and software requirements</a:t>
                      </a:r>
                    </a:p>
                  </a:txBody>
                  <a:tcPr marL="76200" marR="95250" marT="114300" marB="76200" anchor="ctr">
                    <a:solidFill>
                      <a:srgbClr val="FFFFFF"/>
                    </a:solidFill>
                  </a:tcPr>
                </a:tc>
                <a:tc>
                  <a:txBody>
                    <a:bodyPr>
                      <a:noAutofit/>
                    </a:bodyPr>
                    <a:lstStyle/>
                    <a:p>
                      <a:r>
                        <a:rPr sz="1650" b="0">
                          <a:solidFill>
                            <a:srgbClr val="000000"/>
                          </a:solidFill>
                          <a:latin typeface="Helvetica Neue"/>
                          <a:ea typeface="Helvetica Neue"/>
                          <a:cs typeface="Helvetica Neue"/>
                        </a:rPr>
                        <a:t>QLoRA boundary</a:t>
                      </a:r>
                    </a:p>
                  </a:txBody>
                  <a:tcPr marL="76200" marR="95250" marT="114300" marB="76200" anchor="ctr">
                    <a:solidFill>
                      <a:srgbClr val="FFFFFF"/>
                    </a:solidFill>
                  </a:tcPr>
                </a:tc>
              </a:tr>
            </a:tbl>
          </a:graphicData>
        </a:graphic>
      </p:graphicFrame>
    </p:spTree>
    <p:extLst>
      <p:ext uri="{BB962C8B-B14F-4D97-AF65-F5344CB8AC3E}">
        <p14:creationId xmlns:p14="http://schemas.microsoft.com/office/powerpoint/2010/main" val="10027"/>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2026-09-09T13:19:14.0410000Z</dcterms:created>
  <dcterms:modified xsi:type="dcterms:W3CDTF">2026-09-09T13:19:14.0410000Z</dcterms:modified>
</coreProperties>
</file>