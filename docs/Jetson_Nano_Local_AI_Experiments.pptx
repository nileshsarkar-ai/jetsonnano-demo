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7358444e154290" /><Relationship Type="http://schemas.openxmlformats.org/officeDocument/2006/relationships/extended-properties" Target="/docProps/app.xml" Id="R97aef661b3b74f3f" /><Relationship Type="http://schemas.openxmlformats.org/officeDocument/2006/relationships/officeDocument" Target="/ppt/presentation.xml" Id="R40f4ef1441d44a07" /></Relationships>
</file>

<file path=ppt/presentation.xml><?xml version="1.0" encoding="utf-8"?>
<p:presentation xmlns:p="http://schemas.openxmlformats.org/presentationml/2006/main">
  <p:sldMasterIdLst>
    <p:sldMasterId xmlns:r="http://schemas.openxmlformats.org/officeDocument/2006/relationships" id="2147483648" r:id="R34fb2aa7261d4c4b"/>
  </p:sldMasterIdLst>
  <p:notesMasterIdLst>
    <p:notesMasterId xmlns:r="http://schemas.openxmlformats.org/officeDocument/2006/relationships" r:id="R00e48b11a0ed4e0e"/>
  </p:notesMasterIdLst>
  <p:sldIdLst>
    <p:sldId xmlns:r="http://schemas.openxmlformats.org/officeDocument/2006/relationships" id="256" r:id="R7a16c796209f4805"/>
    <p:sldId xmlns:r="http://schemas.openxmlformats.org/officeDocument/2006/relationships" id="257" r:id="Rca4c68bceb9e42f8"/>
    <p:sldId xmlns:r="http://schemas.openxmlformats.org/officeDocument/2006/relationships" id="258" r:id="R0cb36b49d0954811"/>
    <p:sldId xmlns:r="http://schemas.openxmlformats.org/officeDocument/2006/relationships" id="259" r:id="Rf1c163d1d6114913"/>
    <p:sldId xmlns:r="http://schemas.openxmlformats.org/officeDocument/2006/relationships" id="260" r:id="R99cdb1abe69e47ed"/>
    <p:sldId xmlns:r="http://schemas.openxmlformats.org/officeDocument/2006/relationships" id="261" r:id="Rdcbbe0b040984d5f"/>
    <p:sldId xmlns:r="http://schemas.openxmlformats.org/officeDocument/2006/relationships" id="262" r:id="R75dcefaa57424e8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2571674d874dca" /><Relationship Type="http://schemas.openxmlformats.org/officeDocument/2006/relationships/slideMaster" Target="/ppt/slideMasters/slideMaster1.xml" Id="R34fb2aa7261d4c4b" /><Relationship Type="http://schemas.openxmlformats.org/officeDocument/2006/relationships/notesMaster" Target="/ppt/notesMasters/notesMaster1.xml" Id="R00e48b11a0ed4e0e" /><Relationship Type="http://schemas.openxmlformats.org/officeDocument/2006/relationships/presProps" Target="/ppt/presProps.xml" Id="Rc24efe890cae4161" /><Relationship Type="http://schemas.openxmlformats.org/officeDocument/2006/relationships/tableStyles" Target="/ppt/tableStyles.xml" Id="Rc9455badce324554" /><Relationship Type="http://schemas.openxmlformats.org/officeDocument/2006/relationships/slide" Target="/ppt/slides/slide1.xml" Id="R7a16c796209f4805" /><Relationship Type="http://schemas.openxmlformats.org/officeDocument/2006/relationships/slide" Target="/ppt/slides/slide2.xml" Id="Rca4c68bceb9e42f8" /><Relationship Type="http://schemas.openxmlformats.org/officeDocument/2006/relationships/slide" Target="/ppt/slides/slide3.xml" Id="R0cb36b49d0954811" /><Relationship Type="http://schemas.openxmlformats.org/officeDocument/2006/relationships/slide" Target="/ppt/slides/slide4.xml" Id="Rf1c163d1d6114913" /><Relationship Type="http://schemas.openxmlformats.org/officeDocument/2006/relationships/slide" Target="/ppt/slides/slide5.xml" Id="R99cdb1abe69e47ed" /><Relationship Type="http://schemas.openxmlformats.org/officeDocument/2006/relationships/slide" Target="/ppt/slides/slide6.xml" Id="Rdcbbe0b040984d5f" /><Relationship Type="http://schemas.openxmlformats.org/officeDocument/2006/relationships/slide" Target="/ppt/slides/slide7.xml" Id="R75dcefaa57424e8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f7270a335449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691995a3034a8d" /><Relationship Type="http://schemas.openxmlformats.org/officeDocument/2006/relationships/notesMaster" Target="/ppt/notesMasters/notesMaster1.xml" Id="R1a987807f464433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206c90cdae455b" /><Relationship Type="http://schemas.openxmlformats.org/officeDocument/2006/relationships/notesMaster" Target="/ppt/notesMasters/notesMaster1.xml" Id="Rad83720ad5484d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7dbec510ef4414" /><Relationship Type="http://schemas.openxmlformats.org/officeDocument/2006/relationships/notesMaster" Target="/ppt/notesMasters/notesMaster1.xml" Id="Rc662e601750a43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85579086ed440a" /><Relationship Type="http://schemas.openxmlformats.org/officeDocument/2006/relationships/notesMaster" Target="/ppt/notesMasters/notesMaster1.xml" Id="Rc031d485d3334b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f0910c11b84657" /><Relationship Type="http://schemas.openxmlformats.org/officeDocument/2006/relationships/notesMaster" Target="/ppt/notesMasters/notesMaster1.xml" Id="R44dde973a40a43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63109e5a76c4704" /><Relationship Type="http://schemas.openxmlformats.org/officeDocument/2006/relationships/notesMaster" Target="/ppt/notesMasters/notesMaster1.xml" Id="R93b9a293388048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f21cb6f73e40b6" /><Relationship Type="http://schemas.openxmlformats.org/officeDocument/2006/relationships/notesMaster" Target="/ppt/notesMasters/notesMaster1.xml" Id="Rf1cbe74e004847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Board configuration supplied by the user: L4T R32.7.6, CUDA 10.2, Python 3.11.3 and system Python 3.6.9. Camera bindings may use system Python. Image source: https://www.nvidia.com/en-us/autonomous-machines/embedded-systems/jetson-nano/product-development/ . Product reference photograph, not a photo of the user’s 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AI-generated illustrative scene, not a camera capture or measured detection result. Detection labels and bounding boxes come from labs/vision.py during live execution. Ask students which objects remain detectable after rotation or partial occlusion; no accuracy outcome is predetermined.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labs/camera_tasks.py and CompactMenu in scripts/demo_menu.py. Quest targets come from a constrained COCO-label list. Code validates generated plans and scores detector observations. At most three scans. Detector and LLM run sequentially. This is a detector-plus-language-model application, not a trained vision-language-action robot policy. Physical Nano execution still needs rehearsal.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98da08289f4f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36d6468daa4314" /><Relationship Type="http://schemas.openxmlformats.org/officeDocument/2006/relationships/slideLayout" Target="/ppt/slideLayouts/slideLayout1.xml" Id="R5c99be58d48f41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99be58d48f41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d1c3a5d2b68495e" /><Relationship Type="http://schemas.openxmlformats.org/officeDocument/2006/relationships/image" Target="/ppt/media/image.jpeg" Id="R53b2c0b5b09f42ed" /><Relationship Type="http://schemas.openxmlformats.org/officeDocument/2006/relationships/notesSlide" Target="/ppt/notesSlides/notesSlide1.xml" Id="R55e2b9c41baa41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4e2817374e340a5" /><Relationship Type="http://schemas.openxmlformats.org/officeDocument/2006/relationships/notesSlide" Target="/ppt/notesSlides/notesSlide2.xml" Id="Rdb8df536cbbc49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c8503f9e96f49fc" /><Relationship Type="http://schemas.openxmlformats.org/officeDocument/2006/relationships/notesSlide" Target="/ppt/notesSlides/notesSlide3.xml" Id="R375abf08c1814e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56e3fa0418748a3" /><Relationship Type="http://schemas.openxmlformats.org/officeDocument/2006/relationships/image" Target="/ppt/media/image.png" Id="R73094318d98b4e52" /><Relationship Type="http://schemas.openxmlformats.org/officeDocument/2006/relationships/notesSlide" Target="/ppt/notesSlides/notesSlide4.xml" Id="R623f614cb64c473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ef12045f73d44ab" /><Relationship Type="http://schemas.openxmlformats.org/officeDocument/2006/relationships/notesSlide" Target="/ppt/notesSlides/notesSlide5.xml" Id="R0b9163fc88144da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5e38b5826974818" /><Relationship Type="http://schemas.openxmlformats.org/officeDocument/2006/relationships/notesSlide" Target="/ppt/notesSlides/notesSlide6.xml" Id="R1e49a773bb1a43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d6ca6f99933429f" /><Relationship Type="http://schemas.openxmlformats.org/officeDocument/2006/relationships/notesSlide" Target="/ppt/notesSlides/notesSlide7.xml" Id="R62718dd677034d1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B8204A1-FE74-4696-878B-B0C090E04798}"/>
              </a:ext>
            </a:extLst>
          </p:cNvPr>
          <p:cNvSpPr>
            <a:spLocks xmlns:a="http://schemas.openxmlformats.org/drawingml/2006/main" noGrp="1"/>
          </p:cNvSpPr>
          <p:nvPr/>
        </p:nvSpPr>
        <p:spPr>
          <a:xfrm xmlns:a="http://schemas.openxmlformats.org/drawingml/2006/main">
            <a:off x="666750" y="1809750"/>
            <a:ext cx="619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19332A"/>
                </a:solidFill>
                <a:latin typeface="Arial"/>
                <a:ea typeface="Arial"/>
                <a:cs typeface="Arial"/>
              </a:defRPr>
            </a:pPr>
            <a:r>
              <a:rPr sz="4950" b="1">
                <a:solidFill>
                  <a:srgbClr val="19332A"/>
                </a:solidFill>
                <a:latin typeface="Arial"/>
                <a:ea typeface="Arial"/>
                <a:cs typeface="Arial"/>
              </a:rPr>
              <a:t>Local AI on</a:t>
            </a:r>
          </a:p>
          <a:p xmlns:a="http://schemas.openxmlformats.org/drawingml/2006/main">
            <a:pPr>
              <a:defRPr sz="4950" b="1">
                <a:solidFill>
                  <a:srgbClr val="19332A"/>
                </a:solidFill>
                <a:latin typeface="Arial"/>
                <a:ea typeface="Arial"/>
                <a:cs typeface="Arial"/>
              </a:defRPr>
            </a:pPr>
            <a:r>
              <a:rPr sz="4950" b="1">
                <a:solidFill>
                  <a:srgbClr val="19332A"/>
                </a:solidFill>
                <a:latin typeface="Arial"/>
                <a:ea typeface="Arial"/>
                <a:cs typeface="Arial"/>
              </a:rPr>
              <a:t>Jetson Nano</a:t>
            </a:r>
          </a:p>
        </p:txBody>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53b2c0b5b09f42ed"/>
          <a:stretch xmlns:a="http://schemas.openxmlformats.org/drawingml/2006/main"/>
        </p:blipFill>
        <p:spPr>
          <a:xfrm xmlns:a="http://schemas.openxmlformats.org/drawingml/2006/main">
            <a:off x="6096000" y="1980009"/>
            <a:ext cx="5524500" cy="3107531"/>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888DF4B-7B71-4D75-9BA0-421AAC5913E8}"/>
              </a:ext>
            </a:extLst>
          </p:cNvPr>
          <p:cNvSpPr>
            <a:spLocks xmlns:a="http://schemas.openxmlformats.org/drawingml/2006/main" noGrp="1"/>
          </p:cNvSpPr>
          <p:nvPr/>
        </p:nvSpPr>
        <p:spPr>
          <a:xfrm xmlns:a="http://schemas.openxmlformats.org/drawingml/2006/main">
            <a:off x="733425" y="4229100"/>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Jetson Nano 4GB</a:t>
            </a:r>
          </a:p>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Ubuntu 18.04.6 / JetPack 4</a:t>
            </a:r>
          </a:p>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Python 3.11</a:t>
            </a:r>
          </a:p>
        </p:txBody>
      </p:sp>
    </p:spTree>
    <p:extLst>
      <p:ext uri="{BB962C8B-B14F-4D97-AF65-F5344CB8AC3E}">
        <p14:creationId xmlns:p14="http://schemas.microsoft.com/office/powerpoint/2010/main" val="19763100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526F82A-9CF2-479B-9D20-9767254A04A6}"/>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Setup</a:t>
            </a:r>
          </a:p>
        </p:txBody>
      </p:sp>
      <p:sp>
        <p:nvSpPr>
          <p:cNvPr id="2" name="">
            <a:extLst xmlns:a="http://schemas.openxmlformats.org/drawingml/2006/main">
              <a:ext uri="{FF2B5EF4-FFF2-40B4-BE49-F238E27FC236}">
                <a16:creationId xmlns:a16="http://schemas.microsoft.com/office/drawing/2014/main" id="{4C6967D6-C26D-4298-9996-865850F76995}"/>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Run in a terminal on the Nano.</a:t>
            </a:r>
          </a:p>
        </p:txBody>
      </p:sp>
      <p:sp>
        <p:nvSpPr>
          <p:cNvPr id="3" name="">
            <a:extLst xmlns:a="http://schemas.openxmlformats.org/drawingml/2006/main">
              <a:ext uri="{FF2B5EF4-FFF2-40B4-BE49-F238E27FC236}">
                <a16:creationId xmlns:a16="http://schemas.microsoft.com/office/drawing/2014/main" id="{F0490142-68B9-46FC-95DB-D31EF10791B8}"/>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2C02CAB8-1338-46F7-8684-0337FBEACADE}"/>
              </a:ext>
            </a:extLst>
          </p:cNvPr>
          <p:cNvSpPr>
            <a:spLocks xmlns:a="http://schemas.openxmlformats.org/drawingml/2006/main" noGrp="1"/>
          </p:cNvSpPr>
          <p:nvPr/>
        </p:nvSpPr>
        <p:spPr>
          <a:xfrm xmlns:a="http://schemas.openxmlformats.org/drawingml/2006/main">
            <a:off x="723900" y="22383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9332A"/>
                </a:solidFill>
                <a:latin typeface="Courier New"/>
                <a:ea typeface="Courier New"/>
                <a:cs typeface="Courier New"/>
              </a:defRPr>
            </a:pPr>
            <a:r>
              <a:rPr sz="1800" b="0">
                <a:solidFill>
                  <a:srgbClr val="19332A"/>
                </a:solidFill>
                <a:latin typeface="Courier New"/>
                <a:ea typeface="Courier New"/>
                <a:cs typeface="Courier New"/>
              </a:rPr>
              <a:t>git clone https://github.com/nileshsarkar-ai/JetsonNano-Demo.git</a:t>
            </a:r>
          </a:p>
        </p:txBody>
      </p:sp>
      <p:sp>
        <p:nvSpPr>
          <p:cNvPr id="5" name="">
            <a:extLst xmlns:a="http://schemas.openxmlformats.org/drawingml/2006/main">
              <a:ext uri="{FF2B5EF4-FFF2-40B4-BE49-F238E27FC236}">
                <a16:creationId xmlns:a16="http://schemas.microsoft.com/office/drawing/2014/main" id="{FF9FEEEB-27A6-4C01-9C93-A87649A5FC45}"/>
              </a:ext>
            </a:extLst>
          </p:cNvPr>
          <p:cNvSpPr>
            <a:spLocks xmlns:a="http://schemas.openxmlformats.org/drawingml/2006/main" noGrp="1"/>
          </p:cNvSpPr>
          <p:nvPr/>
        </p:nvSpPr>
        <p:spPr>
          <a:xfrm xmlns:a="http://schemas.openxmlformats.org/drawingml/2006/main">
            <a:off x="723900" y="282892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cd JetsonNano-Demo</a:t>
            </a:r>
          </a:p>
        </p:txBody>
      </p:sp>
      <p:sp>
        <p:nvSpPr>
          <p:cNvPr id="6" name="">
            <a:extLst xmlns:a="http://schemas.openxmlformats.org/drawingml/2006/main">
              <a:ext uri="{FF2B5EF4-FFF2-40B4-BE49-F238E27FC236}">
                <a16:creationId xmlns:a16="http://schemas.microsoft.com/office/drawing/2014/main" id="{5B1AB6CA-DCD4-4BCD-8219-0B0B72EC5F9A}"/>
              </a:ext>
            </a:extLst>
          </p:cNvPr>
          <p:cNvSpPr>
            <a:spLocks xmlns:a="http://schemas.openxmlformats.org/drawingml/2006/main" noGrp="1"/>
          </p:cNvSpPr>
          <p:nvPr/>
        </p:nvSpPr>
        <p:spPr>
          <a:xfrm xmlns:a="http://schemas.openxmlformats.org/drawingml/2006/main">
            <a:off x="723900" y="34194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bash scripts/run_demo.sh --storage</a:t>
            </a:r>
          </a:p>
        </p:txBody>
      </p:sp>
      <p:sp>
        <p:nvSpPr>
          <p:cNvPr id="7" name="">
            <a:extLst xmlns:a="http://schemas.openxmlformats.org/drawingml/2006/main">
              <a:ext uri="{FF2B5EF4-FFF2-40B4-BE49-F238E27FC236}">
                <a16:creationId xmlns:a16="http://schemas.microsoft.com/office/drawing/2014/main" id="{55087962-96EB-4253-90AF-2D1F83235EAA}"/>
              </a:ext>
            </a:extLst>
          </p:cNvPr>
          <p:cNvSpPr>
            <a:spLocks xmlns:a="http://schemas.openxmlformats.org/drawingml/2006/main" noGrp="1"/>
          </p:cNvSpPr>
          <p:nvPr/>
        </p:nvSpPr>
        <p:spPr>
          <a:xfrm xmlns:a="http://schemas.openxmlformats.org/drawingml/2006/main">
            <a:off x="723900" y="401002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bash scripts/run_demo.sh --check</a:t>
            </a:r>
          </a:p>
        </p:txBody>
      </p:sp>
      <p:sp>
        <p:nvSpPr>
          <p:cNvPr id="8" name="">
            <a:extLst xmlns:a="http://schemas.openxmlformats.org/drawingml/2006/main">
              <a:ext uri="{FF2B5EF4-FFF2-40B4-BE49-F238E27FC236}">
                <a16:creationId xmlns:a16="http://schemas.microsoft.com/office/drawing/2014/main" id="{D25A62AD-8526-42D2-B249-A30A278A6E29}"/>
              </a:ext>
            </a:extLst>
          </p:cNvPr>
          <p:cNvSpPr>
            <a:spLocks xmlns:a="http://schemas.openxmlformats.org/drawingml/2006/main" noGrp="1"/>
          </p:cNvSpPr>
          <p:nvPr/>
        </p:nvSpPr>
        <p:spPr>
          <a:xfrm xmlns:a="http://schemas.openxmlformats.org/drawingml/2006/main">
            <a:off x="723900" y="46005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bash scripts/run_demo.sh --setup-only</a:t>
            </a:r>
          </a:p>
        </p:txBody>
      </p:sp>
      <p:sp>
        <p:nvSpPr>
          <p:cNvPr id="9" name="">
            <a:extLst xmlns:a="http://schemas.openxmlformats.org/drawingml/2006/main">
              <a:ext uri="{FF2B5EF4-FFF2-40B4-BE49-F238E27FC236}">
                <a16:creationId xmlns:a16="http://schemas.microsoft.com/office/drawing/2014/main" id="{2CEB3730-2229-4721-AF29-6BD9C4139975}"/>
              </a:ext>
            </a:extLst>
          </p:cNvPr>
          <p:cNvSpPr>
            <a:spLocks xmlns:a="http://schemas.openxmlformats.org/drawingml/2006/main" noGrp="1"/>
          </p:cNvSpPr>
          <p:nvPr/>
        </p:nvSpPr>
        <p:spPr>
          <a:xfrm xmlns:a="http://schemas.openxmlformats.org/drawingml/2006/main">
            <a:off x="723900" y="519112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397718"/>
                </a:solidFill>
                <a:latin typeface="Courier New"/>
                <a:ea typeface="Courier New"/>
                <a:cs typeface="Courier New"/>
              </a:defRPr>
            </a:pPr>
            <a:r>
              <a:rPr sz="2100" b="1">
                <a:solidFill>
                  <a:srgbClr val="397718"/>
                </a:solidFill>
                <a:latin typeface="Courier New"/>
                <a:ea typeface="Courier New"/>
                <a:cs typeface="Courier New"/>
              </a:rPr>
              <a:t>bash scripts/run_demo.sh</a:t>
            </a:r>
          </a:p>
        </p:txBody>
      </p:sp>
    </p:spTree>
    <p:extLst>
      <p:ext uri="{BB962C8B-B14F-4D97-AF65-F5344CB8AC3E}">
        <p14:creationId xmlns:p14="http://schemas.microsoft.com/office/powerpoint/2010/main" val="67571320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5109A8-B186-4379-91EB-0DCCE5A00047}"/>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Text Conversation</a:t>
            </a:r>
          </a:p>
        </p:txBody>
      </p:sp>
      <p:sp>
        <p:nvSpPr>
          <p:cNvPr id="2" name="">
            <a:extLst xmlns:a="http://schemas.openxmlformats.org/drawingml/2006/main">
              <a:ext uri="{FF2B5EF4-FFF2-40B4-BE49-F238E27FC236}">
                <a16:creationId xmlns:a16="http://schemas.microsoft.com/office/drawing/2014/main" id="{4C0AB812-B979-4C3F-BE82-D6BE3284D54D}"/>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Menu 3</a:t>
            </a:r>
          </a:p>
        </p:txBody>
      </p:sp>
      <p:sp>
        <p:nvSpPr>
          <p:cNvPr id="3" name="">
            <a:extLst xmlns:a="http://schemas.openxmlformats.org/drawingml/2006/main">
              <a:ext uri="{FF2B5EF4-FFF2-40B4-BE49-F238E27FC236}">
                <a16:creationId xmlns:a16="http://schemas.microsoft.com/office/drawing/2014/main" id="{5BCC955D-43D2-43A3-A612-9CB63F1E9290}"/>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63E9FEB-50BA-4756-9596-F1BD1644D5D2}"/>
              </a:ext>
            </a:extLst>
          </p:cNvPr>
          <p:cNvSpPr>
            <a:spLocks xmlns:a="http://schemas.openxmlformats.org/drawingml/2006/main" noGrp="1"/>
          </p:cNvSpPr>
          <p:nvPr/>
        </p:nvSpPr>
        <p:spPr>
          <a:xfrm xmlns:a="http://schemas.openxmlformats.org/drawingml/2006/main">
            <a:off x="742950" y="2143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19332A"/>
                </a:solidFill>
                <a:latin typeface="Arial"/>
                <a:ea typeface="Arial"/>
                <a:cs typeface="Arial"/>
              </a:defRPr>
            </a:pPr>
            <a:r>
              <a:rPr sz="3675" b="1">
                <a:solidFill>
                  <a:srgbClr val="19332A"/>
                </a:solidFill>
                <a:latin typeface="Arial"/>
                <a:ea typeface="Arial"/>
                <a:cs typeface="Arial"/>
              </a:rPr>
              <a:t>“Why does a steel ship float?”</a:t>
            </a:r>
          </a:p>
        </p:txBody>
      </p:sp>
      <p:sp>
        <p:nvSpPr>
          <p:cNvPr id="5" name="">
            <a:extLst xmlns:a="http://schemas.openxmlformats.org/drawingml/2006/main">
              <a:ext uri="{FF2B5EF4-FFF2-40B4-BE49-F238E27FC236}">
                <a16:creationId xmlns:a16="http://schemas.microsoft.com/office/drawing/2014/main" id="{3D5F2A43-0956-4263-ABA0-AF7551D7041D}"/>
              </a:ext>
            </a:extLst>
          </p:cNvPr>
          <p:cNvSpPr>
            <a:spLocks xmlns:a="http://schemas.openxmlformats.org/drawingml/2006/main" noGrp="1"/>
          </p:cNvSpPr>
          <p:nvPr/>
        </p:nvSpPr>
        <p:spPr>
          <a:xfrm xmlns:a="http://schemas.openxmlformats.org/drawingml/2006/main">
            <a:off x="762000" y="3524250"/>
            <a:ext cx="1009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397718"/>
                </a:solidFill>
                <a:latin typeface="Arial"/>
                <a:ea typeface="Arial"/>
                <a:cs typeface="Arial"/>
              </a:defRPr>
            </a:pPr>
            <a:r>
              <a:rPr sz="1800" b="1">
                <a:solidFill>
                  <a:srgbClr val="397718"/>
                </a:solidFill>
                <a:latin typeface="Arial"/>
                <a:ea typeface="Arial"/>
                <a:cs typeface="Arial"/>
              </a:rPr>
              <a:t>Follow-up prompts</a:t>
            </a:r>
          </a:p>
        </p:txBody>
      </p:sp>
      <p:sp>
        <p:nvSpPr>
          <p:cNvPr id="6" name="">
            <a:extLst xmlns:a="http://schemas.openxmlformats.org/drawingml/2006/main">
              <a:ext uri="{FF2B5EF4-FFF2-40B4-BE49-F238E27FC236}">
                <a16:creationId xmlns:a16="http://schemas.microsoft.com/office/drawing/2014/main" id="{DC7DF2E9-2157-4980-A853-2E47DB704AA3}"/>
              </a:ext>
            </a:extLst>
          </p:cNvPr>
          <p:cNvSpPr>
            <a:spLocks xmlns:a="http://schemas.openxmlformats.org/drawingml/2006/main" noGrp="1"/>
          </p:cNvSpPr>
          <p:nvPr/>
        </p:nvSpPr>
        <p:spPr>
          <a:xfrm xmlns:a="http://schemas.openxmlformats.org/drawingml/2006/main">
            <a:off x="762000" y="4048125"/>
            <a:ext cx="10382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9332A"/>
                </a:solidFill>
                <a:latin typeface="Arial"/>
                <a:ea typeface="Arial"/>
                <a:cs typeface="Arial"/>
              </a:defRPr>
            </a:pPr>
            <a:r>
              <a:rPr sz="2550" b="0">
                <a:solidFill>
                  <a:srgbClr val="19332A"/>
                </a:solidFill>
                <a:latin typeface="Arial"/>
                <a:ea typeface="Arial"/>
                <a:cs typeface="Arial"/>
              </a:rPr>
              <a:t>“Explain it using an everyday analogy.”</a:t>
            </a:r>
          </a:p>
          <a:p xmlns:a="http://schemas.openxmlformats.org/drawingml/2006/main">
            <a:pPr>
              <a:defRPr sz="2550" b="0">
                <a:solidFill>
                  <a:srgbClr val="19332A"/>
                </a:solidFill>
                <a:latin typeface="Arial"/>
                <a:ea typeface="Arial"/>
                <a:cs typeface="Arial"/>
              </a:defRPr>
            </a:pPr>
            <a:r>
              <a:rPr sz="2550" b="0">
                <a:solidFill>
                  <a:srgbClr val="19332A"/>
                </a:solidFill>
                <a:latin typeface="Arial"/>
                <a:ea typeface="Arial"/>
                <a:cs typeface="Arial"/>
              </a:rPr>
              <a:t>“Now explain it in two sentences.”</a:t>
            </a:r>
          </a:p>
        </p:txBody>
      </p:sp>
      <p:sp>
        <p:nvSpPr>
          <p:cNvPr id="7" name="">
            <a:extLst xmlns:a="http://schemas.openxmlformats.org/drawingml/2006/main">
              <a:ext uri="{FF2B5EF4-FFF2-40B4-BE49-F238E27FC236}">
                <a16:creationId xmlns:a16="http://schemas.microsoft.com/office/drawing/2014/main" id="{F4380419-D6F6-4756-879B-85801640862D}"/>
              </a:ext>
            </a:extLst>
          </p:cNvPr>
          <p:cNvSpPr>
            <a:spLocks xmlns:a="http://schemas.openxmlformats.org/drawingml/2006/main" noGrp="1"/>
          </p:cNvSpPr>
          <p:nvPr/>
        </p:nvSpPr>
        <p:spPr>
          <a:xfrm xmlns:a="http://schemas.openxmlformats.org/drawingml/2006/main">
            <a:off x="762000" y="5486400"/>
            <a:ext cx="1038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35B"/>
                </a:solidFill>
                <a:latin typeface="Arial"/>
                <a:ea typeface="Arial"/>
                <a:cs typeface="Arial"/>
              </a:defRPr>
            </a:pPr>
            <a:r>
              <a:rPr sz="1875" b="0">
                <a:solidFill>
                  <a:srgbClr val="52635B"/>
                </a:solidFill>
                <a:latin typeface="Arial"/>
                <a:ea typeface="Arial"/>
                <a:cs typeface="Arial"/>
              </a:rPr>
              <a:t>SmolLM2-360M Instruct uses the preceding conversation.</a:t>
            </a:r>
          </a:p>
        </p:txBody>
      </p:sp>
      <p:sp>
        <p:nvSpPr>
          <p:cNvPr id="8" name="">
            <a:extLst xmlns:a="http://schemas.openxmlformats.org/drawingml/2006/main">
              <a:ext uri="{FF2B5EF4-FFF2-40B4-BE49-F238E27FC236}">
                <a16:creationId xmlns:a16="http://schemas.microsoft.com/office/drawing/2014/main" id="{30564BD5-2C75-4930-ABF9-A95AAD1481FC}"/>
              </a:ext>
            </a:extLst>
          </p:cNvPr>
          <p:cNvSpPr>
            <a:spLocks xmlns:a="http://schemas.openxmlformats.org/drawingml/2006/main" noGrp="1"/>
          </p:cNvSpPr>
          <p:nvPr/>
        </p:nvSpPr>
        <p:spPr>
          <a:xfrm xmlns:a="http://schemas.openxmlformats.org/drawingml/2006/main">
            <a:off x="762000" y="5972175"/>
            <a:ext cx="1038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35B"/>
                </a:solidFill>
                <a:latin typeface="Arial"/>
                <a:ea typeface="Arial"/>
                <a:cs typeface="Arial"/>
              </a:defRPr>
            </a:pPr>
            <a:r>
              <a:rPr sz="1725" b="0">
                <a:solidFill>
                  <a:srgbClr val="52635B"/>
                </a:solidFill>
                <a:latin typeface="Arial"/>
                <a:ea typeface="Arial"/>
                <a:cs typeface="Arial"/>
              </a:rPr>
              <a:t>/reset clears history.  /quit returns to the menu.</a:t>
            </a:r>
          </a:p>
        </p:txBody>
      </p:sp>
    </p:spTree>
    <p:extLst>
      <p:ext uri="{BB962C8B-B14F-4D97-AF65-F5344CB8AC3E}">
        <p14:creationId xmlns:p14="http://schemas.microsoft.com/office/powerpoint/2010/main" val="8777044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118851-3213-492A-8416-31C17F78B841}"/>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Camera Object Detection</a:t>
            </a:r>
          </a:p>
        </p:txBody>
      </p:sp>
      <p:sp>
        <p:nvSpPr>
          <p:cNvPr id="2" name="">
            <a:extLst xmlns:a="http://schemas.openxmlformats.org/drawingml/2006/main">
              <a:ext uri="{FF2B5EF4-FFF2-40B4-BE49-F238E27FC236}">
                <a16:creationId xmlns:a16="http://schemas.microsoft.com/office/drawing/2014/main" id="{6EEB9B80-2B2C-4A3F-B2E6-43DAA89DE53E}"/>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Menu 4</a:t>
            </a:r>
          </a:p>
        </p:txBody>
      </p:sp>
      <p:sp>
        <p:nvSpPr>
          <p:cNvPr id="3" name="">
            <a:extLst xmlns:a="http://schemas.openxmlformats.org/drawingml/2006/main">
              <a:ext uri="{FF2B5EF4-FFF2-40B4-BE49-F238E27FC236}">
                <a16:creationId xmlns:a16="http://schemas.microsoft.com/office/drawing/2014/main" id="{38453BDC-CDE5-4AED-A5A9-49DA3D0E8FA1}"/>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6304F513-C78A-4091-9717-DEDBD1638DB6}"/>
              </a:ext>
            </a:extLst>
          </p:cNvPr>
          <p:cNvSpPr>
            <a:spLocks xmlns:a="http://schemas.openxmlformats.org/drawingml/2006/main" noGrp="1"/>
          </p:cNvSpPr>
          <p:nvPr/>
        </p:nvSpPr>
        <p:spPr>
          <a:xfrm xmlns:a="http://schemas.openxmlformats.org/drawingml/2006/main">
            <a:off x="714375" y="2190750"/>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9332A"/>
                </a:solidFill>
                <a:latin typeface="Arial"/>
                <a:ea typeface="Arial"/>
                <a:cs typeface="Arial"/>
              </a:defRPr>
            </a:pPr>
            <a:r>
              <a:rPr sz="2550" b="1">
                <a:solidFill>
                  <a:srgbClr val="19332A"/>
                </a:solidFill>
                <a:latin typeface="Arial"/>
                <a:ea typeface="Arial"/>
                <a:cs typeface="Arial"/>
              </a:rPr>
              <a:t>SSD-Mobilenet-v2</a:t>
            </a:r>
          </a:p>
        </p:txBody>
      </p:sp>
      <p:sp>
        <p:nvSpPr>
          <p:cNvPr id="5" name="">
            <a:extLst xmlns:a="http://schemas.openxmlformats.org/drawingml/2006/main">
              <a:ext uri="{FF2B5EF4-FFF2-40B4-BE49-F238E27FC236}">
                <a16:creationId xmlns:a16="http://schemas.microsoft.com/office/drawing/2014/main" id="{1174FE26-A9FF-44DB-A59D-DC48E7D4CB6E}"/>
              </a:ext>
            </a:extLst>
          </p:cNvPr>
          <p:cNvSpPr>
            <a:spLocks xmlns:a="http://schemas.openxmlformats.org/drawingml/2006/main" noGrp="1"/>
          </p:cNvSpPr>
          <p:nvPr/>
        </p:nvSpPr>
        <p:spPr>
          <a:xfrm xmlns:a="http://schemas.openxmlformats.org/drawingml/2006/main">
            <a:off x="742950" y="3124200"/>
            <a:ext cx="4667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52635B"/>
                </a:solidFill>
                <a:latin typeface="Arial"/>
                <a:ea typeface="Arial"/>
                <a:cs typeface="Arial"/>
              </a:defRPr>
            </a:pPr>
            <a:r>
              <a:rPr sz="2325" b="0">
                <a:solidFill>
                  <a:srgbClr val="52635B"/>
                </a:solidFill>
                <a:latin typeface="Arial"/>
                <a:ea typeface="Arial"/>
                <a:cs typeface="Arial"/>
              </a:rPr>
              <a:t>Place everyday objects</a:t>
            </a:r>
          </a:p>
          <a:p xmlns:a="http://schemas.openxmlformats.org/drawingml/2006/main">
            <a:pPr>
              <a:defRPr sz="2325" b="0">
                <a:solidFill>
                  <a:srgbClr val="52635B"/>
                </a:solidFill>
                <a:latin typeface="Arial"/>
                <a:ea typeface="Arial"/>
                <a:cs typeface="Arial"/>
              </a:defRPr>
            </a:pPr>
            <a:r>
              <a:rPr sz="2325" b="0">
                <a:solidFill>
                  <a:srgbClr val="52635B"/>
                </a:solidFill>
                <a:latin typeface="Arial"/>
                <a:ea typeface="Arial"/>
                <a:cs typeface="Arial"/>
              </a:rPr>
              <a:t>in the camera’s view.</a:t>
            </a:r>
          </a:p>
        </p:txBody>
      </p:sp>
      <p:sp>
        <p:nvSpPr>
          <p:cNvPr id="6" name="">
            <a:extLst xmlns:a="http://schemas.openxmlformats.org/drawingml/2006/main">
              <a:ext uri="{FF2B5EF4-FFF2-40B4-BE49-F238E27FC236}">
                <a16:creationId xmlns:a16="http://schemas.microsoft.com/office/drawing/2014/main" id="{575CCBE0-3033-439B-8EF6-3E4343F55DDE}"/>
              </a:ext>
            </a:extLst>
          </p:cNvPr>
          <p:cNvSpPr>
            <a:spLocks xmlns:a="http://schemas.openxmlformats.org/drawingml/2006/main" noGrp="1"/>
          </p:cNvSpPr>
          <p:nvPr/>
        </p:nvSpPr>
        <p:spPr>
          <a:xfrm xmlns:a="http://schemas.openxmlformats.org/drawingml/2006/main">
            <a:off x="742950" y="4467225"/>
            <a:ext cx="4667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332A"/>
                </a:solidFill>
                <a:latin typeface="Arial"/>
                <a:ea typeface="Arial"/>
                <a:cs typeface="Arial"/>
              </a:defRPr>
            </a:pPr>
            <a:r>
              <a:rPr sz="2250" b="0">
                <a:solidFill>
                  <a:srgbClr val="19332A"/>
                </a:solidFill>
                <a:latin typeface="Arial"/>
                <a:ea typeface="Arial"/>
                <a:cs typeface="Arial"/>
              </a:rPr>
              <a:t>Move one object.</a:t>
            </a:r>
          </a:p>
          <a:p xmlns:a="http://schemas.openxmlformats.org/drawingml/2006/main">
            <a:pPr>
              <a:defRPr sz="2250" b="0">
                <a:solidFill>
                  <a:srgbClr val="19332A"/>
                </a:solidFill>
                <a:latin typeface="Arial"/>
                <a:ea typeface="Arial"/>
                <a:cs typeface="Arial"/>
              </a:defRPr>
            </a:pPr>
            <a:r>
              <a:rPr sz="2250" b="0">
                <a:solidFill>
                  <a:srgbClr val="19332A"/>
                </a:solidFill>
                <a:latin typeface="Arial"/>
                <a:ea typeface="Arial"/>
                <a:cs typeface="Arial"/>
              </a:rPr>
              <a:t>Turn the book sideways.</a:t>
            </a:r>
          </a:p>
          <a:p xmlns:a="http://schemas.openxmlformats.org/drawingml/2006/main">
            <a:pPr>
              <a:defRPr sz="2250" b="0">
                <a:solidFill>
                  <a:srgbClr val="19332A"/>
                </a:solidFill>
                <a:latin typeface="Arial"/>
                <a:ea typeface="Arial"/>
                <a:cs typeface="Arial"/>
              </a:defRPr>
            </a:pPr>
            <a:r>
              <a:rPr sz="2250" b="0">
                <a:solidFill>
                  <a:srgbClr val="19332A"/>
                </a:solidFill>
                <a:latin typeface="Arial"/>
                <a:ea typeface="Arial"/>
                <a:cs typeface="Arial"/>
              </a:rPr>
              <a:t>Partly hide the cup.</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3094318d98b4e52"/>
          <a:stretch xmlns:a="http://schemas.openxmlformats.org/drawingml/2006/main"/>
        </p:blipFill>
        <p:spPr>
          <a:xfrm xmlns:a="http://schemas.openxmlformats.org/drawingml/2006/main">
            <a:off x="5500688" y="2095500"/>
            <a:ext cx="6143625" cy="40957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26C5B5A-0CCB-4207-917E-465A315814D4}"/>
              </a:ext>
            </a:extLst>
          </p:cNvPr>
          <p:cNvSpPr>
            <a:spLocks xmlns:a="http://schemas.openxmlformats.org/drawingml/2006/main" noGrp="1"/>
          </p:cNvSpPr>
          <p:nvPr/>
        </p:nvSpPr>
        <p:spPr>
          <a:xfrm xmlns:a="http://schemas.openxmlformats.org/drawingml/2006/main">
            <a:off x="7762875" y="6162675"/>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35B"/>
                </a:solidFill>
                <a:latin typeface="Arial"/>
                <a:ea typeface="Arial"/>
                <a:cs typeface="Arial"/>
              </a:defRPr>
            </a:pPr>
            <a:r>
              <a:rPr sz="1425" b="0">
                <a:solidFill>
                  <a:srgbClr val="52635B"/>
                </a:solidFill>
                <a:latin typeface="Arial"/>
                <a:ea typeface="Arial"/>
                <a:cs typeface="Arial"/>
              </a:rPr>
              <a:t>Illustrative scene</a:t>
            </a:r>
          </a:p>
        </p:txBody>
      </p:sp>
    </p:spTree>
    <p:extLst>
      <p:ext uri="{BB962C8B-B14F-4D97-AF65-F5344CB8AC3E}">
        <p14:creationId xmlns:p14="http://schemas.microsoft.com/office/powerpoint/2010/main" val="182556771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72C1F8-979B-453D-83F8-AC8109025A40}"/>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Camera-Guided Object Hunt</a:t>
            </a:r>
          </a:p>
        </p:txBody>
      </p:sp>
      <p:sp>
        <p:nvSpPr>
          <p:cNvPr id="2" name="">
            <a:extLst xmlns:a="http://schemas.openxmlformats.org/drawingml/2006/main">
              <a:ext uri="{FF2B5EF4-FFF2-40B4-BE49-F238E27FC236}">
                <a16:creationId xmlns:a16="http://schemas.microsoft.com/office/drawing/2014/main" id="{E3ED2FC5-C5E7-422A-9381-EABB7D4552D7}"/>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Menu 5</a:t>
            </a:r>
          </a:p>
        </p:txBody>
      </p:sp>
      <p:sp>
        <p:nvSpPr>
          <p:cNvPr id="3" name="">
            <a:extLst xmlns:a="http://schemas.openxmlformats.org/drawingml/2006/main">
              <a:ext uri="{FF2B5EF4-FFF2-40B4-BE49-F238E27FC236}">
                <a16:creationId xmlns:a16="http://schemas.microsoft.com/office/drawing/2014/main" id="{DC3954B1-F31E-472B-B935-F9BADCDEBF58}"/>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79A57515-2A72-4849-BF55-26087EF11690}"/>
              </a:ext>
            </a:extLst>
          </p:cNvPr>
          <p:cNvSpPr>
            <a:spLocks xmlns:a="http://schemas.openxmlformats.org/drawingml/2006/main" noGrp="1"/>
          </p:cNvSpPr>
          <p:nvPr/>
        </p:nvSpPr>
        <p:spPr>
          <a:xfrm xmlns:a="http://schemas.openxmlformats.org/drawingml/2006/main">
            <a:off x="742950" y="2238375"/>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9332A"/>
                </a:solidFill>
                <a:latin typeface="Arial"/>
                <a:ea typeface="Arial"/>
                <a:cs typeface="Arial"/>
              </a:defRPr>
            </a:pPr>
            <a:r>
              <a:rPr sz="2325" b="0">
                <a:solidFill>
                  <a:srgbClr val="19332A"/>
                </a:solidFill>
                <a:latin typeface="Arial"/>
                <a:ea typeface="Arial"/>
                <a:cs typeface="Arial"/>
              </a:rPr>
              <a:t>1   The language model proposes objects to find.</a:t>
            </a:r>
          </a:p>
        </p:txBody>
      </p:sp>
      <p:sp>
        <p:nvSpPr>
          <p:cNvPr id="5" name="">
            <a:extLst xmlns:a="http://schemas.openxmlformats.org/drawingml/2006/main">
              <a:ext uri="{FF2B5EF4-FFF2-40B4-BE49-F238E27FC236}">
                <a16:creationId xmlns:a16="http://schemas.microsoft.com/office/drawing/2014/main" id="{266E8881-10D9-4EB1-AB44-E5389713BAC0}"/>
              </a:ext>
            </a:extLst>
          </p:cNvPr>
          <p:cNvSpPr>
            <a:spLocks xmlns:a="http://schemas.openxmlformats.org/drawingml/2006/main" noGrp="1"/>
          </p:cNvSpPr>
          <p:nvPr/>
        </p:nvSpPr>
        <p:spPr>
          <a:xfrm xmlns:a="http://schemas.openxmlformats.org/drawingml/2006/main">
            <a:off x="742950" y="3381375"/>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9332A"/>
                </a:solidFill>
                <a:latin typeface="Arial"/>
                <a:ea typeface="Arial"/>
                <a:cs typeface="Arial"/>
              </a:defRPr>
            </a:pPr>
            <a:r>
              <a:rPr sz="2325" b="0">
                <a:solidFill>
                  <a:srgbClr val="19332A"/>
                </a:solidFill>
                <a:latin typeface="Arial"/>
                <a:ea typeface="Arial"/>
                <a:cs typeface="Arial"/>
              </a:rPr>
              <a:t>2   Arrange the objects in view and press Enter to scan.</a:t>
            </a:r>
          </a:p>
        </p:txBody>
      </p:sp>
      <p:sp>
        <p:nvSpPr>
          <p:cNvPr id="6" name="">
            <a:extLst xmlns:a="http://schemas.openxmlformats.org/drawingml/2006/main">
              <a:ext uri="{FF2B5EF4-FFF2-40B4-BE49-F238E27FC236}">
                <a16:creationId xmlns:a16="http://schemas.microsoft.com/office/drawing/2014/main" id="{43D78CE4-4746-48EE-8E16-635BB773E516}"/>
              </a:ext>
            </a:extLst>
          </p:cNvPr>
          <p:cNvSpPr>
            <a:spLocks xmlns:a="http://schemas.openxmlformats.org/drawingml/2006/main" noGrp="1"/>
          </p:cNvSpPr>
          <p:nvPr/>
        </p:nvSpPr>
        <p:spPr>
          <a:xfrm xmlns:a="http://schemas.openxmlformats.org/drawingml/2006/main">
            <a:off x="742950" y="4524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9332A"/>
                </a:solidFill>
                <a:latin typeface="Arial"/>
                <a:ea typeface="Arial"/>
                <a:cs typeface="Arial"/>
              </a:defRPr>
            </a:pPr>
            <a:r>
              <a:rPr sz="2325" b="0">
                <a:solidFill>
                  <a:srgbClr val="19332A"/>
                </a:solidFill>
                <a:latin typeface="Arial"/>
                <a:ea typeface="Arial"/>
                <a:cs typeface="Arial"/>
              </a:rPr>
              <a:t>3   Camera detections update the found and remaining lists.</a:t>
            </a:r>
          </a:p>
        </p:txBody>
      </p:sp>
      <p:sp>
        <p:nvSpPr>
          <p:cNvPr id="7" name="">
            <a:extLst xmlns:a="http://schemas.openxmlformats.org/drawingml/2006/main">
              <a:ext uri="{FF2B5EF4-FFF2-40B4-BE49-F238E27FC236}">
                <a16:creationId xmlns:a16="http://schemas.microsoft.com/office/drawing/2014/main" id="{64AD9018-6EC6-439C-AC54-6D91A46DC7A0}"/>
              </a:ext>
            </a:extLst>
          </p:cNvPr>
          <p:cNvSpPr>
            <a:spLocks xmlns:a="http://schemas.openxmlformats.org/drawingml/2006/main" noGrp="1"/>
          </p:cNvSpPr>
          <p:nvPr/>
        </p:nvSpPr>
        <p:spPr>
          <a:xfrm xmlns:a="http://schemas.openxmlformats.org/drawingml/2006/main">
            <a:off x="742950" y="5810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35B"/>
                </a:solidFill>
                <a:latin typeface="Arial"/>
                <a:ea typeface="Arial"/>
                <a:cs typeface="Arial"/>
              </a:defRPr>
            </a:pPr>
            <a:r>
              <a:rPr sz="1800" b="0">
                <a:solidFill>
                  <a:srgbClr val="52635B"/>
                </a:solidFill>
                <a:latin typeface="Arial"/>
                <a:ea typeface="Arial"/>
                <a:cs typeface="Arial"/>
              </a:rPr>
              <a:t>The hunt shares the conversation model and object detector.</a:t>
            </a:r>
          </a:p>
        </p:txBody>
      </p:sp>
    </p:spTree>
    <p:extLst>
      <p:ext uri="{BB962C8B-B14F-4D97-AF65-F5344CB8AC3E}">
        <p14:creationId xmlns:p14="http://schemas.microsoft.com/office/powerpoint/2010/main" val="4234952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7EB73E-4C85-4DBC-9A5D-C4E21F7FF413}"/>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Models and Execution</a:t>
            </a:r>
          </a:p>
        </p:txBody>
      </p:sp>
      <p:sp>
        <p:nvSpPr>
          <p:cNvPr id="2" name="">
            <a:extLst xmlns:a="http://schemas.openxmlformats.org/drawingml/2006/main">
              <a:ext uri="{FF2B5EF4-FFF2-40B4-BE49-F238E27FC236}">
                <a16:creationId xmlns:a16="http://schemas.microsoft.com/office/drawing/2014/main" id="{43A548ED-0E58-4B8D-B05E-AF8862AD9E90}"/>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4F665751-E510-46DA-91DC-4B858BA826BC}"/>
              </a:ext>
            </a:extLst>
          </p:cNvPr>
          <p:cNvSpPr>
            <a:spLocks xmlns:a="http://schemas.openxmlformats.org/drawingml/2006/main" noGrp="1"/>
          </p:cNvSpPr>
          <p:nvPr/>
        </p:nvSpPr>
        <p:spPr>
          <a:xfrm xmlns:a="http://schemas.openxmlformats.org/drawingml/2006/main">
            <a:off x="714375" y="219075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9332A"/>
                </a:solidFill>
                <a:latin typeface="Arial"/>
                <a:ea typeface="Arial"/>
                <a:cs typeface="Arial"/>
              </a:defRPr>
            </a:pPr>
            <a:r>
              <a:rPr sz="2400" b="1">
                <a:solidFill>
                  <a:srgbClr val="19332A"/>
                </a:solidFill>
                <a:latin typeface="Arial"/>
                <a:ea typeface="Arial"/>
                <a:cs typeface="Arial"/>
              </a:rPr>
              <a:t>Text</a:t>
            </a:r>
          </a:p>
        </p:txBody>
      </p:sp>
      <p:sp>
        <p:nvSpPr>
          <p:cNvPr id="4" name="">
            <a:extLst xmlns:a="http://schemas.openxmlformats.org/drawingml/2006/main">
              <a:ext uri="{FF2B5EF4-FFF2-40B4-BE49-F238E27FC236}">
                <a16:creationId xmlns:a16="http://schemas.microsoft.com/office/drawing/2014/main" id="{B3B66B94-2114-44EE-93B9-23B82F98DCC6}"/>
              </a:ext>
            </a:extLst>
          </p:cNvPr>
          <p:cNvSpPr>
            <a:spLocks xmlns:a="http://schemas.openxmlformats.org/drawingml/2006/main" noGrp="1"/>
          </p:cNvSpPr>
          <p:nvPr/>
        </p:nvSpPr>
        <p:spPr>
          <a:xfrm xmlns:a="http://schemas.openxmlformats.org/drawingml/2006/main">
            <a:off x="4000500" y="2190750"/>
            <a:ext cx="704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SmolLM2-360M Q4</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258 MiB model file</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CPU inference</a:t>
            </a:r>
          </a:p>
        </p:txBody>
      </p:sp>
      <p:sp>
        <p:nvSpPr>
          <p:cNvPr id="5" name="">
            <a:extLst xmlns:a="http://schemas.openxmlformats.org/drawingml/2006/main">
              <a:ext uri="{FF2B5EF4-FFF2-40B4-BE49-F238E27FC236}">
                <a16:creationId xmlns:a16="http://schemas.microsoft.com/office/drawing/2014/main" id="{C853A715-EC9F-4A13-A97F-76534F5CA27F}"/>
              </a:ext>
            </a:extLst>
          </p:cNvPr>
          <p:cNvSpPr>
            <a:spLocks xmlns:a="http://schemas.openxmlformats.org/drawingml/2006/main" noGrp="1"/>
          </p:cNvSpPr>
          <p:nvPr/>
        </p:nvSpPr>
        <p:spPr>
          <a:xfrm xmlns:a="http://schemas.openxmlformats.org/drawingml/2006/main">
            <a:off x="714375" y="438150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9332A"/>
                </a:solidFill>
                <a:latin typeface="Arial"/>
                <a:ea typeface="Arial"/>
                <a:cs typeface="Arial"/>
              </a:defRPr>
            </a:pPr>
            <a:r>
              <a:rPr sz="2400" b="1">
                <a:solidFill>
                  <a:srgbClr val="19332A"/>
                </a:solidFill>
                <a:latin typeface="Arial"/>
                <a:ea typeface="Arial"/>
                <a:cs typeface="Arial"/>
              </a:rPr>
              <a:t>Camera</a:t>
            </a:r>
          </a:p>
        </p:txBody>
      </p:sp>
      <p:sp>
        <p:nvSpPr>
          <p:cNvPr id="6" name="">
            <a:extLst xmlns:a="http://schemas.openxmlformats.org/drawingml/2006/main">
              <a:ext uri="{FF2B5EF4-FFF2-40B4-BE49-F238E27FC236}">
                <a16:creationId xmlns:a16="http://schemas.microsoft.com/office/drawing/2014/main" id="{C82C83B5-19D1-4B9F-A417-32A020427752}"/>
              </a:ext>
            </a:extLst>
          </p:cNvPr>
          <p:cNvSpPr>
            <a:spLocks xmlns:a="http://schemas.openxmlformats.org/drawingml/2006/main" noGrp="1"/>
          </p:cNvSpPr>
          <p:nvPr/>
        </p:nvSpPr>
        <p:spPr>
          <a:xfrm xmlns:a="http://schemas.openxmlformats.org/drawingml/2006/main">
            <a:off x="4000500" y="4381500"/>
            <a:ext cx="7239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SSD-Mobilenet-v2</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TensorRT on the Nano GPU</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Camera and text stages run sequentially</a:t>
            </a:r>
          </a:p>
        </p:txBody>
      </p:sp>
    </p:spTree>
    <p:extLst>
      <p:ext uri="{BB962C8B-B14F-4D97-AF65-F5344CB8AC3E}">
        <p14:creationId xmlns:p14="http://schemas.microsoft.com/office/powerpoint/2010/main" val="18185411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70841B2-C630-41CA-B199-25AE954FAAA3}"/>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Menu Controls</a:t>
            </a:r>
          </a:p>
        </p:txBody>
      </p:sp>
      <p:sp>
        <p:nvSpPr>
          <p:cNvPr id="2" name="">
            <a:extLst xmlns:a="http://schemas.openxmlformats.org/drawingml/2006/main">
              <a:ext uri="{FF2B5EF4-FFF2-40B4-BE49-F238E27FC236}">
                <a16:creationId xmlns:a16="http://schemas.microsoft.com/office/drawing/2014/main" id="{D2CF4FB4-9EC0-4CA8-9342-79ED00AC5988}"/>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75BC5BDF-17D0-4FDE-9075-19BCBA997C89}"/>
              </a:ext>
            </a:extLst>
          </p:cNvPr>
          <p:cNvSpPr>
            <a:spLocks xmlns:a="http://schemas.openxmlformats.org/drawingml/2006/main" noGrp="1"/>
          </p:cNvSpPr>
          <p:nvPr/>
        </p:nvSpPr>
        <p:spPr>
          <a:xfrm xmlns:a="http://schemas.openxmlformats.org/drawingml/2006/main">
            <a:off x="762000" y="1952625"/>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1BE126B1-3F1A-486D-8D15-9D8B1CC1D9AA}"/>
              </a:ext>
            </a:extLst>
          </p:cNvPr>
          <p:cNvSpPr>
            <a:spLocks xmlns:a="http://schemas.openxmlformats.org/drawingml/2006/main" noGrp="1"/>
          </p:cNvSpPr>
          <p:nvPr/>
        </p:nvSpPr>
        <p:spPr>
          <a:xfrm xmlns:a="http://schemas.openxmlformats.org/drawingml/2006/main">
            <a:off x="3333750" y="1952625"/>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Prepare models and dependencies</a:t>
            </a:r>
          </a:p>
        </p:txBody>
      </p:sp>
      <p:sp>
        <p:nvSpPr>
          <p:cNvPr id="5" name="">
            <a:extLst xmlns:a="http://schemas.openxmlformats.org/drawingml/2006/main">
              <a:ext uri="{FF2B5EF4-FFF2-40B4-BE49-F238E27FC236}">
                <a16:creationId xmlns:a16="http://schemas.microsoft.com/office/drawing/2014/main" id="{EC4D252E-B47C-4D12-8429-80441C884D53}"/>
              </a:ext>
            </a:extLst>
          </p:cNvPr>
          <p:cNvSpPr>
            <a:spLocks xmlns:a="http://schemas.openxmlformats.org/drawingml/2006/main" noGrp="1"/>
          </p:cNvSpPr>
          <p:nvPr/>
        </p:nvSpPr>
        <p:spPr>
          <a:xfrm xmlns:a="http://schemas.openxmlformats.org/drawingml/2006/main">
            <a:off x="762000" y="259080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BD6ECBA0-27C3-4771-AF14-2830CAB11714}"/>
              </a:ext>
            </a:extLst>
          </p:cNvPr>
          <p:cNvSpPr>
            <a:spLocks xmlns:a="http://schemas.openxmlformats.org/drawingml/2006/main" noGrp="1"/>
          </p:cNvSpPr>
          <p:nvPr/>
        </p:nvSpPr>
        <p:spPr>
          <a:xfrm xmlns:a="http://schemas.openxmlformats.org/drawingml/2006/main">
            <a:off x="3333750" y="2590800"/>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Check board status</a:t>
            </a:r>
          </a:p>
        </p:txBody>
      </p:sp>
      <p:sp>
        <p:nvSpPr>
          <p:cNvPr id="7" name="">
            <a:extLst xmlns:a="http://schemas.openxmlformats.org/drawingml/2006/main">
              <a:ext uri="{FF2B5EF4-FFF2-40B4-BE49-F238E27FC236}">
                <a16:creationId xmlns:a16="http://schemas.microsoft.com/office/drawing/2014/main" id="{02AC120B-C9CF-4E09-A1AA-C86A1BDCFB7E}"/>
              </a:ext>
            </a:extLst>
          </p:cNvPr>
          <p:cNvSpPr>
            <a:spLocks xmlns:a="http://schemas.openxmlformats.org/drawingml/2006/main" noGrp="1"/>
          </p:cNvSpPr>
          <p:nvPr/>
        </p:nvSpPr>
        <p:spPr>
          <a:xfrm xmlns:a="http://schemas.openxmlformats.org/drawingml/2006/main">
            <a:off x="762000" y="3228975"/>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3 / 4 / 5</a:t>
            </a:r>
          </a:p>
        </p:txBody>
      </p:sp>
      <p:sp>
        <p:nvSpPr>
          <p:cNvPr id="8" name="">
            <a:extLst xmlns:a="http://schemas.openxmlformats.org/drawingml/2006/main">
              <a:ext uri="{FF2B5EF4-FFF2-40B4-BE49-F238E27FC236}">
                <a16:creationId xmlns:a16="http://schemas.microsoft.com/office/drawing/2014/main" id="{9398397A-C996-4FC0-9E6F-8DA971A9B10F}"/>
              </a:ext>
            </a:extLst>
          </p:cNvPr>
          <p:cNvSpPr>
            <a:spLocks xmlns:a="http://schemas.openxmlformats.org/drawingml/2006/main" noGrp="1"/>
          </p:cNvSpPr>
          <p:nvPr/>
        </p:nvSpPr>
        <p:spPr>
          <a:xfrm xmlns:a="http://schemas.openxmlformats.org/drawingml/2006/main">
            <a:off x="3333750" y="3228975"/>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Run a demonstration</a:t>
            </a:r>
          </a:p>
        </p:txBody>
      </p:sp>
      <p:sp>
        <p:nvSpPr>
          <p:cNvPr id="9" name="">
            <a:extLst xmlns:a="http://schemas.openxmlformats.org/drawingml/2006/main">
              <a:ext uri="{FF2B5EF4-FFF2-40B4-BE49-F238E27FC236}">
                <a16:creationId xmlns:a16="http://schemas.microsoft.com/office/drawing/2014/main" id="{6819CFB7-8114-40B7-BF77-34EAA0450718}"/>
              </a:ext>
            </a:extLst>
          </p:cNvPr>
          <p:cNvSpPr>
            <a:spLocks xmlns:a="http://schemas.openxmlformats.org/drawingml/2006/main" noGrp="1"/>
          </p:cNvSpPr>
          <p:nvPr/>
        </p:nvSpPr>
        <p:spPr>
          <a:xfrm xmlns:a="http://schemas.openxmlformats.org/drawingml/2006/main">
            <a:off x="762000" y="386715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6</a:t>
            </a:r>
          </a:p>
        </p:txBody>
      </p:sp>
      <p:sp>
        <p:nvSpPr>
          <p:cNvPr id="10" name="">
            <a:extLst xmlns:a="http://schemas.openxmlformats.org/drawingml/2006/main">
              <a:ext uri="{FF2B5EF4-FFF2-40B4-BE49-F238E27FC236}">
                <a16:creationId xmlns:a16="http://schemas.microsoft.com/office/drawing/2014/main" id="{97B886A7-B295-47EF-ABE6-A58B54F0E670}"/>
              </a:ext>
            </a:extLst>
          </p:cNvPr>
          <p:cNvSpPr>
            <a:spLocks xmlns:a="http://schemas.openxmlformats.org/drawingml/2006/main" noGrp="1"/>
          </p:cNvSpPr>
          <p:nvPr/>
        </p:nvSpPr>
        <p:spPr>
          <a:xfrm xmlns:a="http://schemas.openxmlformats.org/drawingml/2006/main">
            <a:off x="3333750" y="3867150"/>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Inspect storage usage</a:t>
            </a:r>
          </a:p>
        </p:txBody>
      </p:sp>
      <p:sp>
        <p:nvSpPr>
          <p:cNvPr id="11" name="">
            <a:extLst xmlns:a="http://schemas.openxmlformats.org/drawingml/2006/main">
              <a:ext uri="{FF2B5EF4-FFF2-40B4-BE49-F238E27FC236}">
                <a16:creationId xmlns:a16="http://schemas.microsoft.com/office/drawing/2014/main" id="{9EC601B7-8A8E-4573-8A5C-C0024AAEA1A0}"/>
              </a:ext>
            </a:extLst>
          </p:cNvPr>
          <p:cNvSpPr>
            <a:spLocks xmlns:a="http://schemas.openxmlformats.org/drawingml/2006/main" noGrp="1"/>
          </p:cNvSpPr>
          <p:nvPr/>
        </p:nvSpPr>
        <p:spPr>
          <a:xfrm xmlns:a="http://schemas.openxmlformats.org/drawingml/2006/main">
            <a:off x="762000" y="4505325"/>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7</a:t>
            </a:r>
          </a:p>
        </p:txBody>
      </p:sp>
      <p:sp>
        <p:nvSpPr>
          <p:cNvPr id="12" name="">
            <a:extLst xmlns:a="http://schemas.openxmlformats.org/drawingml/2006/main">
              <a:ext uri="{FF2B5EF4-FFF2-40B4-BE49-F238E27FC236}">
                <a16:creationId xmlns:a16="http://schemas.microsoft.com/office/drawing/2014/main" id="{33621989-FB65-4B9E-8CC9-F304E5BF10E2}"/>
              </a:ext>
            </a:extLst>
          </p:cNvPr>
          <p:cNvSpPr>
            <a:spLocks xmlns:a="http://schemas.openxmlformats.org/drawingml/2006/main" noGrp="1"/>
          </p:cNvSpPr>
          <p:nvPr/>
        </p:nvSpPr>
        <p:spPr>
          <a:xfrm xmlns:a="http://schemas.openxmlformats.org/drawingml/2006/main">
            <a:off x="3333750" y="4505325"/>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Open this presentation</a:t>
            </a:r>
          </a:p>
        </p:txBody>
      </p:sp>
      <p:sp>
        <p:nvSpPr>
          <p:cNvPr id="13" name="">
            <a:extLst xmlns:a="http://schemas.openxmlformats.org/drawingml/2006/main">
              <a:ext uri="{FF2B5EF4-FFF2-40B4-BE49-F238E27FC236}">
                <a16:creationId xmlns:a16="http://schemas.microsoft.com/office/drawing/2014/main" id="{B3B28C76-CC40-4A9B-9332-28B1E32BBF8B}"/>
              </a:ext>
            </a:extLst>
          </p:cNvPr>
          <p:cNvSpPr>
            <a:spLocks xmlns:a="http://schemas.openxmlformats.org/drawingml/2006/main" noGrp="1"/>
          </p:cNvSpPr>
          <p:nvPr/>
        </p:nvSpPr>
        <p:spPr>
          <a:xfrm xmlns:a="http://schemas.openxmlformats.org/drawingml/2006/main">
            <a:off x="762000" y="514350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0</a:t>
            </a:r>
          </a:p>
        </p:txBody>
      </p:sp>
      <p:sp>
        <p:nvSpPr>
          <p:cNvPr id="14" name="">
            <a:extLst xmlns:a="http://schemas.openxmlformats.org/drawingml/2006/main">
              <a:ext uri="{FF2B5EF4-FFF2-40B4-BE49-F238E27FC236}">
                <a16:creationId xmlns:a16="http://schemas.microsoft.com/office/drawing/2014/main" id="{864C2EEC-EB4E-4B5C-967B-C02982CCFA95}"/>
              </a:ext>
            </a:extLst>
          </p:cNvPr>
          <p:cNvSpPr>
            <a:spLocks xmlns:a="http://schemas.openxmlformats.org/drawingml/2006/main" noGrp="1"/>
          </p:cNvSpPr>
          <p:nvPr/>
        </p:nvSpPr>
        <p:spPr>
          <a:xfrm xmlns:a="http://schemas.openxmlformats.org/drawingml/2006/main">
            <a:off x="3333750" y="5143500"/>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Exit</a:t>
            </a:r>
          </a:p>
        </p:txBody>
      </p:sp>
      <p:sp>
        <p:nvSpPr>
          <p:cNvPr id="15" name="">
            <a:extLst xmlns:a="http://schemas.openxmlformats.org/drawingml/2006/main">
              <a:ext uri="{FF2B5EF4-FFF2-40B4-BE49-F238E27FC236}">
                <a16:creationId xmlns:a16="http://schemas.microsoft.com/office/drawing/2014/main" id="{E8C5613A-725C-4EA5-AD25-44E0B4A3ED92}"/>
              </a:ext>
            </a:extLst>
          </p:cNvPr>
          <p:cNvSpPr>
            <a:spLocks xmlns:a="http://schemas.openxmlformats.org/drawingml/2006/main" noGrp="1"/>
          </p:cNvSpPr>
          <p:nvPr/>
        </p:nvSpPr>
        <p:spPr>
          <a:xfrm xmlns:a="http://schemas.openxmlformats.org/drawingml/2006/main">
            <a:off x="762000" y="5953125"/>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35B"/>
                </a:solidFill>
                <a:latin typeface="Arial"/>
                <a:ea typeface="Arial"/>
                <a:cs typeface="Arial"/>
              </a:defRPr>
            </a:pPr>
            <a:r>
              <a:rPr sz="1800" b="0">
                <a:solidFill>
                  <a:srgbClr val="52635B"/>
                </a:solidFill>
                <a:latin typeface="Arial"/>
                <a:ea typeface="Arial"/>
                <a:cs typeface="Arial"/>
              </a:rPr>
              <a:t>Ctrl+C cancels a demo and returns to the menu.</a:t>
            </a:r>
          </a:p>
        </p:txBody>
      </p:sp>
    </p:spTree>
    <p:extLst>
      <p:ext uri="{BB962C8B-B14F-4D97-AF65-F5344CB8AC3E}">
        <p14:creationId xmlns:p14="http://schemas.microsoft.com/office/powerpoint/2010/main" val="14435472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2026-09-24T06:27:36.8090000Z</dcterms:created>
  <dcterms:modified xsi:type="dcterms:W3CDTF">2026-09-24T06:27:36.8090000Z</dcterms:modified>
</coreProperties>
</file>