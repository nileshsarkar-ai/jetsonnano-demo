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899186291b4654" /><Relationship Type="http://schemas.openxmlformats.org/officeDocument/2006/relationships/extended-properties" Target="/docProps/app.xml" Id="R6a672f159a2e41a2" /><Relationship Type="http://schemas.openxmlformats.org/officeDocument/2006/relationships/officeDocument" Target="/ppt/presentation.xml" Id="Rbd90336c9f604d65" /></Relationships>
</file>

<file path=ppt/presentation.xml><?xml version="1.0" encoding="utf-8"?>
<p:presentation xmlns:p="http://schemas.openxmlformats.org/presentationml/2006/main">
  <p:sldMasterIdLst>
    <p:sldMasterId xmlns:r="http://schemas.openxmlformats.org/officeDocument/2006/relationships" id="2147483648" r:id="R61318e96a7424672"/>
  </p:sldMasterIdLst>
  <p:notesMasterIdLst>
    <p:notesMasterId xmlns:r="http://schemas.openxmlformats.org/officeDocument/2006/relationships" r:id="Rc520d7186cd54fdc"/>
  </p:notesMasterIdLst>
  <p:sldIdLst>
    <p:sldId xmlns:r="http://schemas.openxmlformats.org/officeDocument/2006/relationships" id="256" r:id="R080aaf2cef074074"/>
    <p:sldId xmlns:r="http://schemas.openxmlformats.org/officeDocument/2006/relationships" id="257" r:id="R9842083640644bb7"/>
    <p:sldId xmlns:r="http://schemas.openxmlformats.org/officeDocument/2006/relationships" id="258" r:id="Rf1d9287b809c4093"/>
    <p:sldId xmlns:r="http://schemas.openxmlformats.org/officeDocument/2006/relationships" id="259" r:id="R4dd05ad61c1f4839"/>
    <p:sldId xmlns:r="http://schemas.openxmlformats.org/officeDocument/2006/relationships" id="260" r:id="Ra5aea37353e54db0"/>
    <p:sldId xmlns:r="http://schemas.openxmlformats.org/officeDocument/2006/relationships" id="261" r:id="Rceaa78151687443c"/>
    <p:sldId xmlns:r="http://schemas.openxmlformats.org/officeDocument/2006/relationships" id="262" r:id="Rb92dbb3a577b4d2c"/>
    <p:sldId xmlns:r="http://schemas.openxmlformats.org/officeDocument/2006/relationships" id="263" r:id="R59dddf2f9aa84e53"/>
    <p:sldId xmlns:r="http://schemas.openxmlformats.org/officeDocument/2006/relationships" id="264" r:id="R8518f4595e6a4d0b"/>
    <p:sldId xmlns:r="http://schemas.openxmlformats.org/officeDocument/2006/relationships" id="265" r:id="R574953dfd6c046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d307694da041ce" /><Relationship Type="http://schemas.openxmlformats.org/officeDocument/2006/relationships/slideMaster" Target="/ppt/slideMasters/slideMaster1.xml" Id="R61318e96a7424672" /><Relationship Type="http://schemas.openxmlformats.org/officeDocument/2006/relationships/notesMaster" Target="/ppt/notesMasters/notesMaster1.xml" Id="Rc520d7186cd54fdc" /><Relationship Type="http://schemas.openxmlformats.org/officeDocument/2006/relationships/presProps" Target="/ppt/presProps.xml" Id="R446b4bd5cb9e4984" /><Relationship Type="http://schemas.openxmlformats.org/officeDocument/2006/relationships/tableStyles" Target="/ppt/tableStyles.xml" Id="Rcf4bc923da074cb4" /><Relationship Type="http://schemas.openxmlformats.org/officeDocument/2006/relationships/slide" Target="/ppt/slides/slide1.xml" Id="R080aaf2cef074074" /><Relationship Type="http://schemas.openxmlformats.org/officeDocument/2006/relationships/slide" Target="/ppt/slides/slide2.xml" Id="R9842083640644bb7" /><Relationship Type="http://schemas.openxmlformats.org/officeDocument/2006/relationships/slide" Target="/ppt/slides/slide3.xml" Id="Rf1d9287b809c4093" /><Relationship Type="http://schemas.openxmlformats.org/officeDocument/2006/relationships/slide" Target="/ppt/slides/slide4.xml" Id="R4dd05ad61c1f4839" /><Relationship Type="http://schemas.openxmlformats.org/officeDocument/2006/relationships/slide" Target="/ppt/slides/slide5.xml" Id="Ra5aea37353e54db0" /><Relationship Type="http://schemas.openxmlformats.org/officeDocument/2006/relationships/slide" Target="/ppt/slides/slide6.xml" Id="Rceaa78151687443c" /><Relationship Type="http://schemas.openxmlformats.org/officeDocument/2006/relationships/slide" Target="/ppt/slides/slide7.xml" Id="Rb92dbb3a577b4d2c" /><Relationship Type="http://schemas.openxmlformats.org/officeDocument/2006/relationships/slide" Target="/ppt/slides/slide8.xml" Id="R59dddf2f9aa84e53" /><Relationship Type="http://schemas.openxmlformats.org/officeDocument/2006/relationships/slide" Target="/ppt/slides/slide9.xml" Id="R8518f4595e6a4d0b" /><Relationship Type="http://schemas.openxmlformats.org/officeDocument/2006/relationships/slide" Target="/ppt/slides/slide10.xml" Id="R574953dfd6c046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08465c277d4c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a605fc64ba4eb9" /><Relationship Type="http://schemas.openxmlformats.org/officeDocument/2006/relationships/notesMaster" Target="/ppt/notesMasters/notesMaster1.xml" Id="R94b14d25b5d947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fc9a078f794a56" /><Relationship Type="http://schemas.openxmlformats.org/officeDocument/2006/relationships/notesMaster" Target="/ppt/notesMasters/notesMaster1.xml" Id="R1b11ea208fdd4c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d5b13cba24d03" /><Relationship Type="http://schemas.openxmlformats.org/officeDocument/2006/relationships/notesMaster" Target="/ppt/notesMasters/notesMaster1.xml" Id="R4aca58c7f79747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b394e2877f46fb" /><Relationship Type="http://schemas.openxmlformats.org/officeDocument/2006/relationships/notesMaster" Target="/ppt/notesMasters/notesMaster1.xml" Id="R55c6c74a575c46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ccd7f37d7041f0" /><Relationship Type="http://schemas.openxmlformats.org/officeDocument/2006/relationships/notesMaster" Target="/ppt/notesMasters/notesMaster1.xml" Id="R13cccff49a6845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5bd5ea661d4205" /><Relationship Type="http://schemas.openxmlformats.org/officeDocument/2006/relationships/notesMaster" Target="/ppt/notesMasters/notesMaster1.xml" Id="R67d4bcfa16f543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007de3debf4683" /><Relationship Type="http://schemas.openxmlformats.org/officeDocument/2006/relationships/notesMaster" Target="/ppt/notesMasters/notesMaster1.xml" Id="R38b66f2937cb4e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e6238479104d4b" /><Relationship Type="http://schemas.openxmlformats.org/officeDocument/2006/relationships/notesMaster" Target="/ppt/notesMasters/notesMaster1.xml" Id="Rfd873b0214e941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fe49070b634e73" /><Relationship Type="http://schemas.openxmlformats.org/officeDocument/2006/relationships/notesMaster" Target="/ppt/notesMasters/notesMaster1.xml" Id="R1ff7918d4be64a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8013c688ea4a08" /><Relationship Type="http://schemas.openxmlformats.org/officeDocument/2006/relationships/notesMaster" Target="/ppt/notesMasters/notesMaster1.xml" Id="R84fac9395a5f44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 NVIDIA, https://www.nvidia.com/en-us/autonomous-machines/embedded-systems/jetson-nano/product-development/</a:t>
            </a:r>
          </a:p>
          <a:p xmlns:a="http://schemas.openxmlformats.org/drawingml/2006/main">
            <a:r>
              <a:t>Asset: https://www.nvidia.com/content/nvidiaGDC/us/en_US/autonomous-machines/embedded-systems/jetson-nano/product-development/_jcr_content/root/responsivegrid/nv_container_1169488117/nv_container_copy/nv_image.coreimg.jpeg/1710770678070/jetson-nano-2560x1440.jpeg</a:t>
            </a:r>
          </a:p>
          <a:p xmlns:a="http://schemas.openxmlformats.org/drawingml/2006/main">
            <a:r>
              <a:t>Photo is a product reference, not this user’s board. Code scope: docs/EXPERIMENTS.md in https://github.com/nileshsarkar-ai/JetsonNano-Demo. No physical-board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and menu: https://github.com/nileshsarkar-ai/JetsonNano-Demo/tree/master</a:t>
            </a:r>
          </a:p>
          <a:p xmlns:a="http://schemas.openxmlformats.org/drawingml/2006/main">
            <a:r>
              <a:t>Scope and names: docs/EXPERIMENTS.md. Presenter notes: Physical Nano execution unverified. Software tests use mocks. Models may hallucinate; prompt separation and self-critique are not security or accuracy guarantees. Check against visible source facts. Camera projects use object detections plus text generation, not a vision-language model. Default setup does not need audio or external training. Rehearse power, cooling, camera capture, latency and answer quality on the actual board. This is the current local programme, not the historical 72-topic idea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957fd70b9d4f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0fad0a978f4209" /><Relationship Type="http://schemas.openxmlformats.org/officeDocument/2006/relationships/slideLayout" Target="/ppt/slideLayouts/slideLayout1.xml" Id="R5c5f1502f4ad4b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f1502f4ad4b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da8b083f8f414a" /><Relationship Type="http://schemas.openxmlformats.org/officeDocument/2006/relationships/image" Target="/ppt/media/image.jpeg" Id="R49d56913fcad4f70" /><Relationship Type="http://schemas.openxmlformats.org/officeDocument/2006/relationships/notesSlide" Target="/ppt/notesSlides/notesSlide1.xml" Id="Radea4b34432b4e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db13c4d1dc4b04" /><Relationship Type="http://schemas.openxmlformats.org/officeDocument/2006/relationships/notesSlide" Target="/ppt/notesSlides/notesSlide2.xml" Id="Rf3f97fadfe6c45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8d5df0e2584df4" /><Relationship Type="http://schemas.openxmlformats.org/officeDocument/2006/relationships/notesSlide" Target="/ppt/notesSlides/notesSlide3.xml" Id="R3e6f249cdd774e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7b645e19c140d1" /><Relationship Type="http://schemas.openxmlformats.org/officeDocument/2006/relationships/notesSlide" Target="/ppt/notesSlides/notesSlide4.xml" Id="R12689a4a8a1447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1a68682f494b17" /><Relationship Type="http://schemas.openxmlformats.org/officeDocument/2006/relationships/notesSlide" Target="/ppt/notesSlides/notesSlide5.xml" Id="R8433d469e31841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70f838c9424ff3" /><Relationship Type="http://schemas.openxmlformats.org/officeDocument/2006/relationships/notesSlide" Target="/ppt/notesSlides/notesSlide6.xml" Id="Re0d64523309741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f3601a63d74725" /><Relationship Type="http://schemas.openxmlformats.org/officeDocument/2006/relationships/notesSlide" Target="/ppt/notesSlides/notesSlide7.xml" Id="Rb7d1f65e3f0247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d7874dc1ec40c8" /><Relationship Type="http://schemas.openxmlformats.org/officeDocument/2006/relationships/notesSlide" Target="/ppt/notesSlides/notesSlide8.xml" Id="Reafc1d2d69da4b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c27e08c73d4ae8" /><Relationship Type="http://schemas.openxmlformats.org/officeDocument/2006/relationships/notesSlide" Target="/ppt/notesSlides/notesSlide9.xml" Id="Rc539a38d18eb4f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ebc716052a4fdf" /><Relationship Type="http://schemas.openxmlformats.org/officeDocument/2006/relationships/notesSlide" Target="/ppt/notesSlides/notesSlide10.xml" Id="R4614bf9c897648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06B75C-3A80-46EF-AA96-1B07B61AFF18}"/>
              </a:ext>
            </a:extLst>
          </p:cNvPr>
          <p:cNvSpPr>
            <a:spLocks xmlns:a="http://schemas.openxmlformats.org/drawingml/2006/main" noGrp="1"/>
          </p:cNvSpPr>
          <p:nvPr/>
        </p:nvSpPr>
        <p:spPr>
          <a:xfrm xmlns:a="http://schemas.openxmlformats.org/drawingml/2006/main">
            <a:off x="666750" y="180975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9332A"/>
                </a:solidFill>
                <a:latin typeface="Arial"/>
                <a:ea typeface="Arial"/>
                <a:cs typeface="Arial"/>
              </a:defRPr>
            </a:pPr>
            <a:r>
              <a:rPr sz="4950" b="1">
                <a:solidFill>
                  <a:srgbClr val="19332A"/>
                </a:solidFill>
                <a:latin typeface="Arial"/>
                <a:ea typeface="Arial"/>
                <a:cs typeface="Arial"/>
              </a:rPr>
              <a:t>Language Models</a:t>
            </a:r>
          </a:p>
          <a:p xmlns:a="http://schemas.openxmlformats.org/drawingml/2006/main">
            <a:pPr>
              <a:defRPr sz="4950" b="1">
                <a:solidFill>
                  <a:srgbClr val="19332A"/>
                </a:solidFill>
                <a:latin typeface="Arial"/>
                <a:ea typeface="Arial"/>
                <a:cs typeface="Arial"/>
              </a:defRPr>
            </a:pPr>
            <a:r>
              <a:rPr sz="4950" b="1">
                <a:solidFill>
                  <a:srgbClr val="19332A"/>
                </a:solidFill>
                <a:latin typeface="Arial"/>
                <a:ea typeface="Arial"/>
                <a:cs typeface="Arial"/>
              </a:rPr>
              <a:t>on Jetson Nano</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9d56913fcad4f70"/>
          <a:stretch xmlns:a="http://schemas.openxmlformats.org/drawingml/2006/main"/>
        </p:blipFill>
        <p:spPr>
          <a:xfrm xmlns:a="http://schemas.openxmlformats.org/drawingml/2006/main">
            <a:off x="6096000" y="1980009"/>
            <a:ext cx="5524500" cy="31075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DC085A-C050-42ED-92EA-488CBF23CAAD}"/>
              </a:ext>
            </a:extLst>
          </p:cNvPr>
          <p:cNvSpPr>
            <a:spLocks xmlns:a="http://schemas.openxmlformats.org/drawingml/2006/main" noGrp="1"/>
          </p:cNvSpPr>
          <p:nvPr/>
        </p:nvSpPr>
        <p:spPr>
          <a:xfrm xmlns:a="http://schemas.openxmlformats.org/drawingml/2006/main">
            <a:off x="733425" y="4229100"/>
            <a:ext cx="504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35B"/>
                </a:solidFill>
                <a:latin typeface="Arial"/>
                <a:ea typeface="Arial"/>
                <a:cs typeface="Arial"/>
              </a:defRPr>
            </a:pPr>
            <a:r>
              <a:rPr sz="1950" b="0">
                <a:solidFill>
                  <a:srgbClr val="52635B"/>
                </a:solidFill>
                <a:latin typeface="Arial"/>
                <a:ea typeface="Arial"/>
                <a:cs typeface="Arial"/>
              </a:rPr>
              <a:t>Jetson Nano 4GB</a:t>
            </a:r>
          </a:p>
          <a:p xmlns:a="http://schemas.openxmlformats.org/drawingml/2006/main">
            <a:pPr>
              <a:defRPr sz="1950" b="0">
                <a:solidFill>
                  <a:srgbClr val="52635B"/>
                </a:solidFill>
                <a:latin typeface="Arial"/>
                <a:ea typeface="Arial"/>
                <a:cs typeface="Arial"/>
              </a:defRPr>
            </a:pPr>
            <a:r>
              <a:rPr sz="1950" b="0">
                <a:solidFill>
                  <a:srgbClr val="52635B"/>
                </a:solidFill>
                <a:latin typeface="Arial"/>
                <a:ea typeface="Arial"/>
                <a:cs typeface="Arial"/>
              </a:rPr>
              <a:t>JetPack 4 / Ubuntu 18.04</a:t>
            </a:r>
          </a:p>
          <a:p xmlns:a="http://schemas.openxmlformats.org/drawingml/2006/main">
            <a:pPr>
              <a:defRPr sz="1950" b="0">
                <a:solidFill>
                  <a:srgbClr val="52635B"/>
                </a:solidFill>
                <a:latin typeface="Arial"/>
                <a:ea typeface="Arial"/>
                <a:cs typeface="Arial"/>
              </a:defRPr>
            </a:pPr>
            <a:r>
              <a:rPr sz="1950" b="0">
                <a:solidFill>
                  <a:srgbClr val="52635B"/>
                </a:solidFill>
                <a:latin typeface="Arial"/>
                <a:ea typeface="Arial"/>
                <a:cs typeface="Arial"/>
              </a:rPr>
              <a:t>Python 3.6</a:t>
            </a:r>
          </a:p>
        </p:txBody>
      </p:sp>
    </p:spTree>
    <p:extLst>
      <p:ext uri="{BB962C8B-B14F-4D97-AF65-F5344CB8AC3E}">
        <p14:creationId xmlns:p14="http://schemas.microsoft.com/office/powerpoint/2010/main" val="153984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58723E-47F9-4C51-B72D-1C713527F837}"/>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Setup</a:t>
            </a:r>
          </a:p>
        </p:txBody>
      </p:sp>
      <p:sp>
        <p:nvSpPr>
          <p:cNvPr id="2" name="">
            <a:extLst xmlns:a="http://schemas.openxmlformats.org/drawingml/2006/main">
              <a:ext uri="{FF2B5EF4-FFF2-40B4-BE49-F238E27FC236}">
                <a16:creationId xmlns:a16="http://schemas.microsoft.com/office/drawing/2014/main" id="{9DEFAD9B-EA9C-49E2-835B-6C8AF6207800}"/>
              </a:ext>
            </a:extLst>
          </p:cNvPr>
          <p:cNvSpPr>
            <a:spLocks xmlns:a="http://schemas.openxmlformats.org/drawingml/2006/main" noGrp="1"/>
          </p:cNvSpPr>
          <p:nvPr/>
        </p:nvSpPr>
        <p:spPr>
          <a:xfrm xmlns:a="http://schemas.openxmlformats.org/drawingml/2006/main">
            <a:off x="666750" y="1333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35B"/>
                </a:solidFill>
                <a:latin typeface="Arial"/>
                <a:ea typeface="Arial"/>
                <a:cs typeface="Arial"/>
              </a:defRPr>
            </a:pPr>
            <a:r>
              <a:rPr sz="1950" b="0">
                <a:solidFill>
                  <a:srgbClr val="52635B"/>
                </a:solidFill>
                <a:latin typeface="Arial"/>
                <a:ea typeface="Arial"/>
                <a:cs typeface="Arial"/>
              </a:rPr>
              <a:t>Run in a terminal on the Nano.</a:t>
            </a:r>
          </a:p>
        </p:txBody>
      </p:sp>
      <p:sp>
        <p:nvSpPr>
          <p:cNvPr id="3" name="">
            <a:extLst xmlns:a="http://schemas.openxmlformats.org/drawingml/2006/main">
              <a:ext uri="{FF2B5EF4-FFF2-40B4-BE49-F238E27FC236}">
                <a16:creationId xmlns:a16="http://schemas.microsoft.com/office/drawing/2014/main" id="{543A3E33-311F-446A-8A07-D593FCD4D5B5}"/>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B735A41-3B9B-4339-B915-BFA2D5364F30}"/>
              </a:ext>
            </a:extLst>
          </p:cNvPr>
          <p:cNvSpPr>
            <a:spLocks xmlns:a="http://schemas.openxmlformats.org/drawingml/2006/main" noGrp="1"/>
          </p:cNvSpPr>
          <p:nvPr/>
        </p:nvSpPr>
        <p:spPr>
          <a:xfrm xmlns:a="http://schemas.openxmlformats.org/drawingml/2006/main">
            <a:off x="723900" y="23050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32A"/>
                </a:solidFill>
                <a:latin typeface="Courier New"/>
                <a:ea typeface="Courier New"/>
                <a:cs typeface="Courier New"/>
              </a:defRPr>
            </a:pPr>
            <a:r>
              <a:rPr sz="1875" b="0">
                <a:solidFill>
                  <a:srgbClr val="19332A"/>
                </a:solidFill>
                <a:latin typeface="Courier New"/>
                <a:ea typeface="Courier New"/>
                <a:cs typeface="Courier New"/>
              </a:rPr>
              <a:t>git clone https://github.com/nileshsarkar-ai/JetsonNano-Demo.git</a:t>
            </a:r>
          </a:p>
        </p:txBody>
      </p:sp>
      <p:sp>
        <p:nvSpPr>
          <p:cNvPr id="5" name="">
            <a:extLst xmlns:a="http://schemas.openxmlformats.org/drawingml/2006/main">
              <a:ext uri="{FF2B5EF4-FFF2-40B4-BE49-F238E27FC236}">
                <a16:creationId xmlns:a16="http://schemas.microsoft.com/office/drawing/2014/main" id="{F80427A5-033C-4953-9974-A8BDEE4D9D32}"/>
              </a:ext>
            </a:extLst>
          </p:cNvPr>
          <p:cNvSpPr>
            <a:spLocks xmlns:a="http://schemas.openxmlformats.org/drawingml/2006/main" noGrp="1"/>
          </p:cNvSpPr>
          <p:nvPr/>
        </p:nvSpPr>
        <p:spPr>
          <a:xfrm xmlns:a="http://schemas.openxmlformats.org/drawingml/2006/main">
            <a:off x="723900" y="29337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32A"/>
                </a:solidFill>
                <a:latin typeface="Courier New"/>
                <a:ea typeface="Courier New"/>
                <a:cs typeface="Courier New"/>
              </a:defRPr>
            </a:pPr>
            <a:r>
              <a:rPr sz="2025" b="0">
                <a:solidFill>
                  <a:srgbClr val="19332A"/>
                </a:solidFill>
                <a:latin typeface="Courier New"/>
                <a:ea typeface="Courier New"/>
                <a:cs typeface="Courier New"/>
              </a:rPr>
              <a:t>cd JetsonNano-Demo</a:t>
            </a:r>
          </a:p>
        </p:txBody>
      </p:sp>
      <p:sp>
        <p:nvSpPr>
          <p:cNvPr id="6" name="">
            <a:extLst xmlns:a="http://schemas.openxmlformats.org/drawingml/2006/main">
              <a:ext uri="{FF2B5EF4-FFF2-40B4-BE49-F238E27FC236}">
                <a16:creationId xmlns:a16="http://schemas.microsoft.com/office/drawing/2014/main" id="{AC6588DC-384C-42A4-90FF-CDAA751CBC96}"/>
              </a:ext>
            </a:extLst>
          </p:cNvPr>
          <p:cNvSpPr>
            <a:spLocks xmlns:a="http://schemas.openxmlformats.org/drawingml/2006/main" noGrp="1"/>
          </p:cNvSpPr>
          <p:nvPr/>
        </p:nvSpPr>
        <p:spPr>
          <a:xfrm xmlns:a="http://schemas.openxmlformats.org/drawingml/2006/main">
            <a:off x="723900" y="35623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397718"/>
                </a:solidFill>
                <a:latin typeface="Courier New"/>
                <a:ea typeface="Courier New"/>
                <a:cs typeface="Courier New"/>
              </a:defRPr>
            </a:pPr>
            <a:r>
              <a:rPr sz="2550" b="1">
                <a:solidFill>
                  <a:srgbClr val="397718"/>
                </a:solidFill>
                <a:latin typeface="Courier New"/>
                <a:ea typeface="Courier New"/>
                <a:cs typeface="Courier New"/>
              </a:rPr>
              <a:t>bash scripts/run_demo.sh</a:t>
            </a:r>
          </a:p>
        </p:txBody>
      </p:sp>
      <p:sp>
        <p:nvSpPr>
          <p:cNvPr id="7" name="">
            <a:extLst xmlns:a="http://schemas.openxmlformats.org/drawingml/2006/main">
              <a:ext uri="{FF2B5EF4-FFF2-40B4-BE49-F238E27FC236}">
                <a16:creationId xmlns:a16="http://schemas.microsoft.com/office/drawing/2014/main" id="{155AB4B2-33C6-431B-A985-B3B213A08E52}"/>
              </a:ext>
            </a:extLst>
          </p:cNvPr>
          <p:cNvSpPr>
            <a:spLocks xmlns:a="http://schemas.openxmlformats.org/drawingml/2006/main" noGrp="1"/>
          </p:cNvSpPr>
          <p:nvPr/>
        </p:nvSpPr>
        <p:spPr>
          <a:xfrm xmlns:a="http://schemas.openxmlformats.org/drawingml/2006/main">
            <a:off x="742950" y="4762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32A"/>
                </a:solidFill>
                <a:latin typeface="Arial"/>
                <a:ea typeface="Arial"/>
                <a:cs typeface="Arial"/>
              </a:defRPr>
            </a:pPr>
            <a:r>
              <a:rPr sz="2025" b="0">
                <a:solidFill>
                  <a:srgbClr val="19332A"/>
                </a:solidFill>
                <a:latin typeface="Arial"/>
                <a:ea typeface="Arial"/>
                <a:cs typeface="Arial"/>
              </a:rPr>
              <a:t>1  Install dependencies and models</a:t>
            </a:r>
          </a:p>
        </p:txBody>
      </p:sp>
      <p:sp>
        <p:nvSpPr>
          <p:cNvPr id="8" name="">
            <a:extLst xmlns:a="http://schemas.openxmlformats.org/drawingml/2006/main">
              <a:ext uri="{FF2B5EF4-FFF2-40B4-BE49-F238E27FC236}">
                <a16:creationId xmlns:a16="http://schemas.microsoft.com/office/drawing/2014/main" id="{00347B2B-E400-49CE-8450-BB1614A664F7}"/>
              </a:ext>
            </a:extLst>
          </p:cNvPr>
          <p:cNvSpPr>
            <a:spLocks xmlns:a="http://schemas.openxmlformats.org/drawingml/2006/main" noGrp="1"/>
          </p:cNvSpPr>
          <p:nvPr/>
        </p:nvSpPr>
        <p:spPr>
          <a:xfrm xmlns:a="http://schemas.openxmlformats.org/drawingml/2006/main">
            <a:off x="742950" y="5286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32A"/>
                </a:solidFill>
                <a:latin typeface="Arial"/>
                <a:ea typeface="Arial"/>
                <a:cs typeface="Arial"/>
              </a:defRPr>
            </a:pPr>
            <a:r>
              <a:rPr sz="2025" b="0">
                <a:solidFill>
                  <a:srgbClr val="19332A"/>
                </a:solidFill>
                <a:latin typeface="Arial"/>
                <a:ea typeface="Arial"/>
                <a:cs typeface="Arial"/>
              </a:rPr>
              <a:t>2  Check board status</a:t>
            </a:r>
          </a:p>
        </p:txBody>
      </p:sp>
    </p:spTree>
    <p:extLst>
      <p:ext uri="{BB962C8B-B14F-4D97-AF65-F5344CB8AC3E}">
        <p14:creationId xmlns:p14="http://schemas.microsoft.com/office/powerpoint/2010/main" val="20079470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C87039-7F5B-48EC-9B63-57BCF45BEFBB}"/>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Text Conversations</a:t>
            </a:r>
          </a:p>
        </p:txBody>
      </p:sp>
      <p:sp>
        <p:nvSpPr>
          <p:cNvPr id="2" name="">
            <a:extLst xmlns:a="http://schemas.openxmlformats.org/drawingml/2006/main">
              <a:ext uri="{FF2B5EF4-FFF2-40B4-BE49-F238E27FC236}">
                <a16:creationId xmlns:a16="http://schemas.microsoft.com/office/drawing/2014/main" id="{03901629-1E3B-464A-91E5-3B0E2ADCD24F}"/>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B936980-4351-484B-9DED-4303BE82EDA9}"/>
              </a:ext>
            </a:extLst>
          </p:cNvPr>
          <p:cNvSpPr>
            <a:spLocks xmlns:a="http://schemas.openxmlformats.org/drawingml/2006/main" noGrp="1"/>
          </p:cNvSpPr>
          <p:nvPr/>
        </p:nvSpPr>
        <p:spPr>
          <a:xfrm xmlns:a="http://schemas.openxmlformats.org/drawingml/2006/main">
            <a:off x="714375" y="2133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97718"/>
                </a:solidFill>
                <a:latin typeface="Arial"/>
                <a:ea typeface="Arial"/>
                <a:cs typeface="Arial"/>
              </a:defRPr>
            </a:pPr>
            <a:r>
              <a:rPr sz="1650" b="1">
                <a:solidFill>
                  <a:srgbClr val="397718"/>
                </a:solidFill>
                <a:latin typeface="Arial"/>
                <a:ea typeface="Arial"/>
                <a:cs typeface="Arial"/>
              </a:rPr>
              <a:t>Menu 29</a:t>
            </a:r>
          </a:p>
        </p:txBody>
      </p:sp>
      <p:sp>
        <p:nvSpPr>
          <p:cNvPr id="4" name="">
            <a:extLst xmlns:a="http://schemas.openxmlformats.org/drawingml/2006/main">
              <a:ext uri="{FF2B5EF4-FFF2-40B4-BE49-F238E27FC236}">
                <a16:creationId xmlns:a16="http://schemas.microsoft.com/office/drawing/2014/main" id="{4E06C31A-0732-47E2-AB49-72A490D3D9AB}"/>
              </a:ext>
            </a:extLst>
          </p:cNvPr>
          <p:cNvSpPr>
            <a:spLocks xmlns:a="http://schemas.openxmlformats.org/drawingml/2006/main" noGrp="1"/>
          </p:cNvSpPr>
          <p:nvPr/>
        </p:nvSpPr>
        <p:spPr>
          <a:xfrm xmlns:a="http://schemas.openxmlformats.org/drawingml/2006/main">
            <a:off x="714375" y="268605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9332A"/>
                </a:solidFill>
                <a:latin typeface="Arial"/>
                <a:ea typeface="Arial"/>
                <a:cs typeface="Arial"/>
              </a:defRPr>
            </a:pPr>
            <a:r>
              <a:rPr sz="2850" b="1">
                <a:solidFill>
                  <a:srgbClr val="19332A"/>
                </a:solidFill>
                <a:latin typeface="Arial"/>
                <a:ea typeface="Arial"/>
                <a:cs typeface="Arial"/>
              </a:rPr>
              <a:t>Socratic Study Partner</a:t>
            </a:r>
          </a:p>
        </p:txBody>
      </p:sp>
      <p:sp>
        <p:nvSpPr>
          <p:cNvPr id="5" name="">
            <a:extLst xmlns:a="http://schemas.openxmlformats.org/drawingml/2006/main">
              <a:ext uri="{FF2B5EF4-FFF2-40B4-BE49-F238E27FC236}">
                <a16:creationId xmlns:a16="http://schemas.microsoft.com/office/drawing/2014/main" id="{2C542239-7195-47F7-9ED4-F9634068C055}"/>
              </a:ext>
            </a:extLst>
          </p:cNvPr>
          <p:cNvSpPr>
            <a:spLocks xmlns:a="http://schemas.openxmlformats.org/drawingml/2006/main" noGrp="1"/>
          </p:cNvSpPr>
          <p:nvPr/>
        </p:nvSpPr>
        <p:spPr>
          <a:xfrm xmlns:a="http://schemas.openxmlformats.org/drawingml/2006/main">
            <a:off x="742950" y="37433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Discuss a topic through successive</a:t>
            </a:r>
          </a:p>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questions. Each reply uses the</a:t>
            </a:r>
          </a:p>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previous conversation.</a:t>
            </a:r>
          </a:p>
        </p:txBody>
      </p:sp>
      <p:sp>
        <p:nvSpPr>
          <p:cNvPr id="6" name="">
            <a:extLst xmlns:a="http://schemas.openxmlformats.org/drawingml/2006/main">
              <a:ext uri="{FF2B5EF4-FFF2-40B4-BE49-F238E27FC236}">
                <a16:creationId xmlns:a16="http://schemas.microsoft.com/office/drawing/2014/main" id="{ED401F0E-CF45-413D-A70A-9BF389C8CE3B}"/>
              </a:ext>
            </a:extLst>
          </p:cNvPr>
          <p:cNvSpPr>
            <a:spLocks xmlns:a="http://schemas.openxmlformats.org/drawingml/2006/main" noGrp="1"/>
          </p:cNvSpPr>
          <p:nvPr/>
        </p:nvSpPr>
        <p:spPr>
          <a:xfrm xmlns:a="http://schemas.openxmlformats.org/drawingml/2006/main">
            <a:off x="742950" y="53530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97718"/>
                </a:solidFill>
                <a:latin typeface="Arial"/>
                <a:ea typeface="Arial"/>
                <a:cs typeface="Arial"/>
              </a:defRPr>
            </a:pPr>
            <a:r>
              <a:rPr sz="1875" b="1">
                <a:solidFill>
                  <a:srgbClr val="397718"/>
                </a:solidFill>
                <a:latin typeface="Arial"/>
                <a:ea typeface="Arial"/>
                <a:cs typeface="Arial"/>
              </a:rPr>
              <a:t>Example topic: Why do objects float?</a:t>
            </a:r>
          </a:p>
        </p:txBody>
      </p:sp>
      <p:sp>
        <p:nvSpPr>
          <p:cNvPr id="7" name="">
            <a:extLst xmlns:a="http://schemas.openxmlformats.org/drawingml/2006/main">
              <a:ext uri="{FF2B5EF4-FFF2-40B4-BE49-F238E27FC236}">
                <a16:creationId xmlns:a16="http://schemas.microsoft.com/office/drawing/2014/main" id="{57D8FDF0-DD92-4EC0-A255-BA1D0129088E}"/>
              </a:ext>
            </a:extLst>
          </p:cNvPr>
          <p:cNvSpPr>
            <a:spLocks xmlns:a="http://schemas.openxmlformats.org/drawingml/2006/main" noGrp="1"/>
          </p:cNvSpPr>
          <p:nvPr/>
        </p:nvSpPr>
        <p:spPr>
          <a:xfrm xmlns:a="http://schemas.openxmlformats.org/drawingml/2006/main">
            <a:off x="6629400" y="21336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97718"/>
                </a:solidFill>
                <a:latin typeface="Arial"/>
                <a:ea typeface="Arial"/>
                <a:cs typeface="Arial"/>
              </a:defRPr>
            </a:pPr>
            <a:r>
              <a:rPr sz="1650" b="1">
                <a:solidFill>
                  <a:srgbClr val="397718"/>
                </a:solidFill>
                <a:latin typeface="Arial"/>
                <a:ea typeface="Arial"/>
                <a:cs typeface="Arial"/>
              </a:rPr>
              <a:t>Menu 30</a:t>
            </a:r>
          </a:p>
        </p:txBody>
      </p:sp>
      <p:sp>
        <p:nvSpPr>
          <p:cNvPr id="8" name="">
            <a:extLst xmlns:a="http://schemas.openxmlformats.org/drawingml/2006/main">
              <a:ext uri="{FF2B5EF4-FFF2-40B4-BE49-F238E27FC236}">
                <a16:creationId xmlns:a16="http://schemas.microsoft.com/office/drawing/2014/main" id="{A6C12A4C-6DAF-45CB-9B52-BF958DFF65BC}"/>
              </a:ext>
            </a:extLst>
          </p:cNvPr>
          <p:cNvSpPr>
            <a:spLocks xmlns:a="http://schemas.openxmlformats.org/drawingml/2006/main" noGrp="1"/>
          </p:cNvSpPr>
          <p:nvPr/>
        </p:nvSpPr>
        <p:spPr>
          <a:xfrm xmlns:a="http://schemas.openxmlformats.org/drawingml/2006/main">
            <a:off x="6629400" y="26860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9332A"/>
                </a:solidFill>
                <a:latin typeface="Arial"/>
                <a:ea typeface="Arial"/>
                <a:cs typeface="Arial"/>
              </a:defRPr>
            </a:pPr>
            <a:r>
              <a:rPr sz="2850" b="1">
                <a:solidFill>
                  <a:srgbClr val="19332A"/>
                </a:solidFill>
                <a:latin typeface="Arial"/>
                <a:ea typeface="Arial"/>
                <a:cs typeface="Arial"/>
              </a:rPr>
              <a:t>Mystery Character</a:t>
            </a:r>
          </a:p>
          <a:p xmlns:a="http://schemas.openxmlformats.org/drawingml/2006/main">
            <a:pPr>
              <a:defRPr sz="2850" b="1">
                <a:solidFill>
                  <a:srgbClr val="19332A"/>
                </a:solidFill>
                <a:latin typeface="Arial"/>
                <a:ea typeface="Arial"/>
                <a:cs typeface="Arial"/>
              </a:defRPr>
            </a:pPr>
            <a:r>
              <a:rPr sz="2850" b="1">
                <a:solidFill>
                  <a:srgbClr val="19332A"/>
                </a:solidFill>
                <a:latin typeface="Arial"/>
                <a:ea typeface="Arial"/>
                <a:cs typeface="Arial"/>
              </a:rPr>
              <a:t>Interview</a:t>
            </a:r>
          </a:p>
        </p:txBody>
      </p:sp>
      <p:sp>
        <p:nvSpPr>
          <p:cNvPr id="9" name="">
            <a:extLst xmlns:a="http://schemas.openxmlformats.org/drawingml/2006/main">
              <a:ext uri="{FF2B5EF4-FFF2-40B4-BE49-F238E27FC236}">
                <a16:creationId xmlns:a16="http://schemas.microsoft.com/office/drawing/2014/main" id="{FAE7DF16-2C10-4EAB-89DC-E4630584C3EC}"/>
              </a:ext>
            </a:extLst>
          </p:cNvPr>
          <p:cNvSpPr>
            <a:spLocks xmlns:a="http://schemas.openxmlformats.org/drawingml/2006/main" noGrp="1"/>
          </p:cNvSpPr>
          <p:nvPr/>
        </p:nvSpPr>
        <p:spPr>
          <a:xfrm xmlns:a="http://schemas.openxmlformats.org/drawingml/2006/main">
            <a:off x="6657975" y="3895725"/>
            <a:ext cx="4857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Ask a fictional character questions</a:t>
            </a:r>
          </a:p>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and use the answers to identify</a:t>
            </a:r>
          </a:p>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their profession.</a:t>
            </a:r>
          </a:p>
        </p:txBody>
      </p:sp>
      <p:sp>
        <p:nvSpPr>
          <p:cNvPr id="10" name="">
            <a:extLst xmlns:a="http://schemas.openxmlformats.org/drawingml/2006/main">
              <a:ext uri="{FF2B5EF4-FFF2-40B4-BE49-F238E27FC236}">
                <a16:creationId xmlns:a16="http://schemas.microsoft.com/office/drawing/2014/main" id="{B88BFAB4-04E5-4039-8DF7-32CF2FA641D2}"/>
              </a:ext>
            </a:extLst>
          </p:cNvPr>
          <p:cNvSpPr>
            <a:spLocks xmlns:a="http://schemas.openxmlformats.org/drawingml/2006/main" noGrp="1"/>
          </p:cNvSpPr>
          <p:nvPr/>
        </p:nvSpPr>
        <p:spPr>
          <a:xfrm xmlns:a="http://schemas.openxmlformats.org/drawingml/2006/main">
            <a:off x="6657975" y="53530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97718"/>
                </a:solidFill>
                <a:latin typeface="Arial"/>
                <a:ea typeface="Arial"/>
                <a:cs typeface="Arial"/>
              </a:defRPr>
            </a:pPr>
            <a:r>
              <a:rPr sz="1875" b="1">
                <a:solidFill>
                  <a:srgbClr val="397718"/>
                </a:solidFill>
                <a:latin typeface="Arial"/>
                <a:ea typeface="Arial"/>
                <a:cs typeface="Arial"/>
              </a:rPr>
              <a:t>Use /guess followed by your answer.</a:t>
            </a:r>
          </a:p>
        </p:txBody>
      </p:sp>
    </p:spTree>
    <p:extLst>
      <p:ext uri="{BB962C8B-B14F-4D97-AF65-F5344CB8AC3E}">
        <p14:creationId xmlns:p14="http://schemas.microsoft.com/office/powerpoint/2010/main" val="2615065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3BF914D-8325-482A-896F-AC665794C31C}"/>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Tools and Document Retrieval</a:t>
            </a:r>
          </a:p>
        </p:txBody>
      </p:sp>
      <p:sp>
        <p:nvSpPr>
          <p:cNvPr id="2" name="">
            <a:extLst xmlns:a="http://schemas.openxmlformats.org/drawingml/2006/main">
              <a:ext uri="{FF2B5EF4-FFF2-40B4-BE49-F238E27FC236}">
                <a16:creationId xmlns:a16="http://schemas.microsoft.com/office/drawing/2014/main" id="{6B286F56-7B2C-44A9-BC3E-031452F8BAE2}"/>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04</a:t>
            </a:r>
          </a:p>
        </p:txBody>
      </p:sp>
      <p:graphicFrame>
        <p:nvGraphicFramePr>
          <p:cNvPr id="6" name=""/>
          <p:cNvGraphicFramePr/>
          <p:nvPr/>
        </p:nvGraphicFramePr>
        <p:xfrm>
          <a:off xmlns:a="http://schemas.openxmlformats.org/drawingml/2006/main" x="666750" y="2038350"/>
          <a:ext xmlns:a="http://schemas.openxmlformats.org/drawingml/2006/main" cx="10858500" cy="3857625"/>
        </p:xfrm>
        <a:graphic xmlns:a="http://schemas.openxmlformats.org/drawingml/2006/main">
          <a:graphicData uri="http://schemas.openxmlformats.org/drawingml/2006/table">
            <a:tbl>
              <a:tblPr firstRow="0" bandRow="0"/>
              <a:tblGrid>
                <a:gridCol w="809625"/>
                <a:gridCol w="4286250"/>
                <a:gridCol w="5762625"/>
              </a:tblGrid>
              <a:tr h="400050">
                <a:tc>
                  <a:txBody>
                    <a:bodyPr>
                      <a:noAutofit/>
                    </a:bodyPr>
                    <a:lstStyle/>
                    <a:p>
                      <a:r>
                        <a:rPr sz="1350" b="1">
                          <a:solidFill>
                            <a:srgbClr val="397718"/>
                          </a:solidFill>
                          <a:latin typeface="Arial"/>
                          <a:ea typeface="Arial"/>
                          <a:cs typeface="Arial"/>
                        </a:rPr>
                        <a:t>MENU</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EXPERIMENT</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FUNCTION</a:t>
                      </a:r>
                    </a:p>
                  </a:txBody>
                  <a:tcPr marL="95250" marR="95250" marT="38100" marB="38100">
                    <a:solidFill>
                      <a:srgbClr val="EFF6E9"/>
                    </a:solidFill>
                  </a:tcPr>
                </a:tc>
              </a:tr>
              <a:tr h="691515">
                <a:tc>
                  <a:txBody>
                    <a:bodyPr>
                      <a:noAutofit/>
                    </a:bodyPr>
                    <a:lstStyle/>
                    <a:p>
                      <a:r>
                        <a:rPr sz="1725" b="1">
                          <a:solidFill>
                            <a:srgbClr val="397718"/>
                          </a:solidFill>
                          <a:latin typeface="Arial"/>
                          <a:ea typeface="Arial"/>
                          <a:cs typeface="Arial"/>
                        </a:rPr>
                        <a:t>15</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Mission Control: Tool-Planning Assistant</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Select read-only tools and summarize the returned data.</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16</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Document Detective: Answers with Evidence</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Answer questions from retrieved exhibit passages.</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9</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Persistent Memory Assistant</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Save explicit facts and retrieve them in later sessions.</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8</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Class Notes Retrieval and Grounded Answers</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Index text documents and generate answers from retrieved passages.</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3</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Offline Conversation Assistant</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Generate responses using the preceding conversation.</a:t>
                      </a:r>
                    </a:p>
                  </a:txBody>
                  <a:tcPr marL="95250" marR="95250" marT="38100" marB="38100">
                    <a:solidFill>
                      <a:srgbClr val="FFFFFF"/>
                    </a:solidFill>
                  </a:tcPr>
                </a:tc>
              </a:tr>
            </a:tbl>
          </a:graphicData>
        </a:graphic>
      </p:graphicFrame>
    </p:spTree>
    <p:extLst>
      <p:ext uri="{BB962C8B-B14F-4D97-AF65-F5344CB8AC3E}">
        <p14:creationId xmlns:p14="http://schemas.microsoft.com/office/powerpoint/2010/main" val="701202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C3B22B7-B805-4ADA-83C5-51E019022A13}"/>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Tokenization and Generation</a:t>
            </a:r>
          </a:p>
        </p:txBody>
      </p:sp>
      <p:sp>
        <p:nvSpPr>
          <p:cNvPr id="2" name="">
            <a:extLst xmlns:a="http://schemas.openxmlformats.org/drawingml/2006/main">
              <a:ext uri="{FF2B5EF4-FFF2-40B4-BE49-F238E27FC236}">
                <a16:creationId xmlns:a16="http://schemas.microsoft.com/office/drawing/2014/main" id="{66D60612-F7EC-4B17-8395-FCC44F17CB72}"/>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05</a:t>
            </a:r>
          </a:p>
        </p:txBody>
      </p:sp>
      <p:graphicFrame>
        <p:nvGraphicFramePr>
          <p:cNvPr id="6" name=""/>
          <p:cNvGraphicFramePr/>
          <p:nvPr/>
        </p:nvGraphicFramePr>
        <p:xfrm>
          <a:off xmlns:a="http://schemas.openxmlformats.org/drawingml/2006/main" x="666750" y="1962150"/>
          <a:ext xmlns:a="http://schemas.openxmlformats.org/drawingml/2006/main" cx="10858500" cy="4019550"/>
        </p:xfrm>
        <a:graphic xmlns:a="http://schemas.openxmlformats.org/drawingml/2006/main">
          <a:graphicData uri="http://schemas.openxmlformats.org/drawingml/2006/table">
            <a:tbl>
              <a:tblPr firstRow="0" bandRow="0"/>
              <a:tblGrid>
                <a:gridCol w="809625"/>
                <a:gridCol w="4286250"/>
                <a:gridCol w="5762625"/>
              </a:tblGrid>
              <a:tr h="400050">
                <a:tc>
                  <a:txBody>
                    <a:bodyPr>
                      <a:noAutofit/>
                    </a:bodyPr>
                    <a:lstStyle/>
                    <a:p>
                      <a:r>
                        <a:rPr sz="1350" b="1">
                          <a:solidFill>
                            <a:srgbClr val="397718"/>
                          </a:solidFill>
                          <a:latin typeface="Arial"/>
                          <a:ea typeface="Arial"/>
                          <a:cs typeface="Arial"/>
                        </a:rPr>
                        <a:t>MENU</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EXPERIMENT</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FUNCTION</a:t>
                      </a:r>
                    </a:p>
                  </a:txBody>
                  <a:tcPr marL="95250" marR="95250" marT="38100" marB="38100">
                    <a:solidFill>
                      <a:srgbClr val="EFF6E9"/>
                    </a:solidFill>
                  </a:tcPr>
                </a:tc>
              </a:tr>
              <a:tr h="603250">
                <a:tc>
                  <a:txBody>
                    <a:bodyPr>
                      <a:noAutofit/>
                    </a:bodyPr>
                    <a:lstStyle/>
                    <a:p>
                      <a:r>
                        <a:rPr sz="1725" b="1">
                          <a:solidFill>
                            <a:srgbClr val="397718"/>
                          </a:solidFill>
                          <a:latin typeface="Arial"/>
                          <a:ea typeface="Arial"/>
                          <a:cs typeface="Arial"/>
                        </a:rPr>
                        <a:t>4</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Ask the Local Language Model</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Generate a response to a single prompt.</a:t>
                      </a:r>
                    </a:p>
                  </a:txBody>
                  <a:tcPr marL="95250" marR="95250" marT="38100" marB="38100">
                    <a:solidFill>
                      <a:srgbClr val="FFFFFF"/>
                    </a:solidFill>
                  </a:tcPr>
                </a:tc>
              </a:tr>
              <a:tr h="603250">
                <a:tc>
                  <a:txBody>
                    <a:bodyPr>
                      <a:noAutofit/>
                    </a:bodyPr>
                    <a:lstStyle/>
                    <a:p>
                      <a:r>
                        <a:rPr sz="1725" b="1">
                          <a:solidFill>
                            <a:srgbClr val="397718"/>
                          </a:solidFill>
                          <a:latin typeface="Arial"/>
                          <a:ea typeface="Arial"/>
                          <a:cs typeface="Arial"/>
                        </a:rPr>
                        <a:t>5</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Tokenization Microscope</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Inspect token IDs for text, code and symbols.</a:t>
                      </a:r>
                    </a:p>
                  </a:txBody>
                  <a:tcPr marL="95250" marR="95250" marT="38100" marB="38100">
                    <a:solidFill>
                      <a:srgbClr val="FFFFFF"/>
                    </a:solidFill>
                  </a:tcPr>
                </a:tc>
              </a:tr>
              <a:tr h="603250">
                <a:tc>
                  <a:txBody>
                    <a:bodyPr>
                      <a:noAutofit/>
                    </a:bodyPr>
                    <a:lstStyle/>
                    <a:p>
                      <a:r>
                        <a:rPr sz="1725" b="1">
                          <a:solidFill>
                            <a:srgbClr val="397718"/>
                          </a:solidFill>
                          <a:latin typeface="Arial"/>
                          <a:ea typeface="Arial"/>
                          <a:cs typeface="Arial"/>
                        </a:rPr>
                        <a:t>6</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Structured Information Extraction</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Turn text into constrained JSON fields.</a:t>
                      </a:r>
                    </a:p>
                  </a:txBody>
                  <a:tcPr marL="95250" marR="95250" marT="38100" marB="38100">
                    <a:solidFill>
                      <a:srgbClr val="FFFFFF"/>
                    </a:solidFill>
                  </a:tcPr>
                </a:tc>
              </a:tr>
              <a:tr h="603250">
                <a:tc>
                  <a:txBody>
                    <a:bodyPr>
                      <a:noAutofit/>
                    </a:bodyPr>
                    <a:lstStyle/>
                    <a:p>
                      <a:r>
                        <a:rPr sz="1725" b="1">
                          <a:solidFill>
                            <a:srgbClr val="397718"/>
                          </a:solidFill>
                          <a:latin typeface="Arial"/>
                          <a:ea typeface="Arial"/>
                          <a:cs typeface="Arial"/>
                        </a:rPr>
                        <a:t>14</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Sampling Playground</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Compare greedy output with two seeded creative samples.</a:t>
                      </a:r>
                    </a:p>
                  </a:txBody>
                  <a:tcPr marL="95250" marR="95250" marT="38100" marB="38100">
                    <a:solidFill>
                      <a:srgbClr val="FFFFFF"/>
                    </a:solidFill>
                  </a:tcPr>
                </a:tc>
              </a:tr>
              <a:tr h="603250">
                <a:tc>
                  <a:txBody>
                    <a:bodyPr>
                      <a:noAutofit/>
                    </a:bodyPr>
                    <a:lstStyle/>
                    <a:p>
                      <a:r>
                        <a:rPr sz="1725" b="1">
                          <a:solidFill>
                            <a:srgbClr val="397718"/>
                          </a:solidFill>
                          <a:latin typeface="Arial"/>
                          <a:ea typeface="Arial"/>
                          <a:cs typeface="Arial"/>
                        </a:rPr>
                        <a:t>22</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Prompt Design Studio</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Compare a minimal prompt with explicit audience instructions.</a:t>
                      </a:r>
                    </a:p>
                  </a:txBody>
                  <a:tcPr marL="95250" marR="95250" marT="38100" marB="38100">
                    <a:solidFill>
                      <a:srgbClr val="FFFFFF"/>
                    </a:solidFill>
                  </a:tcPr>
                </a:tc>
              </a:tr>
              <a:tr h="603250">
                <a:tc>
                  <a:txBody>
                    <a:bodyPr>
                      <a:noAutofit/>
                    </a:bodyPr>
                    <a:lstStyle/>
                    <a:p>
                      <a:r>
                        <a:rPr sz="1725" b="1">
                          <a:solidFill>
                            <a:srgbClr val="397718"/>
                          </a:solidFill>
                          <a:latin typeface="Arial"/>
                          <a:ea typeface="Arial"/>
                          <a:cs typeface="Arial"/>
                        </a:rPr>
                        <a:t>23</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Few-Shot Pattern Learner</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Compare classification with zero examples and four examples.</a:t>
                      </a:r>
                    </a:p>
                  </a:txBody>
                  <a:tcPr marL="95250" marR="95250" marT="38100" marB="38100">
                    <a:solidFill>
                      <a:srgbClr val="FFFFFF"/>
                    </a:solidFill>
                  </a:tcPr>
                </a:tc>
              </a:tr>
            </a:tbl>
          </a:graphicData>
        </a:graphic>
      </p:graphicFrame>
    </p:spTree>
    <p:extLst>
      <p:ext uri="{BB962C8B-B14F-4D97-AF65-F5344CB8AC3E}">
        <p14:creationId xmlns:p14="http://schemas.microsoft.com/office/powerpoint/2010/main" val="201638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609E92C-4A08-4F2A-B836-56706266AE52}"/>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Text Generation and Processing</a:t>
            </a:r>
          </a:p>
        </p:txBody>
      </p:sp>
      <p:sp>
        <p:nvSpPr>
          <p:cNvPr id="2" name="">
            <a:extLst xmlns:a="http://schemas.openxmlformats.org/drawingml/2006/main">
              <a:ext uri="{FF2B5EF4-FFF2-40B4-BE49-F238E27FC236}">
                <a16:creationId xmlns:a16="http://schemas.microsoft.com/office/drawing/2014/main" id="{232030A5-1109-4ECA-8FD4-5F3505EA50CF}"/>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06</a:t>
            </a:r>
          </a:p>
        </p:txBody>
      </p:sp>
      <p:graphicFrame>
        <p:nvGraphicFramePr>
          <p:cNvPr id="6" name=""/>
          <p:cNvGraphicFramePr/>
          <p:nvPr/>
        </p:nvGraphicFramePr>
        <p:xfrm>
          <a:off xmlns:a="http://schemas.openxmlformats.org/drawingml/2006/main" x="666750" y="2038350"/>
          <a:ext xmlns:a="http://schemas.openxmlformats.org/drawingml/2006/main" cx="10858500" cy="3857625"/>
        </p:xfrm>
        <a:graphic xmlns:a="http://schemas.openxmlformats.org/drawingml/2006/main">
          <a:graphicData uri="http://schemas.openxmlformats.org/drawingml/2006/table">
            <a:tbl>
              <a:tblPr firstRow="0" bandRow="0"/>
              <a:tblGrid>
                <a:gridCol w="809625"/>
                <a:gridCol w="4286250"/>
                <a:gridCol w="5762625"/>
              </a:tblGrid>
              <a:tr h="400050">
                <a:tc>
                  <a:txBody>
                    <a:bodyPr>
                      <a:noAutofit/>
                    </a:bodyPr>
                    <a:lstStyle/>
                    <a:p>
                      <a:r>
                        <a:rPr sz="1350" b="1">
                          <a:solidFill>
                            <a:srgbClr val="397718"/>
                          </a:solidFill>
                          <a:latin typeface="Arial"/>
                          <a:ea typeface="Arial"/>
                          <a:cs typeface="Arial"/>
                        </a:rPr>
                        <a:t>MENU</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EXPERIMENT</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FUNCTION</a:t>
                      </a:r>
                    </a:p>
                  </a:txBody>
                  <a:tcPr marL="95250" marR="95250" marT="38100" marB="38100">
                    <a:solidFill>
                      <a:srgbClr val="EFF6E9"/>
                    </a:solidFill>
                  </a:tcPr>
                </a:tc>
              </a:tr>
              <a:tr h="691515">
                <a:tc>
                  <a:txBody>
                    <a:bodyPr>
                      <a:noAutofit/>
                    </a:bodyPr>
                    <a:lstStyle/>
                    <a:p>
                      <a:r>
                        <a:rPr sz="1725" b="1">
                          <a:solidFill>
                            <a:srgbClr val="397718"/>
                          </a:solidFill>
                          <a:latin typeface="Arial"/>
                          <a:ea typeface="Arial"/>
                          <a:cs typeface="Arial"/>
                        </a:rPr>
                        <a:t>17</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Story Director: Audience-Controlled Fiction</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Generate a story and continue it using a supplied plot change.</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10</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TinyStories Generator</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Generate text with the TinyStories model.</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24</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Message Triage Desk</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Validate a model-proposed category before routing.</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25</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Summary Fact Checker</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Summarize a passage and compare it with a second model critique.</a:t>
                      </a:r>
                    </a:p>
                  </a:txBody>
                  <a:tcPr marL="95250" marR="95250" marT="38100" marB="38100">
                    <a:solidFill>
                      <a:srgbClr val="FFFFFF"/>
                    </a:solidFill>
                  </a:tcPr>
                </a:tc>
              </a:tr>
              <a:tr h="691515">
                <a:tc>
                  <a:txBody>
                    <a:bodyPr>
                      <a:noAutofit/>
                    </a:bodyPr>
                    <a:lstStyle/>
                    <a:p>
                      <a:r>
                        <a:rPr sz="1725" b="1">
                          <a:solidFill>
                            <a:srgbClr val="397718"/>
                          </a:solidFill>
                          <a:latin typeface="Arial"/>
                          <a:ea typeface="Arial"/>
                          <a:cs typeface="Arial"/>
                        </a:rPr>
                        <a:t>7</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Calculator Tool Assistant</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Evaluate a validated arithmetic expression using a calculator tool.</a:t>
                      </a:r>
                    </a:p>
                  </a:txBody>
                  <a:tcPr marL="95250" marR="95250" marT="38100" marB="38100">
                    <a:solidFill>
                      <a:srgbClr val="FFFFFF"/>
                    </a:solidFill>
                  </a:tcPr>
                </a:tc>
              </a:tr>
            </a:tbl>
          </a:graphicData>
        </a:graphic>
      </p:graphicFrame>
    </p:spTree>
    <p:extLst>
      <p:ext uri="{BB962C8B-B14F-4D97-AF65-F5344CB8AC3E}">
        <p14:creationId xmlns:p14="http://schemas.microsoft.com/office/powerpoint/2010/main" val="12149695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A89D95-701D-4948-824F-A8BCB336A2BA}"/>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Prompt Injection and Context</a:t>
            </a:r>
          </a:p>
        </p:txBody>
      </p:sp>
      <p:sp>
        <p:nvSpPr>
          <p:cNvPr id="2" name="">
            <a:extLst xmlns:a="http://schemas.openxmlformats.org/drawingml/2006/main">
              <a:ext uri="{FF2B5EF4-FFF2-40B4-BE49-F238E27FC236}">
                <a16:creationId xmlns:a16="http://schemas.microsoft.com/office/drawing/2014/main" id="{7270A4AC-2C52-41D1-B44D-23204D18E34A}"/>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85F08BB-E527-49E0-814F-1D4D95F04ACA}"/>
              </a:ext>
            </a:extLst>
          </p:cNvPr>
          <p:cNvSpPr>
            <a:spLocks xmlns:a="http://schemas.openxmlformats.org/drawingml/2006/main" noGrp="1"/>
          </p:cNvSpPr>
          <p:nvPr/>
        </p:nvSpPr>
        <p:spPr>
          <a:xfrm xmlns:a="http://schemas.openxmlformats.org/drawingml/2006/main">
            <a:off x="704850" y="21336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97718"/>
                </a:solidFill>
                <a:latin typeface="Arial"/>
                <a:ea typeface="Arial"/>
                <a:cs typeface="Arial"/>
              </a:defRPr>
            </a:pPr>
            <a:r>
              <a:rPr sz="1575" b="1">
                <a:solidFill>
                  <a:srgbClr val="397718"/>
                </a:solidFill>
                <a:latin typeface="Arial"/>
                <a:ea typeface="Arial"/>
                <a:cs typeface="Arial"/>
              </a:rPr>
              <a:t>Menu 26</a:t>
            </a:r>
          </a:p>
        </p:txBody>
      </p:sp>
      <p:sp>
        <p:nvSpPr>
          <p:cNvPr id="4" name="">
            <a:extLst xmlns:a="http://schemas.openxmlformats.org/drawingml/2006/main">
              <a:ext uri="{FF2B5EF4-FFF2-40B4-BE49-F238E27FC236}">
                <a16:creationId xmlns:a16="http://schemas.microsoft.com/office/drawing/2014/main" id="{14652289-B854-43E8-B9B5-6476167009FC}"/>
              </a:ext>
            </a:extLst>
          </p:cNvPr>
          <p:cNvSpPr>
            <a:spLocks xmlns:a="http://schemas.openxmlformats.org/drawingml/2006/main" noGrp="1"/>
          </p:cNvSpPr>
          <p:nvPr/>
        </p:nvSpPr>
        <p:spPr>
          <a:xfrm xmlns:a="http://schemas.openxmlformats.org/drawingml/2006/main">
            <a:off x="704850" y="2533650"/>
            <a:ext cx="1042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332A"/>
                </a:solidFill>
                <a:latin typeface="Arial"/>
                <a:ea typeface="Arial"/>
                <a:cs typeface="Arial"/>
              </a:defRPr>
            </a:pPr>
            <a:r>
              <a:rPr sz="2550" b="1">
                <a:solidFill>
                  <a:srgbClr val="19332A"/>
                </a:solidFill>
                <a:latin typeface="Arial"/>
                <a:ea typeface="Arial"/>
                <a:cs typeface="Arial"/>
              </a:rPr>
              <a:t>Prompt Injection Defense Lab</a:t>
            </a:r>
          </a:p>
        </p:txBody>
      </p:sp>
      <p:sp>
        <p:nvSpPr>
          <p:cNvPr id="5" name="">
            <a:extLst xmlns:a="http://schemas.openxmlformats.org/drawingml/2006/main">
              <a:ext uri="{FF2B5EF4-FFF2-40B4-BE49-F238E27FC236}">
                <a16:creationId xmlns:a16="http://schemas.microsoft.com/office/drawing/2014/main" id="{C61E6A3C-1B91-473C-89EF-FCAF8FB48589}"/>
              </a:ext>
            </a:extLst>
          </p:cNvPr>
          <p:cNvSpPr>
            <a:spLocks xmlns:a="http://schemas.openxmlformats.org/drawingml/2006/main" noGrp="1"/>
          </p:cNvSpPr>
          <p:nvPr/>
        </p:nvSpPr>
        <p:spPr>
          <a:xfrm xmlns:a="http://schemas.openxmlformats.org/drawingml/2006/main">
            <a:off x="733425" y="3028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35B"/>
                </a:solidFill>
                <a:latin typeface="Arial"/>
                <a:ea typeface="Arial"/>
                <a:cs typeface="Arial"/>
              </a:defRPr>
            </a:pPr>
            <a:r>
              <a:rPr sz="1875" b="0">
                <a:solidFill>
                  <a:srgbClr val="52635B"/>
                </a:solidFill>
                <a:latin typeface="Arial"/>
                <a:ea typeface="Arial"/>
                <a:cs typeface="Arial"/>
              </a:rPr>
              <a:t>Compare an injected document with and without instruction separation.</a:t>
            </a:r>
          </a:p>
        </p:txBody>
      </p:sp>
      <p:sp>
        <p:nvSpPr>
          <p:cNvPr id="6" name="">
            <a:extLst xmlns:a="http://schemas.openxmlformats.org/drawingml/2006/main">
              <a:ext uri="{FF2B5EF4-FFF2-40B4-BE49-F238E27FC236}">
                <a16:creationId xmlns:a16="http://schemas.microsoft.com/office/drawing/2014/main" id="{44344DAE-B22E-48AC-AF45-2F2E4939B0DD}"/>
              </a:ext>
            </a:extLst>
          </p:cNvPr>
          <p:cNvSpPr>
            <a:spLocks xmlns:a="http://schemas.openxmlformats.org/drawingml/2006/main" noGrp="1"/>
          </p:cNvSpPr>
          <p:nvPr/>
        </p:nvSpPr>
        <p:spPr>
          <a:xfrm xmlns:a="http://schemas.openxmlformats.org/drawingml/2006/main">
            <a:off x="704850" y="37433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397718"/>
                </a:solidFill>
                <a:latin typeface="Arial"/>
                <a:ea typeface="Arial"/>
                <a:cs typeface="Arial"/>
              </a:defRPr>
            </a:pPr>
            <a:r>
              <a:rPr sz="1575" b="1">
                <a:solidFill>
                  <a:srgbClr val="397718"/>
                </a:solidFill>
                <a:latin typeface="Arial"/>
                <a:ea typeface="Arial"/>
                <a:cs typeface="Arial"/>
              </a:rPr>
              <a:t>Menu 27</a:t>
            </a:r>
          </a:p>
        </p:txBody>
      </p:sp>
      <p:sp>
        <p:nvSpPr>
          <p:cNvPr id="7" name="">
            <a:extLst xmlns:a="http://schemas.openxmlformats.org/drawingml/2006/main">
              <a:ext uri="{FF2B5EF4-FFF2-40B4-BE49-F238E27FC236}">
                <a16:creationId xmlns:a16="http://schemas.microsoft.com/office/drawing/2014/main" id="{F4493DF7-DCBE-49AD-B690-AB17439F744E}"/>
              </a:ext>
            </a:extLst>
          </p:cNvPr>
          <p:cNvSpPr>
            <a:spLocks xmlns:a="http://schemas.openxmlformats.org/drawingml/2006/main" noGrp="1"/>
          </p:cNvSpPr>
          <p:nvPr/>
        </p:nvSpPr>
        <p:spPr>
          <a:xfrm xmlns:a="http://schemas.openxmlformats.org/drawingml/2006/main">
            <a:off x="704850" y="41243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332A"/>
                </a:solidFill>
                <a:latin typeface="Arial"/>
                <a:ea typeface="Arial"/>
                <a:cs typeface="Arial"/>
              </a:defRPr>
            </a:pPr>
            <a:r>
              <a:rPr sz="2550" b="1">
                <a:solidFill>
                  <a:srgbClr val="19332A"/>
                </a:solidFill>
                <a:latin typeface="Arial"/>
                <a:ea typeface="Arial"/>
                <a:cs typeface="Arial"/>
              </a:rPr>
              <a:t>Answer or Abstain: Hallucination Challenge</a:t>
            </a:r>
          </a:p>
        </p:txBody>
      </p:sp>
      <p:sp>
        <p:nvSpPr>
          <p:cNvPr id="8" name="">
            <a:extLst xmlns:a="http://schemas.openxmlformats.org/drawingml/2006/main">
              <a:ext uri="{FF2B5EF4-FFF2-40B4-BE49-F238E27FC236}">
                <a16:creationId xmlns:a16="http://schemas.microsoft.com/office/drawing/2014/main" id="{615E354F-CA01-449C-9A29-7A692578BEBA}"/>
              </a:ext>
            </a:extLst>
          </p:cNvPr>
          <p:cNvSpPr>
            <a:spLocks xmlns:a="http://schemas.openxmlformats.org/drawingml/2006/main" noGrp="1"/>
          </p:cNvSpPr>
          <p:nvPr/>
        </p:nvSpPr>
        <p:spPr>
          <a:xfrm xmlns:a="http://schemas.openxmlformats.org/drawingml/2006/main">
            <a:off x="733425" y="4610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35B"/>
                </a:solidFill>
                <a:latin typeface="Arial"/>
                <a:ea typeface="Arial"/>
                <a:cs typeface="Arial"/>
              </a:defRPr>
            </a:pPr>
            <a:r>
              <a:rPr sz="1875" b="0">
                <a:solidFill>
                  <a:srgbClr val="52635B"/>
                </a:solidFill>
                <a:latin typeface="Arial"/>
                <a:ea typeface="Arial"/>
                <a:cs typeface="Arial"/>
              </a:rPr>
              <a:t>Ask one answerable question and one whose answer is deliberately missing.</a:t>
            </a:r>
          </a:p>
        </p:txBody>
      </p:sp>
      <p:sp>
        <p:nvSpPr>
          <p:cNvPr id="9" name="">
            <a:extLst xmlns:a="http://schemas.openxmlformats.org/drawingml/2006/main">
              <a:ext uri="{FF2B5EF4-FFF2-40B4-BE49-F238E27FC236}">
                <a16:creationId xmlns:a16="http://schemas.microsoft.com/office/drawing/2014/main" id="{EB7A3841-FF8C-4E7B-B2D4-15B03607D213}"/>
              </a:ext>
            </a:extLst>
          </p:cNvPr>
          <p:cNvSpPr>
            <a:spLocks xmlns:a="http://schemas.openxmlformats.org/drawingml/2006/main" noGrp="1"/>
          </p:cNvSpPr>
          <p:nvPr/>
        </p:nvSpPr>
        <p:spPr>
          <a:xfrm xmlns:a="http://schemas.openxmlformats.org/drawingml/2006/main">
            <a:off x="714375" y="5381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332A"/>
                </a:solidFill>
                <a:latin typeface="Arial"/>
                <a:ea typeface="Arial"/>
                <a:cs typeface="Arial"/>
              </a:defRPr>
            </a:pPr>
            <a:r>
              <a:rPr sz="2100" b="1">
                <a:solidFill>
                  <a:srgbClr val="19332A"/>
                </a:solidFill>
                <a:latin typeface="Arial"/>
                <a:ea typeface="Arial"/>
                <a:cs typeface="Arial"/>
              </a:rPr>
              <a:t>Menu 28: Context Memory Challenge</a:t>
            </a:r>
          </a:p>
        </p:txBody>
      </p:sp>
      <p:sp>
        <p:nvSpPr>
          <p:cNvPr id="10" name="">
            <a:extLst xmlns:a="http://schemas.openxmlformats.org/drawingml/2006/main">
              <a:ext uri="{FF2B5EF4-FFF2-40B4-BE49-F238E27FC236}">
                <a16:creationId xmlns:a16="http://schemas.microsoft.com/office/drawing/2014/main" id="{48F46CC2-CA05-40AD-A18B-32FA627682FA}"/>
              </a:ext>
            </a:extLst>
          </p:cNvPr>
          <p:cNvSpPr>
            <a:spLocks xmlns:a="http://schemas.openxmlformats.org/drawingml/2006/main" noGrp="1"/>
          </p:cNvSpPr>
          <p:nvPr/>
        </p:nvSpPr>
        <p:spPr>
          <a:xfrm xmlns:a="http://schemas.openxmlformats.org/drawingml/2006/main">
            <a:off x="733425" y="57912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35B"/>
                </a:solidFill>
                <a:latin typeface="Arial"/>
                <a:ea typeface="Arial"/>
                <a:cs typeface="Arial"/>
              </a:defRPr>
            </a:pPr>
            <a:r>
              <a:rPr sz="1725" b="0">
                <a:solidFill>
                  <a:srgbClr val="52635B"/>
                </a:solidFill>
                <a:latin typeface="Arial"/>
                <a:ea typeface="Arial"/>
                <a:cs typeface="Arial"/>
              </a:rPr>
              <a:t>Recall the same fact as irrelevant context grows.</a:t>
            </a:r>
          </a:p>
        </p:txBody>
      </p:sp>
    </p:spTree>
    <p:extLst>
      <p:ext uri="{BB962C8B-B14F-4D97-AF65-F5344CB8AC3E}">
        <p14:creationId xmlns:p14="http://schemas.microsoft.com/office/powerpoint/2010/main" val="15618335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14484D-AF43-4B7F-963C-B19C2C969AAD}"/>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Camera Applications</a:t>
            </a:r>
          </a:p>
        </p:txBody>
      </p:sp>
      <p:sp>
        <p:nvSpPr>
          <p:cNvPr id="2" name="">
            <a:extLst xmlns:a="http://schemas.openxmlformats.org/drawingml/2006/main">
              <a:ext uri="{FF2B5EF4-FFF2-40B4-BE49-F238E27FC236}">
                <a16:creationId xmlns:a16="http://schemas.microsoft.com/office/drawing/2014/main" id="{6F3640AD-7C70-4E05-8B3E-83E6A1F1432F}"/>
              </a:ext>
            </a:extLst>
          </p:cNvPr>
          <p:cNvSpPr>
            <a:spLocks xmlns:a="http://schemas.openxmlformats.org/drawingml/2006/main" noGrp="1"/>
          </p:cNvSpPr>
          <p:nvPr/>
        </p:nvSpPr>
        <p:spPr>
          <a:xfrm xmlns:a="http://schemas.openxmlformats.org/drawingml/2006/main">
            <a:off x="666750" y="13335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35B"/>
                </a:solidFill>
                <a:latin typeface="Arial"/>
                <a:ea typeface="Arial"/>
                <a:cs typeface="Arial"/>
              </a:defRPr>
            </a:pPr>
            <a:r>
              <a:rPr sz="1950" b="0">
                <a:solidFill>
                  <a:srgbClr val="52635B"/>
                </a:solidFill>
                <a:latin typeface="Arial"/>
                <a:ea typeface="Arial"/>
                <a:cs typeface="Arial"/>
              </a:rPr>
              <a:t>Keep the camera fixed between observations.</a:t>
            </a:r>
          </a:p>
        </p:txBody>
      </p:sp>
      <p:sp>
        <p:nvSpPr>
          <p:cNvPr id="3" name="">
            <a:extLst xmlns:a="http://schemas.openxmlformats.org/drawingml/2006/main">
              <a:ext uri="{FF2B5EF4-FFF2-40B4-BE49-F238E27FC236}">
                <a16:creationId xmlns:a16="http://schemas.microsoft.com/office/drawing/2014/main" id="{D4758701-5A20-4D58-B494-1D742201667E}"/>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08</a:t>
            </a:r>
          </a:p>
        </p:txBody>
      </p:sp>
      <p:graphicFrame>
        <p:nvGraphicFramePr>
          <p:cNvPr id="9" name=""/>
          <p:cNvGraphicFramePr/>
          <p:nvPr/>
        </p:nvGraphicFramePr>
        <p:xfrm>
          <a:off xmlns:a="http://schemas.openxmlformats.org/drawingml/2006/main" x="666750" y="2114550"/>
          <a:ext xmlns:a="http://schemas.openxmlformats.org/drawingml/2006/main" cx="10858500" cy="3314700"/>
        </p:xfrm>
        <a:graphic xmlns:a="http://schemas.openxmlformats.org/drawingml/2006/main">
          <a:graphicData uri="http://schemas.openxmlformats.org/drawingml/2006/table">
            <a:tbl>
              <a:tblPr firstRow="0" bandRow="0"/>
              <a:tblGrid>
                <a:gridCol w="809625"/>
                <a:gridCol w="4286250"/>
                <a:gridCol w="5762625"/>
              </a:tblGrid>
              <a:tr h="400050">
                <a:tc>
                  <a:txBody>
                    <a:bodyPr>
                      <a:noAutofit/>
                    </a:bodyPr>
                    <a:lstStyle/>
                    <a:p>
                      <a:r>
                        <a:rPr sz="1350" b="1">
                          <a:solidFill>
                            <a:srgbClr val="397718"/>
                          </a:solidFill>
                          <a:latin typeface="Arial"/>
                          <a:ea typeface="Arial"/>
                          <a:cs typeface="Arial"/>
                        </a:rPr>
                        <a:t>MENU</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EXPERIMENT</a:t>
                      </a:r>
                    </a:p>
                  </a:txBody>
                  <a:tcPr marL="95250" marR="95250" marT="38100" marB="38100">
                    <a:solidFill>
                      <a:srgbClr val="EFF6E9"/>
                    </a:solidFill>
                  </a:tcPr>
                </a:tc>
                <a:tc>
                  <a:txBody>
                    <a:bodyPr>
                      <a:noAutofit/>
                    </a:bodyPr>
                    <a:lstStyle/>
                    <a:p>
                      <a:r>
                        <a:rPr sz="1350" b="1">
                          <a:solidFill>
                            <a:srgbClr val="19332A"/>
                          </a:solidFill>
                          <a:latin typeface="Arial"/>
                          <a:ea typeface="Arial"/>
                          <a:cs typeface="Arial"/>
                        </a:rPr>
                        <a:t>FUNCTION</a:t>
                      </a:r>
                    </a:p>
                  </a:txBody>
                  <a:tcPr marL="95250" marR="95250" marT="38100" marB="38100">
                    <a:solidFill>
                      <a:srgbClr val="EFF6E9"/>
                    </a:solidFill>
                  </a:tcPr>
                </a:tc>
              </a:tr>
              <a:tr h="728663">
                <a:tc>
                  <a:txBody>
                    <a:bodyPr>
                      <a:noAutofit/>
                    </a:bodyPr>
                    <a:lstStyle/>
                    <a:p>
                      <a:r>
                        <a:rPr sz="1725" b="1">
                          <a:solidFill>
                            <a:srgbClr val="397718"/>
                          </a:solidFill>
                          <a:latin typeface="Arial"/>
                          <a:ea typeface="Arial"/>
                          <a:cs typeface="Arial"/>
                        </a:rPr>
                        <a:t>18</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Scene Memory Detective</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Compare object classes, counts and positions across two observations.</a:t>
                      </a:r>
                    </a:p>
                  </a:txBody>
                  <a:tcPr marL="95250" marR="95250" marT="38100" marB="38100">
                    <a:solidFill>
                      <a:srgbClr val="FFFFFF"/>
                    </a:solidFill>
                  </a:tcPr>
                </a:tc>
              </a:tr>
              <a:tr h="728663">
                <a:tc>
                  <a:txBody>
                    <a:bodyPr>
                      <a:noAutofit/>
                    </a:bodyPr>
                    <a:lstStyle/>
                    <a:p>
                      <a:r>
                        <a:rPr sz="1725" b="1">
                          <a:solidFill>
                            <a:srgbClr val="397718"/>
                          </a:solidFill>
                          <a:latin typeface="Arial"/>
                          <a:ea typeface="Arial"/>
                          <a:cs typeface="Arial"/>
                        </a:rPr>
                        <a:t>19</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AI Visual Scavenger Hunt</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Generate an object-finding task and score detections against its targets.</a:t>
                      </a:r>
                    </a:p>
                  </a:txBody>
                  <a:tcPr marL="95250" marR="95250" marT="38100" marB="38100">
                    <a:solidFill>
                      <a:srgbClr val="FFFFFF"/>
                    </a:solidFill>
                  </a:tcPr>
                </a:tc>
              </a:tr>
              <a:tr h="728663">
                <a:tc>
                  <a:txBody>
                    <a:bodyPr>
                      <a:noAutofit/>
                    </a:bodyPr>
                    <a:lstStyle/>
                    <a:p>
                      <a:r>
                        <a:rPr sz="1725" b="1">
                          <a:solidFill>
                            <a:srgbClr val="397718"/>
                          </a:solidFill>
                          <a:latin typeface="Arial"/>
                          <a:ea typeface="Arial"/>
                          <a:cs typeface="Arial"/>
                        </a:rPr>
                        <a:t>20</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Camera Change Journal</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Record three observations and summarize the detected changes.</a:t>
                      </a:r>
                    </a:p>
                  </a:txBody>
                  <a:tcPr marL="95250" marR="95250" marT="38100" marB="38100">
                    <a:solidFill>
                      <a:srgbClr val="FFFFFF"/>
                    </a:solidFill>
                  </a:tcPr>
                </a:tc>
              </a:tr>
              <a:tr h="728663">
                <a:tc>
                  <a:txBody>
                    <a:bodyPr>
                      <a:noAutofit/>
                    </a:bodyPr>
                    <a:lstStyle/>
                    <a:p>
                      <a:r>
                        <a:rPr sz="1725" b="1">
                          <a:solidFill>
                            <a:srgbClr val="397718"/>
                          </a:solidFill>
                          <a:latin typeface="Arial"/>
                          <a:ea typeface="Arial"/>
                          <a:cs typeface="Arial"/>
                        </a:rPr>
                        <a:t>13</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Camera Perception Lab</a:t>
                      </a:r>
                    </a:p>
                  </a:txBody>
                  <a:tcPr marL="95250" marR="95250" marT="38100" marB="38100">
                    <a:solidFill>
                      <a:srgbClr val="FFFFFF"/>
                    </a:solidFill>
                  </a:tcPr>
                </a:tc>
                <a:tc>
                  <a:txBody>
                    <a:bodyPr>
                      <a:noAutofit/>
                    </a:bodyPr>
                    <a:lstStyle/>
                    <a:p>
                      <a:r>
                        <a:rPr sz="1725" b="0">
                          <a:solidFill>
                            <a:srgbClr val="19332A"/>
                          </a:solidFill>
                          <a:latin typeface="Arial"/>
                          <a:ea typeface="Arial"/>
                          <a:cs typeface="Arial"/>
                        </a:rPr>
                        <a:t>Run detection, classification, pose estimation or segmentation.</a:t>
                      </a:r>
                    </a:p>
                  </a:txBody>
                  <a:tcPr marL="95250" marR="95250" marT="38100" marB="381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BDE1D2B-5CD7-4206-9EB1-DF9CC34B74D8}"/>
              </a:ext>
            </a:extLst>
          </p:cNvPr>
          <p:cNvSpPr>
            <a:spLocks xmlns:a="http://schemas.openxmlformats.org/drawingml/2006/main" noGrp="1"/>
          </p:cNvSpPr>
          <p:nvPr/>
        </p:nvSpPr>
        <p:spPr>
          <a:xfrm xmlns:a="http://schemas.openxmlformats.org/drawingml/2006/main">
            <a:off x="723900" y="56578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35B"/>
                </a:solidFill>
                <a:latin typeface="Arial"/>
                <a:ea typeface="Arial"/>
                <a:cs typeface="Arial"/>
              </a:defRPr>
            </a:pPr>
            <a:r>
              <a:rPr sz="1875" b="0">
                <a:solidFill>
                  <a:srgbClr val="52635B"/>
                </a:solidFill>
                <a:latin typeface="Arial"/>
                <a:ea typeface="Arial"/>
                <a:cs typeface="Arial"/>
              </a:rPr>
              <a:t>Camera setup: menu 13, then install.</a:t>
            </a:r>
          </a:p>
        </p:txBody>
      </p:sp>
    </p:spTree>
    <p:extLst>
      <p:ext uri="{BB962C8B-B14F-4D97-AF65-F5344CB8AC3E}">
        <p14:creationId xmlns:p14="http://schemas.microsoft.com/office/powerpoint/2010/main" val="3576243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847DF4-805F-490F-940D-69D9BB4220CE}"/>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Performance and Evaluation</a:t>
            </a:r>
          </a:p>
        </p:txBody>
      </p:sp>
      <p:sp>
        <p:nvSpPr>
          <p:cNvPr id="2" name="">
            <a:extLst xmlns:a="http://schemas.openxmlformats.org/drawingml/2006/main">
              <a:ext uri="{FF2B5EF4-FFF2-40B4-BE49-F238E27FC236}">
                <a16:creationId xmlns:a16="http://schemas.microsoft.com/office/drawing/2014/main" id="{140CB928-978F-4D89-9BD3-1B354BD703D9}"/>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50F984B-ECE6-474C-9294-685F937C5C13}"/>
              </a:ext>
            </a:extLst>
          </p:cNvPr>
          <p:cNvSpPr>
            <a:spLocks xmlns:a="http://schemas.openxmlformats.org/drawingml/2006/main" noGrp="1"/>
          </p:cNvSpPr>
          <p:nvPr/>
        </p:nvSpPr>
        <p:spPr>
          <a:xfrm xmlns:a="http://schemas.openxmlformats.org/drawingml/2006/main">
            <a:off x="714375" y="22193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97718"/>
                </a:solidFill>
                <a:latin typeface="Arial"/>
                <a:ea typeface="Arial"/>
                <a:cs typeface="Arial"/>
              </a:defRPr>
            </a:pPr>
            <a:r>
              <a:rPr sz="1650" b="1">
                <a:solidFill>
                  <a:srgbClr val="397718"/>
                </a:solidFill>
                <a:latin typeface="Arial"/>
                <a:ea typeface="Arial"/>
                <a:cs typeface="Arial"/>
              </a:rPr>
              <a:t>Menu 11</a:t>
            </a:r>
          </a:p>
        </p:txBody>
      </p:sp>
      <p:sp>
        <p:nvSpPr>
          <p:cNvPr id="4" name="">
            <a:extLst xmlns:a="http://schemas.openxmlformats.org/drawingml/2006/main">
              <a:ext uri="{FF2B5EF4-FFF2-40B4-BE49-F238E27FC236}">
                <a16:creationId xmlns:a16="http://schemas.microsoft.com/office/drawing/2014/main" id="{E62E4DED-969C-4F26-B420-E6E6EA6C9C1E}"/>
              </a:ext>
            </a:extLst>
          </p:cNvPr>
          <p:cNvSpPr>
            <a:spLocks xmlns:a="http://schemas.openxmlformats.org/drawingml/2006/main" noGrp="1"/>
          </p:cNvSpPr>
          <p:nvPr/>
        </p:nvSpPr>
        <p:spPr>
          <a:xfrm xmlns:a="http://schemas.openxmlformats.org/drawingml/2006/main">
            <a:off x="714375" y="27146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9332A"/>
                </a:solidFill>
                <a:latin typeface="Arial"/>
                <a:ea typeface="Arial"/>
                <a:cs typeface="Arial"/>
              </a:defRPr>
            </a:pPr>
            <a:r>
              <a:rPr sz="2625" b="1">
                <a:solidFill>
                  <a:srgbClr val="19332A"/>
                </a:solidFill>
                <a:latin typeface="Arial"/>
                <a:ea typeface="Arial"/>
                <a:cs typeface="Arial"/>
              </a:rPr>
              <a:t>Language Model</a:t>
            </a:r>
          </a:p>
          <a:p xmlns:a="http://schemas.openxmlformats.org/drawingml/2006/main">
            <a:pPr>
              <a:defRPr sz="2625" b="1">
                <a:solidFill>
                  <a:srgbClr val="19332A"/>
                </a:solidFill>
                <a:latin typeface="Arial"/>
                <a:ea typeface="Arial"/>
                <a:cs typeface="Arial"/>
              </a:defRPr>
            </a:pPr>
            <a:r>
              <a:rPr sz="2625" b="1">
                <a:solidFill>
                  <a:srgbClr val="19332A"/>
                </a:solidFill>
                <a:latin typeface="Arial"/>
                <a:ea typeface="Arial"/>
                <a:cs typeface="Arial"/>
              </a:rPr>
              <a:t>Performance Benchmark</a:t>
            </a:r>
          </a:p>
        </p:txBody>
      </p:sp>
      <p:sp>
        <p:nvSpPr>
          <p:cNvPr id="5" name="">
            <a:extLst xmlns:a="http://schemas.openxmlformats.org/drawingml/2006/main">
              <a:ext uri="{FF2B5EF4-FFF2-40B4-BE49-F238E27FC236}">
                <a16:creationId xmlns:a16="http://schemas.microsoft.com/office/drawing/2014/main" id="{F005D8A6-9A4E-4801-A651-A6F8F7F4347E}"/>
              </a:ext>
            </a:extLst>
          </p:cNvPr>
          <p:cNvSpPr>
            <a:spLocks xmlns:a="http://schemas.openxmlformats.org/drawingml/2006/main" noGrp="1"/>
          </p:cNvSpPr>
          <p:nvPr/>
        </p:nvSpPr>
        <p:spPr>
          <a:xfrm xmlns:a="http://schemas.openxmlformats.org/drawingml/2006/main">
            <a:off x="733425" y="40386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35B"/>
                </a:solidFill>
                <a:latin typeface="Arial"/>
                <a:ea typeface="Arial"/>
                <a:cs typeface="Arial"/>
              </a:defRPr>
            </a:pPr>
            <a:r>
              <a:rPr sz="2025" b="0">
                <a:solidFill>
                  <a:srgbClr val="52635B"/>
                </a:solidFill>
                <a:latin typeface="Arial"/>
                <a:ea typeface="Arial"/>
                <a:cs typeface="Arial"/>
              </a:rPr>
              <a:t>Run the upstream model benchmark</a:t>
            </a:r>
          </a:p>
          <a:p xmlns:a="http://schemas.openxmlformats.org/drawingml/2006/main">
            <a:pPr>
              <a:defRPr sz="2025" b="0">
                <a:solidFill>
                  <a:srgbClr val="52635B"/>
                </a:solidFill>
                <a:latin typeface="Arial"/>
                <a:ea typeface="Arial"/>
                <a:cs typeface="Arial"/>
              </a:defRPr>
            </a:pPr>
            <a:r>
              <a:rPr sz="2025" b="0">
                <a:solidFill>
                  <a:srgbClr val="52635B"/>
                </a:solidFill>
                <a:latin typeface="Arial"/>
                <a:ea typeface="Arial"/>
                <a:cs typeface="Arial"/>
              </a:rPr>
              <a:t>and inspect its saved measurements.</a:t>
            </a:r>
          </a:p>
        </p:txBody>
      </p:sp>
      <p:sp>
        <p:nvSpPr>
          <p:cNvPr id="6" name="">
            <a:extLst xmlns:a="http://schemas.openxmlformats.org/drawingml/2006/main">
              <a:ext uri="{FF2B5EF4-FFF2-40B4-BE49-F238E27FC236}">
                <a16:creationId xmlns:a16="http://schemas.microsoft.com/office/drawing/2014/main" id="{1DDED668-2D72-4A57-A388-09DB00350FE9}"/>
              </a:ext>
            </a:extLst>
          </p:cNvPr>
          <p:cNvSpPr>
            <a:spLocks xmlns:a="http://schemas.openxmlformats.org/drawingml/2006/main" noGrp="1"/>
          </p:cNvSpPr>
          <p:nvPr/>
        </p:nvSpPr>
        <p:spPr>
          <a:xfrm xmlns:a="http://schemas.openxmlformats.org/drawingml/2006/main">
            <a:off x="6572250" y="22193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97718"/>
                </a:solidFill>
                <a:latin typeface="Arial"/>
                <a:ea typeface="Arial"/>
                <a:cs typeface="Arial"/>
              </a:defRPr>
            </a:pPr>
            <a:r>
              <a:rPr sz="1650" b="1">
                <a:solidFill>
                  <a:srgbClr val="397718"/>
                </a:solidFill>
                <a:latin typeface="Arial"/>
                <a:ea typeface="Arial"/>
                <a:cs typeface="Arial"/>
              </a:rPr>
              <a:t>Menu 12</a:t>
            </a:r>
          </a:p>
        </p:txBody>
      </p:sp>
      <p:sp>
        <p:nvSpPr>
          <p:cNvPr id="7" name="">
            <a:extLst xmlns:a="http://schemas.openxmlformats.org/drawingml/2006/main">
              <a:ext uri="{FF2B5EF4-FFF2-40B4-BE49-F238E27FC236}">
                <a16:creationId xmlns:a16="http://schemas.microsoft.com/office/drawing/2014/main" id="{C02DF85B-CCD4-45AF-931F-575882218103}"/>
              </a:ext>
            </a:extLst>
          </p:cNvPr>
          <p:cNvSpPr>
            <a:spLocks xmlns:a="http://schemas.openxmlformats.org/drawingml/2006/main" noGrp="1"/>
          </p:cNvSpPr>
          <p:nvPr/>
        </p:nvSpPr>
        <p:spPr>
          <a:xfrm xmlns:a="http://schemas.openxmlformats.org/drawingml/2006/main">
            <a:off x="6572250" y="2714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9332A"/>
                </a:solidFill>
                <a:latin typeface="Arial"/>
                <a:ea typeface="Arial"/>
                <a:cs typeface="Arial"/>
              </a:defRPr>
            </a:pPr>
            <a:r>
              <a:rPr sz="2625" b="1">
                <a:solidFill>
                  <a:srgbClr val="19332A"/>
                </a:solidFill>
                <a:latin typeface="Arial"/>
                <a:ea typeface="Arial"/>
                <a:cs typeface="Arial"/>
              </a:rPr>
              <a:t>Reproducible</a:t>
            </a:r>
          </a:p>
          <a:p xmlns:a="http://schemas.openxmlformats.org/drawingml/2006/main">
            <a:pPr>
              <a:defRPr sz="2625" b="1">
                <a:solidFill>
                  <a:srgbClr val="19332A"/>
                </a:solidFill>
                <a:latin typeface="Arial"/>
                <a:ea typeface="Arial"/>
                <a:cs typeface="Arial"/>
              </a:defRPr>
            </a:pPr>
            <a:r>
              <a:rPr sz="2625" b="1">
                <a:solidFill>
                  <a:srgbClr val="19332A"/>
                </a:solidFill>
                <a:latin typeface="Arial"/>
                <a:ea typeface="Arial"/>
                <a:cs typeface="Arial"/>
              </a:rPr>
              <a:t>Prompt Evaluation</a:t>
            </a:r>
          </a:p>
        </p:txBody>
      </p:sp>
      <p:sp>
        <p:nvSpPr>
          <p:cNvPr id="8" name="">
            <a:extLst xmlns:a="http://schemas.openxmlformats.org/drawingml/2006/main">
              <a:ext uri="{FF2B5EF4-FFF2-40B4-BE49-F238E27FC236}">
                <a16:creationId xmlns:a16="http://schemas.microsoft.com/office/drawing/2014/main" id="{4B519EAD-9509-4F4E-B0A2-822B64F3B501}"/>
              </a:ext>
            </a:extLst>
          </p:cNvPr>
          <p:cNvSpPr>
            <a:spLocks xmlns:a="http://schemas.openxmlformats.org/drawingml/2006/main" noGrp="1"/>
          </p:cNvSpPr>
          <p:nvPr/>
        </p:nvSpPr>
        <p:spPr>
          <a:xfrm xmlns:a="http://schemas.openxmlformats.org/drawingml/2006/main">
            <a:off x="6591300" y="403860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35B"/>
                </a:solidFill>
                <a:latin typeface="Arial"/>
                <a:ea typeface="Arial"/>
                <a:cs typeface="Arial"/>
              </a:defRPr>
            </a:pPr>
            <a:r>
              <a:rPr sz="2025" b="0">
                <a:solidFill>
                  <a:srgbClr val="52635B"/>
                </a:solidFill>
                <a:latin typeface="Arial"/>
                <a:ea typeface="Arial"/>
                <a:cs typeface="Arial"/>
              </a:rPr>
              <a:t>Supply JSONL questions and reference</a:t>
            </a:r>
          </a:p>
          <a:p xmlns:a="http://schemas.openxmlformats.org/drawingml/2006/main">
            <a:pPr>
              <a:defRPr sz="2025" b="0">
                <a:solidFill>
                  <a:srgbClr val="52635B"/>
                </a:solidFill>
                <a:latin typeface="Arial"/>
                <a:ea typeface="Arial"/>
                <a:cs typeface="Arial"/>
              </a:defRPr>
            </a:pPr>
            <a:r>
              <a:rPr sz="2025" b="0">
                <a:solidFill>
                  <a:srgbClr val="52635B"/>
                </a:solidFill>
                <a:latin typeface="Arial"/>
                <a:ea typeface="Arial"/>
                <a:cs typeface="Arial"/>
              </a:rPr>
              <a:t>answers. Inspect exact matches,</a:t>
            </a:r>
          </a:p>
          <a:p xmlns:a="http://schemas.openxmlformats.org/drawingml/2006/main">
            <a:pPr>
              <a:defRPr sz="2025" b="0">
                <a:solidFill>
                  <a:srgbClr val="52635B"/>
                </a:solidFill>
                <a:latin typeface="Arial"/>
                <a:ea typeface="Arial"/>
                <a:cs typeface="Arial"/>
              </a:defRPr>
            </a:pPr>
            <a:r>
              <a:rPr sz="2025" b="0">
                <a:solidFill>
                  <a:srgbClr val="52635B"/>
                </a:solidFill>
                <a:latin typeface="Arial"/>
                <a:ea typeface="Arial"/>
                <a:cs typeface="Arial"/>
              </a:rPr>
              <a:t>responses and latency.</a:t>
            </a:r>
          </a:p>
        </p:txBody>
      </p:sp>
    </p:spTree>
    <p:extLst>
      <p:ext uri="{BB962C8B-B14F-4D97-AF65-F5344CB8AC3E}">
        <p14:creationId xmlns:p14="http://schemas.microsoft.com/office/powerpoint/2010/main" val="101238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4A2950-9D62-4123-A4D0-1EBB216DAEC6}"/>
              </a:ext>
            </a:extLst>
          </p:cNvPr>
          <p:cNvSpPr>
            <a:spLocks xmlns:a="http://schemas.openxmlformats.org/drawingml/2006/main" noGrp="1"/>
          </p:cNvSpPr>
          <p:nvPr/>
        </p:nvSpPr>
        <p:spPr>
          <a:xfrm xmlns:a="http://schemas.openxmlformats.org/drawingml/2006/main">
            <a:off x="628650" y="4572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332A"/>
                </a:solidFill>
                <a:latin typeface="Arial"/>
                <a:ea typeface="Arial"/>
                <a:cs typeface="Arial"/>
              </a:defRPr>
            </a:pPr>
            <a:r>
              <a:rPr sz="3600" b="1">
                <a:solidFill>
                  <a:srgbClr val="19332A"/>
                </a:solidFill>
                <a:latin typeface="Arial"/>
                <a:ea typeface="Arial"/>
                <a:cs typeface="Arial"/>
              </a:rPr>
              <a:t>Menu Controls</a:t>
            </a:r>
          </a:p>
        </p:txBody>
      </p:sp>
      <p:sp>
        <p:nvSpPr>
          <p:cNvPr id="2" name="">
            <a:extLst xmlns:a="http://schemas.openxmlformats.org/drawingml/2006/main">
              <a:ext uri="{FF2B5EF4-FFF2-40B4-BE49-F238E27FC236}">
                <a16:creationId xmlns:a16="http://schemas.microsoft.com/office/drawing/2014/main" id="{0283958C-2EA1-45A1-88EA-3324D6E9FC44}"/>
              </a:ext>
            </a:extLst>
          </p:cNvPr>
          <p:cNvSpPr>
            <a:spLocks xmlns:a="http://schemas.openxmlformats.org/drawingml/2006/main" noGrp="1"/>
          </p:cNvSpPr>
          <p:nvPr/>
        </p:nvSpPr>
        <p:spPr>
          <a:xfrm xmlns:a="http://schemas.openxmlformats.org/drawingml/2006/main">
            <a:off x="11182350" y="62007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97718"/>
                </a:solidFill>
                <a:latin typeface="Arial"/>
                <a:ea typeface="Arial"/>
                <a:cs typeface="Arial"/>
              </a:defRPr>
            </a:pPr>
            <a:r>
              <a:rPr sz="1350" b="1">
                <a:solidFill>
                  <a:srgbClr val="39771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E710248-A880-459C-B7D8-311EEC2CFC61}"/>
              </a:ext>
            </a:extLst>
          </p:cNvPr>
          <p:cNvSpPr>
            <a:spLocks xmlns:a="http://schemas.openxmlformats.org/drawingml/2006/main" noGrp="1"/>
          </p:cNvSpPr>
          <p:nvPr/>
        </p:nvSpPr>
        <p:spPr>
          <a:xfrm xmlns:a="http://schemas.openxmlformats.org/drawingml/2006/main">
            <a:off x="714375" y="2095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32A"/>
                </a:solidFill>
                <a:latin typeface="Arial"/>
                <a:ea typeface="Arial"/>
                <a:cs typeface="Arial"/>
              </a:defRPr>
            </a:pPr>
            <a:r>
              <a:rPr sz="2400" b="1">
                <a:solidFill>
                  <a:srgbClr val="19332A"/>
                </a:solidFill>
                <a:latin typeface="Arial"/>
                <a:ea typeface="Arial"/>
                <a:cs typeface="Arial"/>
              </a:rPr>
              <a:t>Run</a:t>
            </a:r>
          </a:p>
        </p:txBody>
      </p:sp>
      <p:sp>
        <p:nvSpPr>
          <p:cNvPr id="4" name="">
            <a:extLst xmlns:a="http://schemas.openxmlformats.org/drawingml/2006/main">
              <a:ext uri="{FF2B5EF4-FFF2-40B4-BE49-F238E27FC236}">
                <a16:creationId xmlns:a16="http://schemas.microsoft.com/office/drawing/2014/main" id="{A119ED20-7498-4513-9BFB-F42F2EBF7790}"/>
              </a:ext>
            </a:extLst>
          </p:cNvPr>
          <p:cNvSpPr>
            <a:spLocks xmlns:a="http://schemas.openxmlformats.org/drawingml/2006/main" noGrp="1"/>
          </p:cNvSpPr>
          <p:nvPr/>
        </p:nvSpPr>
        <p:spPr>
          <a:xfrm xmlns:a="http://schemas.openxmlformats.org/drawingml/2006/main">
            <a:off x="3429000" y="2114550"/>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Enter the experiment number.</a:t>
            </a:r>
          </a:p>
        </p:txBody>
      </p:sp>
      <p:sp>
        <p:nvSpPr>
          <p:cNvPr id="5" name="">
            <a:extLst xmlns:a="http://schemas.openxmlformats.org/drawingml/2006/main">
              <a:ext uri="{FF2B5EF4-FFF2-40B4-BE49-F238E27FC236}">
                <a16:creationId xmlns:a16="http://schemas.microsoft.com/office/drawing/2014/main" id="{F858729D-5EE4-49F9-84A4-499DB83BDC33}"/>
              </a:ext>
            </a:extLst>
          </p:cNvPr>
          <p:cNvSpPr>
            <a:spLocks xmlns:a="http://schemas.openxmlformats.org/drawingml/2006/main" noGrp="1"/>
          </p:cNvSpPr>
          <p:nvPr/>
        </p:nvSpPr>
        <p:spPr>
          <a:xfrm xmlns:a="http://schemas.openxmlformats.org/drawingml/2006/main">
            <a:off x="714375" y="3048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32A"/>
                </a:solidFill>
                <a:latin typeface="Arial"/>
                <a:ea typeface="Arial"/>
                <a:cs typeface="Arial"/>
              </a:defRPr>
            </a:pPr>
            <a:r>
              <a:rPr sz="2400" b="1">
                <a:solidFill>
                  <a:srgbClr val="19332A"/>
                </a:solidFill>
                <a:latin typeface="Arial"/>
                <a:ea typeface="Arial"/>
                <a:cs typeface="Arial"/>
              </a:rPr>
              <a:t>Cancel</a:t>
            </a:r>
          </a:p>
        </p:txBody>
      </p:sp>
      <p:sp>
        <p:nvSpPr>
          <p:cNvPr id="6" name="">
            <a:extLst xmlns:a="http://schemas.openxmlformats.org/drawingml/2006/main">
              <a:ext uri="{FF2B5EF4-FFF2-40B4-BE49-F238E27FC236}">
                <a16:creationId xmlns:a16="http://schemas.microsoft.com/office/drawing/2014/main" id="{4737F967-45C1-4BBD-92B1-56325A80786C}"/>
              </a:ext>
            </a:extLst>
          </p:cNvPr>
          <p:cNvSpPr>
            <a:spLocks xmlns:a="http://schemas.openxmlformats.org/drawingml/2006/main" noGrp="1"/>
          </p:cNvSpPr>
          <p:nvPr/>
        </p:nvSpPr>
        <p:spPr>
          <a:xfrm xmlns:a="http://schemas.openxmlformats.org/drawingml/2006/main">
            <a:off x="3429000" y="306705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Ctrl+C stops the active demo and returns to the menu.</a:t>
            </a:r>
          </a:p>
        </p:txBody>
      </p:sp>
      <p:sp>
        <p:nvSpPr>
          <p:cNvPr id="7" name="">
            <a:extLst xmlns:a="http://schemas.openxmlformats.org/drawingml/2006/main">
              <a:ext uri="{FF2B5EF4-FFF2-40B4-BE49-F238E27FC236}">
                <a16:creationId xmlns:a16="http://schemas.microsoft.com/office/drawing/2014/main" id="{08057652-AD49-4ED6-A493-1CCCF21F3D56}"/>
              </a:ext>
            </a:extLst>
          </p:cNvPr>
          <p:cNvSpPr>
            <a:spLocks xmlns:a="http://schemas.openxmlformats.org/drawingml/2006/main" noGrp="1"/>
          </p:cNvSpPr>
          <p:nvPr/>
        </p:nvSpPr>
        <p:spPr>
          <a:xfrm xmlns:a="http://schemas.openxmlformats.org/drawingml/2006/main">
            <a:off x="714375" y="4191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32A"/>
                </a:solidFill>
                <a:latin typeface="Arial"/>
                <a:ea typeface="Arial"/>
                <a:cs typeface="Arial"/>
              </a:defRPr>
            </a:pPr>
            <a:r>
              <a:rPr sz="2400" b="1">
                <a:solidFill>
                  <a:srgbClr val="19332A"/>
                </a:solidFill>
                <a:latin typeface="Arial"/>
                <a:ea typeface="Arial"/>
                <a:cs typeface="Arial"/>
              </a:rPr>
              <a:t>Exit</a:t>
            </a:r>
          </a:p>
        </p:txBody>
      </p:sp>
      <p:sp>
        <p:nvSpPr>
          <p:cNvPr id="8" name="">
            <a:extLst xmlns:a="http://schemas.openxmlformats.org/drawingml/2006/main">
              <a:ext uri="{FF2B5EF4-FFF2-40B4-BE49-F238E27FC236}">
                <a16:creationId xmlns:a16="http://schemas.microsoft.com/office/drawing/2014/main" id="{DA73CBB5-5680-4E43-A01B-9B7F20C6A7AA}"/>
              </a:ext>
            </a:extLst>
          </p:cNvPr>
          <p:cNvSpPr>
            <a:spLocks xmlns:a="http://schemas.openxmlformats.org/drawingml/2006/main" noGrp="1"/>
          </p:cNvSpPr>
          <p:nvPr/>
        </p:nvSpPr>
        <p:spPr>
          <a:xfrm xmlns:a="http://schemas.openxmlformats.org/drawingml/2006/main">
            <a:off x="3429000" y="4210050"/>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Enter 0.</a:t>
            </a:r>
          </a:p>
        </p:txBody>
      </p:sp>
      <p:sp>
        <p:nvSpPr>
          <p:cNvPr id="9" name="">
            <a:extLst xmlns:a="http://schemas.openxmlformats.org/drawingml/2006/main">
              <a:ext uri="{FF2B5EF4-FFF2-40B4-BE49-F238E27FC236}">
                <a16:creationId xmlns:a16="http://schemas.microsoft.com/office/drawing/2014/main" id="{6E6DAB77-5ED2-47E5-85FF-281BEB12D136}"/>
              </a:ext>
            </a:extLst>
          </p:cNvPr>
          <p:cNvSpPr>
            <a:spLocks xmlns:a="http://schemas.openxmlformats.org/drawingml/2006/main" noGrp="1"/>
          </p:cNvSpPr>
          <p:nvPr/>
        </p:nvSpPr>
        <p:spPr>
          <a:xfrm xmlns:a="http://schemas.openxmlformats.org/drawingml/2006/main">
            <a:off x="714375" y="5143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32A"/>
                </a:solidFill>
                <a:latin typeface="Arial"/>
                <a:ea typeface="Arial"/>
                <a:cs typeface="Arial"/>
              </a:defRPr>
            </a:pPr>
            <a:r>
              <a:rPr sz="2400" b="1">
                <a:solidFill>
                  <a:srgbClr val="19332A"/>
                </a:solidFill>
                <a:latin typeface="Arial"/>
                <a:ea typeface="Arial"/>
                <a:cs typeface="Arial"/>
              </a:rPr>
              <a:t>Sequence</a:t>
            </a:r>
          </a:p>
        </p:txBody>
      </p:sp>
      <p:sp>
        <p:nvSpPr>
          <p:cNvPr id="10" name="">
            <a:extLst xmlns:a="http://schemas.openxmlformats.org/drawingml/2006/main">
              <a:ext uri="{FF2B5EF4-FFF2-40B4-BE49-F238E27FC236}">
                <a16:creationId xmlns:a16="http://schemas.microsoft.com/office/drawing/2014/main" id="{ADB496BF-27A7-4FA3-A499-A40F905DFB7E}"/>
              </a:ext>
            </a:extLst>
          </p:cNvPr>
          <p:cNvSpPr>
            <a:spLocks xmlns:a="http://schemas.openxmlformats.org/drawingml/2006/main" noGrp="1"/>
          </p:cNvSpPr>
          <p:nvPr/>
        </p:nvSpPr>
        <p:spPr>
          <a:xfrm xmlns:a="http://schemas.openxmlformats.org/drawingml/2006/main">
            <a:off x="3429000" y="516255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B"/>
                </a:solidFill>
                <a:latin typeface="Arial"/>
                <a:ea typeface="Arial"/>
                <a:cs typeface="Arial"/>
              </a:defRPr>
            </a:pPr>
            <a:r>
              <a:rPr sz="2100" b="0">
                <a:solidFill>
                  <a:srgbClr val="52635B"/>
                </a:solidFill>
                <a:latin typeface="Arial"/>
                <a:ea typeface="Arial"/>
                <a:cs typeface="Arial"/>
              </a:rPr>
              <a:t>Enter 21 to run the prepared demonstrations.</a:t>
            </a:r>
          </a:p>
        </p:txBody>
      </p:sp>
    </p:spTree>
    <p:extLst>
      <p:ext uri="{BB962C8B-B14F-4D97-AF65-F5344CB8AC3E}">
        <p14:creationId xmlns:p14="http://schemas.microsoft.com/office/powerpoint/2010/main" val="751267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2026-09-23T15:39:31.8530000Z</dcterms:created>
  <dcterms:modified xsi:type="dcterms:W3CDTF">2026-09-23T15:39:31.8530000Z</dcterms:modified>
</coreProperties>
</file>