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1ecea5b3a9541ab" /><Relationship Type="http://schemas.openxmlformats.org/officeDocument/2006/relationships/extended-properties" Target="/docProps/app.xml" Id="R7f6af26a88fe47aa" /><Relationship Type="http://schemas.openxmlformats.org/officeDocument/2006/relationships/officeDocument" Target="/ppt/presentation.xml" Id="R98411a56bf0346e3" /></Relationships>
</file>

<file path=ppt/presentation.xml><?xml version="1.0" encoding="utf-8"?>
<p:presentation xmlns:p="http://schemas.openxmlformats.org/presentationml/2006/main">
  <p:sldMasterIdLst>
    <p:sldMasterId xmlns:r="http://schemas.openxmlformats.org/officeDocument/2006/relationships" id="2147483648" r:id="R8f1f77419b1441ae"/>
  </p:sldMasterIdLst>
  <p:notesMasterIdLst>
    <p:notesMasterId xmlns:r="http://schemas.openxmlformats.org/officeDocument/2006/relationships" r:id="R9cfc5cabd4ff48b5"/>
  </p:notesMasterIdLst>
  <p:sldIdLst>
    <p:sldId xmlns:r="http://schemas.openxmlformats.org/officeDocument/2006/relationships" id="256" r:id="Ree27db097d734db5"/>
    <p:sldId xmlns:r="http://schemas.openxmlformats.org/officeDocument/2006/relationships" id="257" r:id="R78959b4779f94b07"/>
    <p:sldId xmlns:r="http://schemas.openxmlformats.org/officeDocument/2006/relationships" id="258" r:id="Rde7f496ac0c14395"/>
    <p:sldId xmlns:r="http://schemas.openxmlformats.org/officeDocument/2006/relationships" id="259" r:id="R54e774a68c004e14"/>
    <p:sldId xmlns:r="http://schemas.openxmlformats.org/officeDocument/2006/relationships" id="260" r:id="Rb5a2d6d9a33b421d"/>
    <p:sldId xmlns:r="http://schemas.openxmlformats.org/officeDocument/2006/relationships" id="261" r:id="Rac6980f06c374dcd"/>
    <p:sldId xmlns:r="http://schemas.openxmlformats.org/officeDocument/2006/relationships" id="262" r:id="R86c90283679c44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47d1f2437a44d77" /><Relationship Type="http://schemas.openxmlformats.org/officeDocument/2006/relationships/slideMaster" Target="/ppt/slideMasters/slideMaster1.xml" Id="R8f1f77419b1441ae" /><Relationship Type="http://schemas.openxmlformats.org/officeDocument/2006/relationships/notesMaster" Target="/ppt/notesMasters/notesMaster1.xml" Id="R9cfc5cabd4ff48b5" /><Relationship Type="http://schemas.openxmlformats.org/officeDocument/2006/relationships/presProps" Target="/ppt/presProps.xml" Id="Rfdfdd282915943c1" /><Relationship Type="http://schemas.openxmlformats.org/officeDocument/2006/relationships/tableStyles" Target="/ppt/tableStyles.xml" Id="R173872ec27cd40e7" /><Relationship Type="http://schemas.openxmlformats.org/officeDocument/2006/relationships/slide" Target="/ppt/slides/slide1.xml" Id="Ree27db097d734db5" /><Relationship Type="http://schemas.openxmlformats.org/officeDocument/2006/relationships/slide" Target="/ppt/slides/slide2.xml" Id="R78959b4779f94b07" /><Relationship Type="http://schemas.openxmlformats.org/officeDocument/2006/relationships/slide" Target="/ppt/slides/slide3.xml" Id="Rde7f496ac0c14395" /><Relationship Type="http://schemas.openxmlformats.org/officeDocument/2006/relationships/slide" Target="/ppt/slides/slide4.xml" Id="R54e774a68c004e14" /><Relationship Type="http://schemas.openxmlformats.org/officeDocument/2006/relationships/slide" Target="/ppt/slides/slide5.xml" Id="Rb5a2d6d9a33b421d" /><Relationship Type="http://schemas.openxmlformats.org/officeDocument/2006/relationships/slide" Target="/ppt/slides/slide6.xml" Id="Rac6980f06c374dcd" /><Relationship Type="http://schemas.openxmlformats.org/officeDocument/2006/relationships/slide" Target="/ppt/slides/slide7.xml" Id="R86c90283679c44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a75b89d1ca47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6143cfb6a1406a" /><Relationship Type="http://schemas.openxmlformats.org/officeDocument/2006/relationships/notesMaster" Target="/ppt/notesMasters/notesMaster1.xml" Id="R00638fb8244547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77738c1a764410" /><Relationship Type="http://schemas.openxmlformats.org/officeDocument/2006/relationships/notesMaster" Target="/ppt/notesMasters/notesMaster1.xml" Id="Ra9e3899de45e4f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03cc635c0d4479" /><Relationship Type="http://schemas.openxmlformats.org/officeDocument/2006/relationships/notesMaster" Target="/ppt/notesMasters/notesMaster1.xml" Id="Re22cf6af1f8e46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113c164d7d4404" /><Relationship Type="http://schemas.openxmlformats.org/officeDocument/2006/relationships/notesMaster" Target="/ppt/notesMasters/notesMaster1.xml" Id="Rf6b66bff1f1f47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aa90d9441de410d" /><Relationship Type="http://schemas.openxmlformats.org/officeDocument/2006/relationships/notesMaster" Target="/ppt/notesMasters/notesMaster1.xml" Id="R0241bdd2ab8446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506408dec04d25" /><Relationship Type="http://schemas.openxmlformats.org/officeDocument/2006/relationships/notesMaster" Target="/ppt/notesMasters/notesMaster1.xml" Id="Rd8e71f22f11e47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8cbfcd53b9465a" /><Relationship Type="http://schemas.openxmlformats.org/officeDocument/2006/relationships/notesMaster" Target="/ppt/notesMasters/notesMaster1.xml" Id="R6ffb4bb86647400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Board configuration supplied by the user: L4T R32.7.6, CUDA 10.2, Python 3.11.3 and system Python 3.6.9. Camera bindings may use system Python. Image source: https://www.nvidia.com/en-us/autonomous-machines/embedded-systems/jetson-nano/product-development/ . Product reference photograph, not a photo of the user’s board.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labs/camera_tasks.py and CompactMenu in scripts/demo_menu.py. Quest targets come from a constrained COCO-label list. Code validates generated plans and scores detector observations. At most three scans. Detector and LLM run sequentially. This is a detector-plus-language-model application, not a trained vision-language-action robot policy. Physical Nano execution still needs rehearsal.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and menu: https://github.com/nileshsarkar-ai/JetsonNano-Demo/tree/master</a:t>
            </a:r>
          </a:p>
          <a:p xmlns:a="http://schemas.openxmlformats.org/drawingml/2006/main">
            <a:r>
              <a:t>Scope and names: docs/EXPERIMENTS.md. Presenter notes: Physical Nano execution unverified. Software tests use mocks. Models may hallucinate; prompt separation and self-critique are not security or accuracy guarantees. Check against visible source facts. Camera projects use object detections plus text generation, not a vision-language model. Default setup does not need audio or external training. Rehearse power, cooling, camera capture, latency and answer quality on the actual board. This is the current local programme, not the historical 72-topic idea catalogue.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8cdff348613447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e7941554fd48f1" /><Relationship Type="http://schemas.openxmlformats.org/officeDocument/2006/relationships/slideLayout" Target="/ppt/slideLayouts/slideLayout1.xml" Id="Ra66acb3724bb4bf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6acb3724bb4b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9a87b236c0b420e" /><Relationship Type="http://schemas.openxmlformats.org/officeDocument/2006/relationships/image" Target="/ppt/media/image.jpeg" Id="Rd1399ac78ee44f44" /><Relationship Type="http://schemas.openxmlformats.org/officeDocument/2006/relationships/notesSlide" Target="/ppt/notesSlides/notesSlide1.xml" Id="Rcf081888dded4d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c198a4a4c54eb8" /><Relationship Type="http://schemas.openxmlformats.org/officeDocument/2006/relationships/notesSlide" Target="/ppt/notesSlides/notesSlide2.xml" Id="R8ba92e197b9642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495e799839842f7" /><Relationship Type="http://schemas.openxmlformats.org/officeDocument/2006/relationships/notesSlide" Target="/ppt/notesSlides/notesSlide3.xml" Id="R96a45463ee3d47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5922bb900249a8" /><Relationship Type="http://schemas.openxmlformats.org/officeDocument/2006/relationships/notesSlide" Target="/ppt/notesSlides/notesSlide4.xml" Id="R506ec5540471478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e5660afd05a46c4" /><Relationship Type="http://schemas.openxmlformats.org/officeDocument/2006/relationships/notesSlide" Target="/ppt/notesSlides/notesSlide5.xml" Id="R2191481dcaf24e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2dd251bd0d44fb8" /><Relationship Type="http://schemas.openxmlformats.org/officeDocument/2006/relationships/notesSlide" Target="/ppt/notesSlides/notesSlide6.xml" Id="Rbf11cd67ca4a4c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dc6b91bc9294652" /><Relationship Type="http://schemas.openxmlformats.org/officeDocument/2006/relationships/notesSlide" Target="/ppt/notesSlides/notesSlide7.xml" Id="R61ca00d5c48245f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8BF824D-D129-4837-A225-703C0C1E866B}"/>
              </a:ext>
            </a:extLst>
          </p:cNvPr>
          <p:cNvSpPr>
            <a:spLocks xmlns:a="http://schemas.openxmlformats.org/drawingml/2006/main" noGrp="1"/>
          </p:cNvSpPr>
          <p:nvPr/>
        </p:nvSpPr>
        <p:spPr>
          <a:xfrm xmlns:a="http://schemas.openxmlformats.org/drawingml/2006/main">
            <a:off x="666750" y="1809750"/>
            <a:ext cx="619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19332A"/>
                </a:solidFill>
                <a:latin typeface="Arial"/>
                <a:ea typeface="Arial"/>
                <a:cs typeface="Arial"/>
              </a:defRPr>
            </a:pPr>
            <a:r>
              <a:rPr sz="4950" b="1">
                <a:solidFill>
                  <a:srgbClr val="19332A"/>
                </a:solidFill>
                <a:latin typeface="Arial"/>
                <a:ea typeface="Arial"/>
                <a:cs typeface="Arial"/>
              </a:rPr>
              <a:t>Local AI on</a:t>
            </a:r>
          </a:p>
          <a:p xmlns:a="http://schemas.openxmlformats.org/drawingml/2006/main">
            <a:pPr>
              <a:defRPr sz="4950" b="1">
                <a:solidFill>
                  <a:srgbClr val="19332A"/>
                </a:solidFill>
                <a:latin typeface="Arial"/>
                <a:ea typeface="Arial"/>
                <a:cs typeface="Arial"/>
              </a:defRPr>
            </a:pPr>
            <a:r>
              <a:rPr sz="4950" b="1">
                <a:solidFill>
                  <a:srgbClr val="19332A"/>
                </a:solidFill>
                <a:latin typeface="Arial"/>
                <a:ea typeface="Arial"/>
                <a:cs typeface="Arial"/>
              </a:rPr>
              <a:t>Jetson Nano</a:t>
            </a:r>
          </a:p>
        </p:txBody>
      </p:sp>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d1399ac78ee44f44"/>
          <a:stretch xmlns:a="http://schemas.openxmlformats.org/drawingml/2006/main"/>
        </p:blipFill>
        <p:spPr>
          <a:xfrm xmlns:a="http://schemas.openxmlformats.org/drawingml/2006/main">
            <a:off x="6096000" y="1980009"/>
            <a:ext cx="5524500" cy="3107531"/>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185CD49-713D-4B66-81E5-47B3D35AE1A5}"/>
              </a:ext>
            </a:extLst>
          </p:cNvPr>
          <p:cNvSpPr>
            <a:spLocks xmlns:a="http://schemas.openxmlformats.org/drawingml/2006/main" noGrp="1"/>
          </p:cNvSpPr>
          <p:nvPr/>
        </p:nvSpPr>
        <p:spPr>
          <a:xfrm xmlns:a="http://schemas.openxmlformats.org/drawingml/2006/main">
            <a:off x="733425" y="4229100"/>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Jetson Nano 4GB</a:t>
            </a:r>
          </a:p>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Ubuntu 18.04.6 / JetPack 4</a:t>
            </a:r>
          </a:p>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Python 3.11</a:t>
            </a:r>
          </a:p>
        </p:txBody>
      </p:sp>
    </p:spTree>
    <p:extLst>
      <p:ext uri="{BB962C8B-B14F-4D97-AF65-F5344CB8AC3E}">
        <p14:creationId xmlns:p14="http://schemas.microsoft.com/office/powerpoint/2010/main" val="19423018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90E4CF-B054-4C26-90C5-C7F87839298E}"/>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Setup</a:t>
            </a:r>
          </a:p>
        </p:txBody>
      </p:sp>
      <p:sp>
        <p:nvSpPr>
          <p:cNvPr id="2" name="">
            <a:extLst xmlns:a="http://schemas.openxmlformats.org/drawingml/2006/main">
              <a:ext uri="{FF2B5EF4-FFF2-40B4-BE49-F238E27FC236}">
                <a16:creationId xmlns:a16="http://schemas.microsoft.com/office/drawing/2014/main" id="{33540E8E-52C4-4CAC-86B6-798734FB0EB3}"/>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Run in a terminal on the Nano.</a:t>
            </a:r>
          </a:p>
        </p:txBody>
      </p:sp>
      <p:sp>
        <p:nvSpPr>
          <p:cNvPr id="3" name="">
            <a:extLst xmlns:a="http://schemas.openxmlformats.org/drawingml/2006/main">
              <a:ext uri="{FF2B5EF4-FFF2-40B4-BE49-F238E27FC236}">
                <a16:creationId xmlns:a16="http://schemas.microsoft.com/office/drawing/2014/main" id="{8420DD6D-7180-41FE-A06B-67E84EAB81AE}"/>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8DE78796-6B11-4B33-83FA-988354D87B72}"/>
              </a:ext>
            </a:extLst>
          </p:cNvPr>
          <p:cNvSpPr>
            <a:spLocks xmlns:a="http://schemas.openxmlformats.org/drawingml/2006/main" noGrp="1"/>
          </p:cNvSpPr>
          <p:nvPr/>
        </p:nvSpPr>
        <p:spPr>
          <a:xfrm xmlns:a="http://schemas.openxmlformats.org/drawingml/2006/main">
            <a:off x="723900" y="22383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9332A"/>
                </a:solidFill>
                <a:latin typeface="Courier New"/>
                <a:ea typeface="Courier New"/>
                <a:cs typeface="Courier New"/>
              </a:defRPr>
            </a:pPr>
            <a:r>
              <a:rPr sz="1800" b="0">
                <a:solidFill>
                  <a:srgbClr val="19332A"/>
                </a:solidFill>
                <a:latin typeface="Courier New"/>
                <a:ea typeface="Courier New"/>
                <a:cs typeface="Courier New"/>
              </a:rPr>
              <a:t>git clone https://github.com/nileshsarkar-ai/JetsonNano-Demo.git</a:t>
            </a:r>
          </a:p>
        </p:txBody>
      </p:sp>
      <p:sp>
        <p:nvSpPr>
          <p:cNvPr id="5" name="">
            <a:extLst xmlns:a="http://schemas.openxmlformats.org/drawingml/2006/main">
              <a:ext uri="{FF2B5EF4-FFF2-40B4-BE49-F238E27FC236}">
                <a16:creationId xmlns:a16="http://schemas.microsoft.com/office/drawing/2014/main" id="{9F769CE5-4228-4546-BF36-0553B0980724}"/>
              </a:ext>
            </a:extLst>
          </p:cNvPr>
          <p:cNvSpPr>
            <a:spLocks xmlns:a="http://schemas.openxmlformats.org/drawingml/2006/main" noGrp="1"/>
          </p:cNvSpPr>
          <p:nvPr/>
        </p:nvSpPr>
        <p:spPr>
          <a:xfrm xmlns:a="http://schemas.openxmlformats.org/drawingml/2006/main">
            <a:off x="723900" y="282892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Courier New"/>
                <a:ea typeface="Courier New"/>
                <a:cs typeface="Courier New"/>
              </a:defRPr>
            </a:pPr>
            <a:r>
              <a:rPr sz="2100" b="0">
                <a:solidFill>
                  <a:srgbClr val="19332A"/>
                </a:solidFill>
                <a:latin typeface="Courier New"/>
                <a:ea typeface="Courier New"/>
                <a:cs typeface="Courier New"/>
              </a:rPr>
              <a:t>cd JetsonNano-Demo</a:t>
            </a:r>
          </a:p>
        </p:txBody>
      </p:sp>
      <p:sp>
        <p:nvSpPr>
          <p:cNvPr id="6" name="">
            <a:extLst xmlns:a="http://schemas.openxmlformats.org/drawingml/2006/main">
              <a:ext uri="{FF2B5EF4-FFF2-40B4-BE49-F238E27FC236}">
                <a16:creationId xmlns:a16="http://schemas.microsoft.com/office/drawing/2014/main" id="{2CB2DA93-EF69-4479-983B-AAD3559B8328}"/>
              </a:ext>
            </a:extLst>
          </p:cNvPr>
          <p:cNvSpPr>
            <a:spLocks xmlns:a="http://schemas.openxmlformats.org/drawingml/2006/main" noGrp="1"/>
          </p:cNvSpPr>
          <p:nvPr/>
        </p:nvSpPr>
        <p:spPr>
          <a:xfrm xmlns:a="http://schemas.openxmlformats.org/drawingml/2006/main">
            <a:off x="723900" y="34194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Courier New"/>
                <a:ea typeface="Courier New"/>
                <a:cs typeface="Courier New"/>
              </a:defRPr>
            </a:pPr>
            <a:r>
              <a:rPr sz="2100" b="0">
                <a:solidFill>
                  <a:srgbClr val="19332A"/>
                </a:solidFill>
                <a:latin typeface="Courier New"/>
                <a:ea typeface="Courier New"/>
                <a:cs typeface="Courier New"/>
              </a:rPr>
              <a:t>bash scripts/run_demo.sh --storage</a:t>
            </a:r>
          </a:p>
        </p:txBody>
      </p:sp>
      <p:sp>
        <p:nvSpPr>
          <p:cNvPr id="7" name="">
            <a:extLst xmlns:a="http://schemas.openxmlformats.org/drawingml/2006/main">
              <a:ext uri="{FF2B5EF4-FFF2-40B4-BE49-F238E27FC236}">
                <a16:creationId xmlns:a16="http://schemas.microsoft.com/office/drawing/2014/main" id="{E5352B48-38E6-4DBF-9F9B-C11AC9E90182}"/>
              </a:ext>
            </a:extLst>
          </p:cNvPr>
          <p:cNvSpPr>
            <a:spLocks xmlns:a="http://schemas.openxmlformats.org/drawingml/2006/main" noGrp="1"/>
          </p:cNvSpPr>
          <p:nvPr/>
        </p:nvSpPr>
        <p:spPr>
          <a:xfrm xmlns:a="http://schemas.openxmlformats.org/drawingml/2006/main">
            <a:off x="723900" y="401002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Courier New"/>
                <a:ea typeface="Courier New"/>
                <a:cs typeface="Courier New"/>
              </a:defRPr>
            </a:pPr>
            <a:r>
              <a:rPr sz="2100" b="0">
                <a:solidFill>
                  <a:srgbClr val="19332A"/>
                </a:solidFill>
                <a:latin typeface="Courier New"/>
                <a:ea typeface="Courier New"/>
                <a:cs typeface="Courier New"/>
              </a:rPr>
              <a:t>bash scripts/run_demo.sh --check</a:t>
            </a:r>
          </a:p>
        </p:txBody>
      </p:sp>
      <p:sp>
        <p:nvSpPr>
          <p:cNvPr id="8" name="">
            <a:extLst xmlns:a="http://schemas.openxmlformats.org/drawingml/2006/main">
              <a:ext uri="{FF2B5EF4-FFF2-40B4-BE49-F238E27FC236}">
                <a16:creationId xmlns:a16="http://schemas.microsoft.com/office/drawing/2014/main" id="{F9EECA27-115F-4C80-9571-DD103EA15692}"/>
              </a:ext>
            </a:extLst>
          </p:cNvPr>
          <p:cNvSpPr>
            <a:spLocks xmlns:a="http://schemas.openxmlformats.org/drawingml/2006/main" noGrp="1"/>
          </p:cNvSpPr>
          <p:nvPr/>
        </p:nvSpPr>
        <p:spPr>
          <a:xfrm xmlns:a="http://schemas.openxmlformats.org/drawingml/2006/main">
            <a:off x="723900" y="46005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9332A"/>
                </a:solidFill>
                <a:latin typeface="Courier New"/>
                <a:ea typeface="Courier New"/>
                <a:cs typeface="Courier New"/>
              </a:defRPr>
            </a:pPr>
            <a:r>
              <a:rPr sz="2100" b="0">
                <a:solidFill>
                  <a:srgbClr val="19332A"/>
                </a:solidFill>
                <a:latin typeface="Courier New"/>
                <a:ea typeface="Courier New"/>
                <a:cs typeface="Courier New"/>
              </a:rPr>
              <a:t>bash scripts/run_demo.sh --setup-only</a:t>
            </a:r>
          </a:p>
        </p:txBody>
      </p:sp>
      <p:sp>
        <p:nvSpPr>
          <p:cNvPr id="9" name="">
            <a:extLst xmlns:a="http://schemas.openxmlformats.org/drawingml/2006/main">
              <a:ext uri="{FF2B5EF4-FFF2-40B4-BE49-F238E27FC236}">
                <a16:creationId xmlns:a16="http://schemas.microsoft.com/office/drawing/2014/main" id="{9826A751-2C5D-484A-BA17-BDE438D54107}"/>
              </a:ext>
            </a:extLst>
          </p:cNvPr>
          <p:cNvSpPr>
            <a:spLocks xmlns:a="http://schemas.openxmlformats.org/drawingml/2006/main" noGrp="1"/>
          </p:cNvSpPr>
          <p:nvPr/>
        </p:nvSpPr>
        <p:spPr>
          <a:xfrm xmlns:a="http://schemas.openxmlformats.org/drawingml/2006/main">
            <a:off x="723900" y="519112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397718"/>
                </a:solidFill>
                <a:latin typeface="Courier New"/>
                <a:ea typeface="Courier New"/>
                <a:cs typeface="Courier New"/>
              </a:defRPr>
            </a:pPr>
            <a:r>
              <a:rPr sz="2100" b="1">
                <a:solidFill>
                  <a:srgbClr val="397718"/>
                </a:solidFill>
                <a:latin typeface="Courier New"/>
                <a:ea typeface="Courier New"/>
                <a:cs typeface="Courier New"/>
              </a:rPr>
              <a:t>bash scripts/run_demo.sh</a:t>
            </a:r>
          </a:p>
        </p:txBody>
      </p:sp>
    </p:spTree>
    <p:extLst>
      <p:ext uri="{BB962C8B-B14F-4D97-AF65-F5344CB8AC3E}">
        <p14:creationId xmlns:p14="http://schemas.microsoft.com/office/powerpoint/2010/main" val="160460608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8EDBB0-AF2B-40DD-9E64-7D3BB76A9DAA}"/>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Text Conversation</a:t>
            </a:r>
          </a:p>
        </p:txBody>
      </p:sp>
      <p:sp>
        <p:nvSpPr>
          <p:cNvPr id="2" name="">
            <a:extLst xmlns:a="http://schemas.openxmlformats.org/drawingml/2006/main">
              <a:ext uri="{FF2B5EF4-FFF2-40B4-BE49-F238E27FC236}">
                <a16:creationId xmlns:a16="http://schemas.microsoft.com/office/drawing/2014/main" id="{0AA390A1-1D67-476A-91B1-4263E55B0BB7}"/>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Menu 3</a:t>
            </a:r>
          </a:p>
        </p:txBody>
      </p:sp>
      <p:sp>
        <p:nvSpPr>
          <p:cNvPr id="3" name="">
            <a:extLst xmlns:a="http://schemas.openxmlformats.org/drawingml/2006/main">
              <a:ext uri="{FF2B5EF4-FFF2-40B4-BE49-F238E27FC236}">
                <a16:creationId xmlns:a16="http://schemas.microsoft.com/office/drawing/2014/main" id="{627C089E-D2E5-4164-A58C-1E21C3A1CAC0}"/>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D32C9A22-874B-4A78-83EE-DB0B29915751}"/>
              </a:ext>
            </a:extLst>
          </p:cNvPr>
          <p:cNvSpPr>
            <a:spLocks xmlns:a="http://schemas.openxmlformats.org/drawingml/2006/main" noGrp="1"/>
          </p:cNvSpPr>
          <p:nvPr/>
        </p:nvSpPr>
        <p:spPr>
          <a:xfrm xmlns:a="http://schemas.openxmlformats.org/drawingml/2006/main">
            <a:off x="714375" y="22383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9332A"/>
                </a:solidFill>
                <a:latin typeface="Arial"/>
                <a:ea typeface="Arial"/>
                <a:cs typeface="Arial"/>
              </a:defRPr>
            </a:pPr>
            <a:r>
              <a:rPr sz="2850" b="1">
                <a:solidFill>
                  <a:srgbClr val="19332A"/>
                </a:solidFill>
                <a:latin typeface="Arial"/>
                <a:ea typeface="Arial"/>
                <a:cs typeface="Arial"/>
              </a:rPr>
              <a:t>SmolLM2-360M Instruct</a:t>
            </a:r>
          </a:p>
        </p:txBody>
      </p:sp>
      <p:sp>
        <p:nvSpPr>
          <p:cNvPr id="5" name="">
            <a:extLst xmlns:a="http://schemas.openxmlformats.org/drawingml/2006/main">
              <a:ext uri="{FF2B5EF4-FFF2-40B4-BE49-F238E27FC236}">
                <a16:creationId xmlns:a16="http://schemas.microsoft.com/office/drawing/2014/main" id="{C7414B40-7067-4328-8149-AD35412CEDE6}"/>
              </a:ext>
            </a:extLst>
          </p:cNvPr>
          <p:cNvSpPr>
            <a:spLocks xmlns:a="http://schemas.openxmlformats.org/drawingml/2006/main" noGrp="1"/>
          </p:cNvSpPr>
          <p:nvPr/>
        </p:nvSpPr>
        <p:spPr>
          <a:xfrm xmlns:a="http://schemas.openxmlformats.org/drawingml/2006/main">
            <a:off x="742950" y="3105150"/>
            <a:ext cx="10334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52635B"/>
                </a:solidFill>
                <a:latin typeface="Arial"/>
                <a:ea typeface="Arial"/>
                <a:cs typeface="Arial"/>
              </a:defRPr>
            </a:pPr>
            <a:r>
              <a:rPr sz="2325" b="0">
                <a:solidFill>
                  <a:srgbClr val="52635B"/>
                </a:solidFill>
                <a:latin typeface="Arial"/>
                <a:ea typeface="Arial"/>
                <a:cs typeface="Arial"/>
              </a:rPr>
              <a:t>Ask a question, then follow up using the same conversation.</a:t>
            </a:r>
          </a:p>
        </p:txBody>
      </p:sp>
      <p:sp>
        <p:nvSpPr>
          <p:cNvPr id="6" name="">
            <a:extLst xmlns:a="http://schemas.openxmlformats.org/drawingml/2006/main">
              <a:ext uri="{FF2B5EF4-FFF2-40B4-BE49-F238E27FC236}">
                <a16:creationId xmlns:a16="http://schemas.microsoft.com/office/drawing/2014/main" id="{4F429311-D77C-4339-8198-FD988739D087}"/>
              </a:ext>
            </a:extLst>
          </p:cNvPr>
          <p:cNvSpPr>
            <a:spLocks xmlns:a="http://schemas.openxmlformats.org/drawingml/2006/main" noGrp="1"/>
          </p:cNvSpPr>
          <p:nvPr/>
        </p:nvSpPr>
        <p:spPr>
          <a:xfrm xmlns:a="http://schemas.openxmlformats.org/drawingml/2006/main">
            <a:off x="742950" y="4229100"/>
            <a:ext cx="1000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397718"/>
                </a:solidFill>
                <a:latin typeface="Arial"/>
                <a:ea typeface="Arial"/>
                <a:cs typeface="Arial"/>
              </a:defRPr>
            </a:pPr>
            <a:r>
              <a:rPr sz="1800" b="1">
                <a:solidFill>
                  <a:srgbClr val="397718"/>
                </a:solidFill>
                <a:latin typeface="Arial"/>
                <a:ea typeface="Arial"/>
                <a:cs typeface="Arial"/>
              </a:rPr>
              <a:t>Example prompt</a:t>
            </a:r>
          </a:p>
        </p:txBody>
      </p:sp>
      <p:sp>
        <p:nvSpPr>
          <p:cNvPr id="7" name="">
            <a:extLst xmlns:a="http://schemas.openxmlformats.org/drawingml/2006/main">
              <a:ext uri="{FF2B5EF4-FFF2-40B4-BE49-F238E27FC236}">
                <a16:creationId xmlns:a16="http://schemas.microsoft.com/office/drawing/2014/main" id="{A0CDD502-46EC-4EA3-A214-5DBA8CFE774C}"/>
              </a:ext>
            </a:extLst>
          </p:cNvPr>
          <p:cNvSpPr>
            <a:spLocks xmlns:a="http://schemas.openxmlformats.org/drawingml/2006/main" noGrp="1"/>
          </p:cNvSpPr>
          <p:nvPr/>
        </p:nvSpPr>
        <p:spPr>
          <a:xfrm xmlns:a="http://schemas.openxmlformats.org/drawingml/2006/main">
            <a:off x="742950" y="4714875"/>
            <a:ext cx="1038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332A"/>
                </a:solidFill>
                <a:latin typeface="Arial"/>
                <a:ea typeface="Arial"/>
                <a:cs typeface="Arial"/>
              </a:defRPr>
            </a:pPr>
            <a:r>
              <a:rPr sz="2250" b="0">
                <a:solidFill>
                  <a:srgbClr val="19332A"/>
                </a:solidFill>
                <a:latin typeface="Arial"/>
                <a:ea typeface="Arial"/>
                <a:cs typeface="Arial"/>
              </a:rPr>
              <a:t>“Explain why a boat floats. Then explain it to a ten-year-old.”</a:t>
            </a:r>
          </a:p>
        </p:txBody>
      </p:sp>
      <p:sp>
        <p:nvSpPr>
          <p:cNvPr id="8" name="">
            <a:extLst xmlns:a="http://schemas.openxmlformats.org/drawingml/2006/main">
              <a:ext uri="{FF2B5EF4-FFF2-40B4-BE49-F238E27FC236}">
                <a16:creationId xmlns:a16="http://schemas.microsoft.com/office/drawing/2014/main" id="{B13FA955-27BB-4CD6-869F-075D1E7F9278}"/>
              </a:ext>
            </a:extLst>
          </p:cNvPr>
          <p:cNvSpPr>
            <a:spLocks xmlns:a="http://schemas.openxmlformats.org/drawingml/2006/main" noGrp="1"/>
          </p:cNvSpPr>
          <p:nvPr/>
        </p:nvSpPr>
        <p:spPr>
          <a:xfrm xmlns:a="http://schemas.openxmlformats.org/drawingml/2006/main">
            <a:off x="742950" y="58102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35B"/>
                </a:solidFill>
                <a:latin typeface="Arial"/>
                <a:ea typeface="Arial"/>
                <a:cs typeface="Arial"/>
              </a:defRPr>
            </a:pPr>
            <a:r>
              <a:rPr sz="1725" b="0">
                <a:solidFill>
                  <a:srgbClr val="52635B"/>
                </a:solidFill>
                <a:latin typeface="Arial"/>
                <a:ea typeface="Arial"/>
                <a:cs typeface="Arial"/>
              </a:rPr>
              <a:t>/reset clears the conversation.  /quit returns to the menu.</a:t>
            </a:r>
          </a:p>
        </p:txBody>
      </p:sp>
    </p:spTree>
    <p:extLst>
      <p:ext uri="{BB962C8B-B14F-4D97-AF65-F5344CB8AC3E}">
        <p14:creationId xmlns:p14="http://schemas.microsoft.com/office/powerpoint/2010/main" val="5694576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5C69FD-BA21-476A-9CCB-30C8A2E084AB}"/>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Camera Object Detection</a:t>
            </a:r>
          </a:p>
        </p:txBody>
      </p:sp>
      <p:sp>
        <p:nvSpPr>
          <p:cNvPr id="2" name="">
            <a:extLst xmlns:a="http://schemas.openxmlformats.org/drawingml/2006/main">
              <a:ext uri="{FF2B5EF4-FFF2-40B4-BE49-F238E27FC236}">
                <a16:creationId xmlns:a16="http://schemas.microsoft.com/office/drawing/2014/main" id="{9FD13EC2-5E15-4342-98B7-311C8EAC9356}"/>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Menu 4</a:t>
            </a:r>
          </a:p>
        </p:txBody>
      </p:sp>
      <p:sp>
        <p:nvSpPr>
          <p:cNvPr id="3" name="">
            <a:extLst xmlns:a="http://schemas.openxmlformats.org/drawingml/2006/main">
              <a:ext uri="{FF2B5EF4-FFF2-40B4-BE49-F238E27FC236}">
                <a16:creationId xmlns:a16="http://schemas.microsoft.com/office/drawing/2014/main" id="{CCBDF6A7-B7C6-4AA6-BDB6-B25A2ED7622B}"/>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EC417A50-22E8-4C4C-9083-F2C46CC2253B}"/>
              </a:ext>
            </a:extLst>
          </p:cNvPr>
          <p:cNvSpPr>
            <a:spLocks xmlns:a="http://schemas.openxmlformats.org/drawingml/2006/main" noGrp="1"/>
          </p:cNvSpPr>
          <p:nvPr/>
        </p:nvSpPr>
        <p:spPr>
          <a:xfrm xmlns:a="http://schemas.openxmlformats.org/drawingml/2006/main">
            <a:off x="714375" y="22383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9332A"/>
                </a:solidFill>
                <a:latin typeface="Arial"/>
                <a:ea typeface="Arial"/>
                <a:cs typeface="Arial"/>
              </a:defRPr>
            </a:pPr>
            <a:r>
              <a:rPr sz="2850" b="1">
                <a:solidFill>
                  <a:srgbClr val="19332A"/>
                </a:solidFill>
                <a:latin typeface="Arial"/>
                <a:ea typeface="Arial"/>
                <a:cs typeface="Arial"/>
              </a:rPr>
              <a:t>SSD-Mobilenet-v2</a:t>
            </a:r>
          </a:p>
        </p:txBody>
      </p:sp>
      <p:sp>
        <p:nvSpPr>
          <p:cNvPr id="5" name="">
            <a:extLst xmlns:a="http://schemas.openxmlformats.org/drawingml/2006/main">
              <a:ext uri="{FF2B5EF4-FFF2-40B4-BE49-F238E27FC236}">
                <a16:creationId xmlns:a16="http://schemas.microsoft.com/office/drawing/2014/main" id="{F83D84A3-2D86-436E-B45B-E8D52E626810}"/>
              </a:ext>
            </a:extLst>
          </p:cNvPr>
          <p:cNvSpPr>
            <a:spLocks xmlns:a="http://schemas.openxmlformats.org/drawingml/2006/main" noGrp="1"/>
          </p:cNvSpPr>
          <p:nvPr/>
        </p:nvSpPr>
        <p:spPr>
          <a:xfrm xmlns:a="http://schemas.openxmlformats.org/drawingml/2006/main">
            <a:off x="742950" y="3162300"/>
            <a:ext cx="10382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52635B"/>
                </a:solidFill>
                <a:latin typeface="Arial"/>
                <a:ea typeface="Arial"/>
                <a:cs typeface="Arial"/>
              </a:defRPr>
            </a:pPr>
            <a:r>
              <a:rPr sz="2325" b="0">
                <a:solidFill>
                  <a:srgbClr val="52635B"/>
                </a:solidFill>
                <a:latin typeface="Arial"/>
                <a:ea typeface="Arial"/>
                <a:cs typeface="Arial"/>
              </a:rPr>
              <a:t>Place a cup, bottle or book in view.</a:t>
            </a:r>
          </a:p>
          <a:p xmlns:a="http://schemas.openxmlformats.org/drawingml/2006/main">
            <a:pPr>
              <a:defRPr sz="2325" b="0">
                <a:solidFill>
                  <a:srgbClr val="52635B"/>
                </a:solidFill>
                <a:latin typeface="Arial"/>
                <a:ea typeface="Arial"/>
                <a:cs typeface="Arial"/>
              </a:defRPr>
            </a:pPr>
            <a:r>
              <a:rPr sz="2325" b="0">
                <a:solidFill>
                  <a:srgbClr val="52635B"/>
                </a:solidFill>
                <a:latin typeface="Arial"/>
                <a:ea typeface="Arial"/>
                <a:cs typeface="Arial"/>
              </a:rPr>
              <a:t>The detector labels objects and draws their bounding boxes.</a:t>
            </a:r>
          </a:p>
        </p:txBody>
      </p:sp>
      <p:sp>
        <p:nvSpPr>
          <p:cNvPr id="6" name="">
            <a:extLst xmlns:a="http://schemas.openxmlformats.org/drawingml/2006/main">
              <a:ext uri="{FF2B5EF4-FFF2-40B4-BE49-F238E27FC236}">
                <a16:creationId xmlns:a16="http://schemas.microsoft.com/office/drawing/2014/main" id="{73105845-3C01-4EA7-9D71-67A70EDD4A67}"/>
              </a:ext>
            </a:extLst>
          </p:cNvPr>
          <p:cNvSpPr>
            <a:spLocks xmlns:a="http://schemas.openxmlformats.org/drawingml/2006/main" noGrp="1"/>
          </p:cNvSpPr>
          <p:nvPr/>
        </p:nvSpPr>
        <p:spPr>
          <a:xfrm xmlns:a="http://schemas.openxmlformats.org/drawingml/2006/main">
            <a:off x="742950" y="4857750"/>
            <a:ext cx="1038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9332A"/>
                </a:solidFill>
                <a:latin typeface="Arial"/>
                <a:ea typeface="Arial"/>
                <a:cs typeface="Arial"/>
              </a:defRPr>
            </a:pPr>
            <a:r>
              <a:rPr sz="2250" b="0">
                <a:solidFill>
                  <a:srgbClr val="19332A"/>
                </a:solidFill>
                <a:latin typeface="Arial"/>
                <a:ea typeface="Arial"/>
                <a:cs typeface="Arial"/>
              </a:rPr>
              <a:t>Move an object and observe the changing detections.</a:t>
            </a:r>
          </a:p>
        </p:txBody>
      </p:sp>
    </p:spTree>
    <p:extLst>
      <p:ext uri="{BB962C8B-B14F-4D97-AF65-F5344CB8AC3E}">
        <p14:creationId xmlns:p14="http://schemas.microsoft.com/office/powerpoint/2010/main" val="8245789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75033E-A27A-47E0-8256-BF1C0BE8DB6C}"/>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Camera-Guided Object Hunt</a:t>
            </a:r>
          </a:p>
        </p:txBody>
      </p:sp>
      <p:sp>
        <p:nvSpPr>
          <p:cNvPr id="2" name="">
            <a:extLst xmlns:a="http://schemas.openxmlformats.org/drawingml/2006/main">
              <a:ext uri="{FF2B5EF4-FFF2-40B4-BE49-F238E27FC236}">
                <a16:creationId xmlns:a16="http://schemas.microsoft.com/office/drawing/2014/main" id="{7B83659D-D52C-4036-8B57-AF70B50C5704}"/>
              </a:ext>
            </a:extLst>
          </p:cNvPr>
          <p:cNvSpPr>
            <a:spLocks xmlns:a="http://schemas.openxmlformats.org/drawingml/2006/main" noGrp="1"/>
          </p:cNvSpPr>
          <p:nvPr/>
        </p:nvSpPr>
        <p:spPr>
          <a:xfrm xmlns:a="http://schemas.openxmlformats.org/drawingml/2006/main">
            <a:off x="666750" y="13335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2635B"/>
                </a:solidFill>
                <a:latin typeface="Arial"/>
                <a:ea typeface="Arial"/>
                <a:cs typeface="Arial"/>
              </a:defRPr>
            </a:pPr>
            <a:r>
              <a:rPr sz="1950" b="0">
                <a:solidFill>
                  <a:srgbClr val="52635B"/>
                </a:solidFill>
                <a:latin typeface="Arial"/>
                <a:ea typeface="Arial"/>
                <a:cs typeface="Arial"/>
              </a:rPr>
              <a:t>Menu 5</a:t>
            </a:r>
          </a:p>
        </p:txBody>
      </p:sp>
      <p:sp>
        <p:nvSpPr>
          <p:cNvPr id="3" name="">
            <a:extLst xmlns:a="http://schemas.openxmlformats.org/drawingml/2006/main">
              <a:ext uri="{FF2B5EF4-FFF2-40B4-BE49-F238E27FC236}">
                <a16:creationId xmlns:a16="http://schemas.microsoft.com/office/drawing/2014/main" id="{A34D4FC5-0A2E-4008-BA8D-6C2C6E7D3E42}"/>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F74A1BA1-9BB7-4207-9C46-61A732751505}"/>
              </a:ext>
            </a:extLst>
          </p:cNvPr>
          <p:cNvSpPr>
            <a:spLocks xmlns:a="http://schemas.openxmlformats.org/drawingml/2006/main" noGrp="1"/>
          </p:cNvSpPr>
          <p:nvPr/>
        </p:nvSpPr>
        <p:spPr>
          <a:xfrm xmlns:a="http://schemas.openxmlformats.org/drawingml/2006/main">
            <a:off x="742950" y="2238375"/>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9332A"/>
                </a:solidFill>
                <a:latin typeface="Arial"/>
                <a:ea typeface="Arial"/>
                <a:cs typeface="Arial"/>
              </a:defRPr>
            </a:pPr>
            <a:r>
              <a:rPr sz="2325" b="0">
                <a:solidFill>
                  <a:srgbClr val="19332A"/>
                </a:solidFill>
                <a:latin typeface="Arial"/>
                <a:ea typeface="Arial"/>
                <a:cs typeface="Arial"/>
              </a:rPr>
              <a:t>1   The language model proposes objects to find.</a:t>
            </a:r>
          </a:p>
        </p:txBody>
      </p:sp>
      <p:sp>
        <p:nvSpPr>
          <p:cNvPr id="5" name="">
            <a:extLst xmlns:a="http://schemas.openxmlformats.org/drawingml/2006/main">
              <a:ext uri="{FF2B5EF4-FFF2-40B4-BE49-F238E27FC236}">
                <a16:creationId xmlns:a16="http://schemas.microsoft.com/office/drawing/2014/main" id="{E4CBA464-A3B6-4BEE-A228-9BC7CADC63F9}"/>
              </a:ext>
            </a:extLst>
          </p:cNvPr>
          <p:cNvSpPr>
            <a:spLocks xmlns:a="http://schemas.openxmlformats.org/drawingml/2006/main" noGrp="1"/>
          </p:cNvSpPr>
          <p:nvPr/>
        </p:nvSpPr>
        <p:spPr>
          <a:xfrm xmlns:a="http://schemas.openxmlformats.org/drawingml/2006/main">
            <a:off x="742950" y="3381375"/>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9332A"/>
                </a:solidFill>
                <a:latin typeface="Arial"/>
                <a:ea typeface="Arial"/>
                <a:cs typeface="Arial"/>
              </a:defRPr>
            </a:pPr>
            <a:r>
              <a:rPr sz="2325" b="0">
                <a:solidFill>
                  <a:srgbClr val="19332A"/>
                </a:solidFill>
                <a:latin typeface="Arial"/>
                <a:ea typeface="Arial"/>
                <a:cs typeface="Arial"/>
              </a:rPr>
              <a:t>2   Arrange the objects in view and press Enter to scan.</a:t>
            </a:r>
          </a:p>
        </p:txBody>
      </p:sp>
      <p:sp>
        <p:nvSpPr>
          <p:cNvPr id="6" name="">
            <a:extLst xmlns:a="http://schemas.openxmlformats.org/drawingml/2006/main">
              <a:ext uri="{FF2B5EF4-FFF2-40B4-BE49-F238E27FC236}">
                <a16:creationId xmlns:a16="http://schemas.microsoft.com/office/drawing/2014/main" id="{5E56824F-4581-4FBD-BE5D-E8496C090915}"/>
              </a:ext>
            </a:extLst>
          </p:cNvPr>
          <p:cNvSpPr>
            <a:spLocks xmlns:a="http://schemas.openxmlformats.org/drawingml/2006/main" noGrp="1"/>
          </p:cNvSpPr>
          <p:nvPr/>
        </p:nvSpPr>
        <p:spPr>
          <a:xfrm xmlns:a="http://schemas.openxmlformats.org/drawingml/2006/main">
            <a:off x="742950" y="4524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9332A"/>
                </a:solidFill>
                <a:latin typeface="Arial"/>
                <a:ea typeface="Arial"/>
                <a:cs typeface="Arial"/>
              </a:defRPr>
            </a:pPr>
            <a:r>
              <a:rPr sz="2325" b="0">
                <a:solidFill>
                  <a:srgbClr val="19332A"/>
                </a:solidFill>
                <a:latin typeface="Arial"/>
                <a:ea typeface="Arial"/>
                <a:cs typeface="Arial"/>
              </a:rPr>
              <a:t>3   Camera detections update the found and remaining lists.</a:t>
            </a:r>
          </a:p>
        </p:txBody>
      </p:sp>
      <p:sp>
        <p:nvSpPr>
          <p:cNvPr id="7" name="">
            <a:extLst xmlns:a="http://schemas.openxmlformats.org/drawingml/2006/main">
              <a:ext uri="{FF2B5EF4-FFF2-40B4-BE49-F238E27FC236}">
                <a16:creationId xmlns:a16="http://schemas.microsoft.com/office/drawing/2014/main" id="{71AA32EB-357C-4FB9-9502-E52656974985}"/>
              </a:ext>
            </a:extLst>
          </p:cNvPr>
          <p:cNvSpPr>
            <a:spLocks xmlns:a="http://schemas.openxmlformats.org/drawingml/2006/main" noGrp="1"/>
          </p:cNvSpPr>
          <p:nvPr/>
        </p:nvSpPr>
        <p:spPr>
          <a:xfrm xmlns:a="http://schemas.openxmlformats.org/drawingml/2006/main">
            <a:off x="742950" y="5810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35B"/>
                </a:solidFill>
                <a:latin typeface="Arial"/>
                <a:ea typeface="Arial"/>
                <a:cs typeface="Arial"/>
              </a:defRPr>
            </a:pPr>
            <a:r>
              <a:rPr sz="1800" b="0">
                <a:solidFill>
                  <a:srgbClr val="52635B"/>
                </a:solidFill>
                <a:latin typeface="Arial"/>
                <a:ea typeface="Arial"/>
                <a:cs typeface="Arial"/>
              </a:rPr>
              <a:t>The hunt shares the conversation model and object detector.</a:t>
            </a:r>
          </a:p>
        </p:txBody>
      </p:sp>
    </p:spTree>
    <p:extLst>
      <p:ext uri="{BB962C8B-B14F-4D97-AF65-F5344CB8AC3E}">
        <p14:creationId xmlns:p14="http://schemas.microsoft.com/office/powerpoint/2010/main" val="30189440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2D2FD4-53BB-41CC-9106-A6842E39870B}"/>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Models and Execution</a:t>
            </a:r>
          </a:p>
        </p:txBody>
      </p:sp>
      <p:sp>
        <p:nvSpPr>
          <p:cNvPr id="2" name="">
            <a:extLst xmlns:a="http://schemas.openxmlformats.org/drawingml/2006/main">
              <a:ext uri="{FF2B5EF4-FFF2-40B4-BE49-F238E27FC236}">
                <a16:creationId xmlns:a16="http://schemas.microsoft.com/office/drawing/2014/main" id="{82DBC34A-3B8A-4705-A6B2-A8857F401743}"/>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B4E3B92C-DCED-44A2-B118-ABBA5DA78EB8}"/>
              </a:ext>
            </a:extLst>
          </p:cNvPr>
          <p:cNvSpPr>
            <a:spLocks xmlns:a="http://schemas.openxmlformats.org/drawingml/2006/main" noGrp="1"/>
          </p:cNvSpPr>
          <p:nvPr/>
        </p:nvSpPr>
        <p:spPr>
          <a:xfrm xmlns:a="http://schemas.openxmlformats.org/drawingml/2006/main">
            <a:off x="714375" y="219075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9332A"/>
                </a:solidFill>
                <a:latin typeface="Arial"/>
                <a:ea typeface="Arial"/>
                <a:cs typeface="Arial"/>
              </a:defRPr>
            </a:pPr>
            <a:r>
              <a:rPr sz="2400" b="1">
                <a:solidFill>
                  <a:srgbClr val="19332A"/>
                </a:solidFill>
                <a:latin typeface="Arial"/>
                <a:ea typeface="Arial"/>
                <a:cs typeface="Arial"/>
              </a:rPr>
              <a:t>Text</a:t>
            </a:r>
          </a:p>
        </p:txBody>
      </p:sp>
      <p:sp>
        <p:nvSpPr>
          <p:cNvPr id="4" name="">
            <a:extLst xmlns:a="http://schemas.openxmlformats.org/drawingml/2006/main">
              <a:ext uri="{FF2B5EF4-FFF2-40B4-BE49-F238E27FC236}">
                <a16:creationId xmlns:a16="http://schemas.microsoft.com/office/drawing/2014/main" id="{FF746789-0AEE-4797-BDA3-7ECB1EFBE81D}"/>
              </a:ext>
            </a:extLst>
          </p:cNvPr>
          <p:cNvSpPr>
            <a:spLocks xmlns:a="http://schemas.openxmlformats.org/drawingml/2006/main" noGrp="1"/>
          </p:cNvSpPr>
          <p:nvPr/>
        </p:nvSpPr>
        <p:spPr>
          <a:xfrm xmlns:a="http://schemas.openxmlformats.org/drawingml/2006/main">
            <a:off x="4000500" y="2190750"/>
            <a:ext cx="7048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SmolLM2-360M Q4</a:t>
            </a:r>
          </a:p>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258 MiB model file</a:t>
            </a:r>
          </a:p>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CPU inference</a:t>
            </a:r>
          </a:p>
        </p:txBody>
      </p:sp>
      <p:sp>
        <p:nvSpPr>
          <p:cNvPr id="5" name="">
            <a:extLst xmlns:a="http://schemas.openxmlformats.org/drawingml/2006/main">
              <a:ext uri="{FF2B5EF4-FFF2-40B4-BE49-F238E27FC236}">
                <a16:creationId xmlns:a16="http://schemas.microsoft.com/office/drawing/2014/main" id="{27BBA290-2F8B-442B-8627-C93B2988F02F}"/>
              </a:ext>
            </a:extLst>
          </p:cNvPr>
          <p:cNvSpPr>
            <a:spLocks xmlns:a="http://schemas.openxmlformats.org/drawingml/2006/main" noGrp="1"/>
          </p:cNvSpPr>
          <p:nvPr/>
        </p:nvSpPr>
        <p:spPr>
          <a:xfrm xmlns:a="http://schemas.openxmlformats.org/drawingml/2006/main">
            <a:off x="714375" y="438150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9332A"/>
                </a:solidFill>
                <a:latin typeface="Arial"/>
                <a:ea typeface="Arial"/>
                <a:cs typeface="Arial"/>
              </a:defRPr>
            </a:pPr>
            <a:r>
              <a:rPr sz="2400" b="1">
                <a:solidFill>
                  <a:srgbClr val="19332A"/>
                </a:solidFill>
                <a:latin typeface="Arial"/>
                <a:ea typeface="Arial"/>
                <a:cs typeface="Arial"/>
              </a:rPr>
              <a:t>Camera</a:t>
            </a:r>
          </a:p>
        </p:txBody>
      </p:sp>
      <p:sp>
        <p:nvSpPr>
          <p:cNvPr id="6" name="">
            <a:extLst xmlns:a="http://schemas.openxmlformats.org/drawingml/2006/main">
              <a:ext uri="{FF2B5EF4-FFF2-40B4-BE49-F238E27FC236}">
                <a16:creationId xmlns:a16="http://schemas.microsoft.com/office/drawing/2014/main" id="{C028B8CF-D604-4CBD-AEB8-C723F80E830D}"/>
              </a:ext>
            </a:extLst>
          </p:cNvPr>
          <p:cNvSpPr>
            <a:spLocks xmlns:a="http://schemas.openxmlformats.org/drawingml/2006/main" noGrp="1"/>
          </p:cNvSpPr>
          <p:nvPr/>
        </p:nvSpPr>
        <p:spPr>
          <a:xfrm xmlns:a="http://schemas.openxmlformats.org/drawingml/2006/main">
            <a:off x="4000500" y="4381500"/>
            <a:ext cx="7239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SSD-Mobilenet-v2</a:t>
            </a:r>
          </a:p>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TensorRT on the Nano GPU</a:t>
            </a:r>
          </a:p>
          <a:p xmlns:a="http://schemas.openxmlformats.org/drawingml/2006/main">
            <a:pPr>
              <a:defRPr sz="2250" b="0">
                <a:solidFill>
                  <a:srgbClr val="52635B"/>
                </a:solidFill>
                <a:latin typeface="Arial"/>
                <a:ea typeface="Arial"/>
                <a:cs typeface="Arial"/>
              </a:defRPr>
            </a:pPr>
            <a:r>
              <a:rPr sz="2250" b="0">
                <a:solidFill>
                  <a:srgbClr val="52635B"/>
                </a:solidFill>
                <a:latin typeface="Arial"/>
                <a:ea typeface="Arial"/>
                <a:cs typeface="Arial"/>
              </a:rPr>
              <a:t>Camera and text stages run sequentially</a:t>
            </a:r>
          </a:p>
        </p:txBody>
      </p:sp>
    </p:spTree>
    <p:extLst>
      <p:ext uri="{BB962C8B-B14F-4D97-AF65-F5344CB8AC3E}">
        <p14:creationId xmlns:p14="http://schemas.microsoft.com/office/powerpoint/2010/main" val="47502962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F794FE6-D3BF-4E6A-8043-2CE914CE13B3}"/>
              </a:ext>
            </a:extLst>
          </p:cNvPr>
          <p:cNvSpPr>
            <a:spLocks xmlns:a="http://schemas.openxmlformats.org/drawingml/2006/main" noGrp="1"/>
          </p:cNvSpPr>
          <p:nvPr/>
        </p:nvSpPr>
        <p:spPr>
          <a:xfrm xmlns:a="http://schemas.openxmlformats.org/drawingml/2006/main">
            <a:off x="628650" y="4572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9332A"/>
                </a:solidFill>
                <a:latin typeface="Arial"/>
                <a:ea typeface="Arial"/>
                <a:cs typeface="Arial"/>
              </a:defRPr>
            </a:pPr>
            <a:r>
              <a:rPr sz="3600" b="1">
                <a:solidFill>
                  <a:srgbClr val="19332A"/>
                </a:solidFill>
                <a:latin typeface="Arial"/>
                <a:ea typeface="Arial"/>
                <a:cs typeface="Arial"/>
              </a:rPr>
              <a:t>Menu Controls</a:t>
            </a:r>
          </a:p>
        </p:txBody>
      </p:sp>
      <p:sp>
        <p:nvSpPr>
          <p:cNvPr id="2" name="">
            <a:extLst xmlns:a="http://schemas.openxmlformats.org/drawingml/2006/main">
              <a:ext uri="{FF2B5EF4-FFF2-40B4-BE49-F238E27FC236}">
                <a16:creationId xmlns:a16="http://schemas.microsoft.com/office/drawing/2014/main" id="{855F9725-1ABF-4C2B-A926-5178BB25C8B5}"/>
              </a:ext>
            </a:extLst>
          </p:cNvPr>
          <p:cNvSpPr>
            <a:spLocks xmlns:a="http://schemas.openxmlformats.org/drawingml/2006/main" noGrp="1"/>
          </p:cNvSpPr>
          <p:nvPr/>
        </p:nvSpPr>
        <p:spPr>
          <a:xfrm xmlns:a="http://schemas.openxmlformats.org/drawingml/2006/main">
            <a:off x="11182350" y="6200775"/>
            <a:ext cx="523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397718"/>
                </a:solidFill>
                <a:latin typeface="Arial"/>
                <a:ea typeface="Arial"/>
                <a:cs typeface="Arial"/>
              </a:defRPr>
            </a:pPr>
            <a:r>
              <a:rPr sz="1350" b="1">
                <a:solidFill>
                  <a:srgbClr val="397718"/>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E0E94DC1-8F88-4BD8-8D16-87BAB0F82BA4}"/>
              </a:ext>
            </a:extLst>
          </p:cNvPr>
          <p:cNvSpPr>
            <a:spLocks xmlns:a="http://schemas.openxmlformats.org/drawingml/2006/main" noGrp="1"/>
          </p:cNvSpPr>
          <p:nvPr/>
        </p:nvSpPr>
        <p:spPr>
          <a:xfrm xmlns:a="http://schemas.openxmlformats.org/drawingml/2006/main">
            <a:off x="762000" y="1952625"/>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6B1C4959-E46E-4B04-B4E7-1ABD3FB65B17}"/>
              </a:ext>
            </a:extLst>
          </p:cNvPr>
          <p:cNvSpPr>
            <a:spLocks xmlns:a="http://schemas.openxmlformats.org/drawingml/2006/main" noGrp="1"/>
          </p:cNvSpPr>
          <p:nvPr/>
        </p:nvSpPr>
        <p:spPr>
          <a:xfrm xmlns:a="http://schemas.openxmlformats.org/drawingml/2006/main">
            <a:off x="3333750" y="1952625"/>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Prepare models and dependencies</a:t>
            </a:r>
          </a:p>
        </p:txBody>
      </p:sp>
      <p:sp>
        <p:nvSpPr>
          <p:cNvPr id="5" name="">
            <a:extLst xmlns:a="http://schemas.openxmlformats.org/drawingml/2006/main">
              <a:ext uri="{FF2B5EF4-FFF2-40B4-BE49-F238E27FC236}">
                <a16:creationId xmlns:a16="http://schemas.microsoft.com/office/drawing/2014/main" id="{37B03A69-42A1-4513-B2FE-9E454172B2D9}"/>
              </a:ext>
            </a:extLst>
          </p:cNvPr>
          <p:cNvSpPr>
            <a:spLocks xmlns:a="http://schemas.openxmlformats.org/drawingml/2006/main" noGrp="1"/>
          </p:cNvSpPr>
          <p:nvPr/>
        </p:nvSpPr>
        <p:spPr>
          <a:xfrm xmlns:a="http://schemas.openxmlformats.org/drawingml/2006/main">
            <a:off x="762000" y="259080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F5FDACF7-C2D1-4D5D-AC7E-D12F28C96C59}"/>
              </a:ext>
            </a:extLst>
          </p:cNvPr>
          <p:cNvSpPr>
            <a:spLocks xmlns:a="http://schemas.openxmlformats.org/drawingml/2006/main" noGrp="1"/>
          </p:cNvSpPr>
          <p:nvPr/>
        </p:nvSpPr>
        <p:spPr>
          <a:xfrm xmlns:a="http://schemas.openxmlformats.org/drawingml/2006/main">
            <a:off x="3333750" y="2590800"/>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Check board status</a:t>
            </a:r>
          </a:p>
        </p:txBody>
      </p:sp>
      <p:sp>
        <p:nvSpPr>
          <p:cNvPr id="7" name="">
            <a:extLst xmlns:a="http://schemas.openxmlformats.org/drawingml/2006/main">
              <a:ext uri="{FF2B5EF4-FFF2-40B4-BE49-F238E27FC236}">
                <a16:creationId xmlns:a16="http://schemas.microsoft.com/office/drawing/2014/main" id="{6A13E159-5DEE-4A3B-8EB8-0AFF33B5E462}"/>
              </a:ext>
            </a:extLst>
          </p:cNvPr>
          <p:cNvSpPr>
            <a:spLocks xmlns:a="http://schemas.openxmlformats.org/drawingml/2006/main" noGrp="1"/>
          </p:cNvSpPr>
          <p:nvPr/>
        </p:nvSpPr>
        <p:spPr>
          <a:xfrm xmlns:a="http://schemas.openxmlformats.org/drawingml/2006/main">
            <a:off x="762000" y="3228975"/>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3 / 4 / 5</a:t>
            </a:r>
          </a:p>
        </p:txBody>
      </p:sp>
      <p:sp>
        <p:nvSpPr>
          <p:cNvPr id="8" name="">
            <a:extLst xmlns:a="http://schemas.openxmlformats.org/drawingml/2006/main">
              <a:ext uri="{FF2B5EF4-FFF2-40B4-BE49-F238E27FC236}">
                <a16:creationId xmlns:a16="http://schemas.microsoft.com/office/drawing/2014/main" id="{1535AE7B-BC4C-473B-ACD3-B02F7A9DA255}"/>
              </a:ext>
            </a:extLst>
          </p:cNvPr>
          <p:cNvSpPr>
            <a:spLocks xmlns:a="http://schemas.openxmlformats.org/drawingml/2006/main" noGrp="1"/>
          </p:cNvSpPr>
          <p:nvPr/>
        </p:nvSpPr>
        <p:spPr>
          <a:xfrm xmlns:a="http://schemas.openxmlformats.org/drawingml/2006/main">
            <a:off x="3333750" y="3228975"/>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Run a demonstration</a:t>
            </a:r>
          </a:p>
        </p:txBody>
      </p:sp>
      <p:sp>
        <p:nvSpPr>
          <p:cNvPr id="9" name="">
            <a:extLst xmlns:a="http://schemas.openxmlformats.org/drawingml/2006/main">
              <a:ext uri="{FF2B5EF4-FFF2-40B4-BE49-F238E27FC236}">
                <a16:creationId xmlns:a16="http://schemas.microsoft.com/office/drawing/2014/main" id="{85F70AF5-1CF6-41FD-8B6A-9D4F7481F034}"/>
              </a:ext>
            </a:extLst>
          </p:cNvPr>
          <p:cNvSpPr>
            <a:spLocks xmlns:a="http://schemas.openxmlformats.org/drawingml/2006/main" noGrp="1"/>
          </p:cNvSpPr>
          <p:nvPr/>
        </p:nvSpPr>
        <p:spPr>
          <a:xfrm xmlns:a="http://schemas.openxmlformats.org/drawingml/2006/main">
            <a:off x="762000" y="386715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6</a:t>
            </a:r>
          </a:p>
        </p:txBody>
      </p:sp>
      <p:sp>
        <p:nvSpPr>
          <p:cNvPr id="10" name="">
            <a:extLst xmlns:a="http://schemas.openxmlformats.org/drawingml/2006/main">
              <a:ext uri="{FF2B5EF4-FFF2-40B4-BE49-F238E27FC236}">
                <a16:creationId xmlns:a16="http://schemas.microsoft.com/office/drawing/2014/main" id="{E645211D-323B-43D9-B8E0-E2C98F593963}"/>
              </a:ext>
            </a:extLst>
          </p:cNvPr>
          <p:cNvSpPr>
            <a:spLocks xmlns:a="http://schemas.openxmlformats.org/drawingml/2006/main" noGrp="1"/>
          </p:cNvSpPr>
          <p:nvPr/>
        </p:nvSpPr>
        <p:spPr>
          <a:xfrm xmlns:a="http://schemas.openxmlformats.org/drawingml/2006/main">
            <a:off x="3333750" y="3867150"/>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Inspect storage usage</a:t>
            </a:r>
          </a:p>
        </p:txBody>
      </p:sp>
      <p:sp>
        <p:nvSpPr>
          <p:cNvPr id="11" name="">
            <a:extLst xmlns:a="http://schemas.openxmlformats.org/drawingml/2006/main">
              <a:ext uri="{FF2B5EF4-FFF2-40B4-BE49-F238E27FC236}">
                <a16:creationId xmlns:a16="http://schemas.microsoft.com/office/drawing/2014/main" id="{B8FA2D4E-2298-4731-B6B8-27670A38CB53}"/>
              </a:ext>
            </a:extLst>
          </p:cNvPr>
          <p:cNvSpPr>
            <a:spLocks xmlns:a="http://schemas.openxmlformats.org/drawingml/2006/main" noGrp="1"/>
          </p:cNvSpPr>
          <p:nvPr/>
        </p:nvSpPr>
        <p:spPr>
          <a:xfrm xmlns:a="http://schemas.openxmlformats.org/drawingml/2006/main">
            <a:off x="762000" y="4505325"/>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7</a:t>
            </a:r>
          </a:p>
        </p:txBody>
      </p:sp>
      <p:sp>
        <p:nvSpPr>
          <p:cNvPr id="12" name="">
            <a:extLst xmlns:a="http://schemas.openxmlformats.org/drawingml/2006/main">
              <a:ext uri="{FF2B5EF4-FFF2-40B4-BE49-F238E27FC236}">
                <a16:creationId xmlns:a16="http://schemas.microsoft.com/office/drawing/2014/main" id="{BA6D389F-4EB9-4422-8825-CD0C8A539F78}"/>
              </a:ext>
            </a:extLst>
          </p:cNvPr>
          <p:cNvSpPr>
            <a:spLocks xmlns:a="http://schemas.openxmlformats.org/drawingml/2006/main" noGrp="1"/>
          </p:cNvSpPr>
          <p:nvPr/>
        </p:nvSpPr>
        <p:spPr>
          <a:xfrm xmlns:a="http://schemas.openxmlformats.org/drawingml/2006/main">
            <a:off x="3333750" y="4505325"/>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Open this presentation</a:t>
            </a:r>
          </a:p>
        </p:txBody>
      </p:sp>
      <p:sp>
        <p:nvSpPr>
          <p:cNvPr id="13" name="">
            <a:extLst xmlns:a="http://schemas.openxmlformats.org/drawingml/2006/main">
              <a:ext uri="{FF2B5EF4-FFF2-40B4-BE49-F238E27FC236}">
                <a16:creationId xmlns:a16="http://schemas.microsoft.com/office/drawing/2014/main" id="{0C43F97C-4CD6-4986-A219-2C90C8F38446}"/>
              </a:ext>
            </a:extLst>
          </p:cNvPr>
          <p:cNvSpPr>
            <a:spLocks xmlns:a="http://schemas.openxmlformats.org/drawingml/2006/main" noGrp="1"/>
          </p:cNvSpPr>
          <p:nvPr/>
        </p:nvSpPr>
        <p:spPr>
          <a:xfrm xmlns:a="http://schemas.openxmlformats.org/drawingml/2006/main">
            <a:off x="762000" y="5143500"/>
            <a:ext cx="2143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397718"/>
                </a:solidFill>
                <a:latin typeface="Arial"/>
                <a:ea typeface="Arial"/>
                <a:cs typeface="Arial"/>
              </a:defRPr>
            </a:pPr>
            <a:r>
              <a:rPr sz="2175" b="1">
                <a:solidFill>
                  <a:srgbClr val="397718"/>
                </a:solidFill>
                <a:latin typeface="Arial"/>
                <a:ea typeface="Arial"/>
                <a:cs typeface="Arial"/>
              </a:rPr>
              <a:t>0</a:t>
            </a:r>
          </a:p>
        </p:txBody>
      </p:sp>
      <p:sp>
        <p:nvSpPr>
          <p:cNvPr id="14" name="">
            <a:extLst xmlns:a="http://schemas.openxmlformats.org/drawingml/2006/main">
              <a:ext uri="{FF2B5EF4-FFF2-40B4-BE49-F238E27FC236}">
                <a16:creationId xmlns:a16="http://schemas.microsoft.com/office/drawing/2014/main" id="{213302E3-7D7A-4F61-90FC-2EE0551B44A3}"/>
              </a:ext>
            </a:extLst>
          </p:cNvPr>
          <p:cNvSpPr>
            <a:spLocks xmlns:a="http://schemas.openxmlformats.org/drawingml/2006/main" noGrp="1"/>
          </p:cNvSpPr>
          <p:nvPr/>
        </p:nvSpPr>
        <p:spPr>
          <a:xfrm xmlns:a="http://schemas.openxmlformats.org/drawingml/2006/main">
            <a:off x="3333750" y="5143500"/>
            <a:ext cx="790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9332A"/>
                </a:solidFill>
                <a:latin typeface="Arial"/>
                <a:ea typeface="Arial"/>
                <a:cs typeface="Arial"/>
              </a:defRPr>
            </a:pPr>
            <a:r>
              <a:rPr sz="2175" b="0">
                <a:solidFill>
                  <a:srgbClr val="19332A"/>
                </a:solidFill>
                <a:latin typeface="Arial"/>
                <a:ea typeface="Arial"/>
                <a:cs typeface="Arial"/>
              </a:rPr>
              <a:t>Exit</a:t>
            </a:r>
          </a:p>
        </p:txBody>
      </p:sp>
      <p:sp>
        <p:nvSpPr>
          <p:cNvPr id="15" name="">
            <a:extLst xmlns:a="http://schemas.openxmlformats.org/drawingml/2006/main">
              <a:ext uri="{FF2B5EF4-FFF2-40B4-BE49-F238E27FC236}">
                <a16:creationId xmlns:a16="http://schemas.microsoft.com/office/drawing/2014/main" id="{D881F693-8EDA-4F6D-920A-38D2B9C2E009}"/>
              </a:ext>
            </a:extLst>
          </p:cNvPr>
          <p:cNvSpPr>
            <a:spLocks xmlns:a="http://schemas.openxmlformats.org/drawingml/2006/main" noGrp="1"/>
          </p:cNvSpPr>
          <p:nvPr/>
        </p:nvSpPr>
        <p:spPr>
          <a:xfrm xmlns:a="http://schemas.openxmlformats.org/drawingml/2006/main">
            <a:off x="762000" y="5953125"/>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2635B"/>
                </a:solidFill>
                <a:latin typeface="Arial"/>
                <a:ea typeface="Arial"/>
                <a:cs typeface="Arial"/>
              </a:defRPr>
            </a:pPr>
            <a:r>
              <a:rPr sz="1800" b="0">
                <a:solidFill>
                  <a:srgbClr val="52635B"/>
                </a:solidFill>
                <a:latin typeface="Arial"/>
                <a:ea typeface="Arial"/>
                <a:cs typeface="Arial"/>
              </a:rPr>
              <a:t>Ctrl+C cancels a demo and returns to the menu.</a:t>
            </a:r>
          </a:p>
        </p:txBody>
      </p:sp>
    </p:spTree>
    <p:extLst>
      <p:ext uri="{BB962C8B-B14F-4D97-AF65-F5344CB8AC3E}">
        <p14:creationId xmlns:p14="http://schemas.microsoft.com/office/powerpoint/2010/main" val="2232849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2026-09-24T06:21:20.2630000Z</dcterms:created>
  <dcterms:modified xsi:type="dcterms:W3CDTF">2026-09-24T06:21:20.2630000Z</dcterms:modified>
</coreProperties>
</file>