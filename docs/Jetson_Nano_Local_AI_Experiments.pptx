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edf9f599f464f5c" /><Relationship Type="http://schemas.openxmlformats.org/officeDocument/2006/relationships/extended-properties" Target="/docProps/app.xml" Id="R48b1f37e493f4274" /><Relationship Type="http://schemas.openxmlformats.org/officeDocument/2006/relationships/officeDocument" Target="/ppt/presentation.xml" Id="Rd49c2517ecd149dc" /></Relationships>
</file>

<file path=ppt/presentation.xml><?xml version="1.0" encoding="utf-8"?>
<p:presentation xmlns:p="http://schemas.openxmlformats.org/presentationml/2006/main">
  <p:sldMasterIdLst>
    <p:sldMasterId xmlns:r="http://schemas.openxmlformats.org/officeDocument/2006/relationships" id="2147483648" r:id="R63c9e2d4bc2d42ee"/>
  </p:sldMasterIdLst>
  <p:notesMasterIdLst>
    <p:notesMasterId xmlns:r="http://schemas.openxmlformats.org/officeDocument/2006/relationships" r:id="R243c1052c57c4d20"/>
  </p:notesMasterIdLst>
  <p:sldIdLst>
    <p:sldId xmlns:r="http://schemas.openxmlformats.org/officeDocument/2006/relationships" id="256" r:id="Rd35f6f33c2764035"/>
    <p:sldId xmlns:r="http://schemas.openxmlformats.org/officeDocument/2006/relationships" id="257" r:id="Rb967bbbd29db421c"/>
    <p:sldId xmlns:r="http://schemas.openxmlformats.org/officeDocument/2006/relationships" id="258" r:id="Rb5647ad114b34648"/>
    <p:sldId xmlns:r="http://schemas.openxmlformats.org/officeDocument/2006/relationships" id="259" r:id="R15b1ff74641a4d9b"/>
    <p:sldId xmlns:r="http://schemas.openxmlformats.org/officeDocument/2006/relationships" id="260" r:id="R528cdc9c1af34cc4"/>
    <p:sldId xmlns:r="http://schemas.openxmlformats.org/officeDocument/2006/relationships" id="261" r:id="R9258778ac5e146f8"/>
    <p:sldId xmlns:r="http://schemas.openxmlformats.org/officeDocument/2006/relationships" id="262" r:id="R6fd447b9efe14302"/>
    <p:sldId xmlns:r="http://schemas.openxmlformats.org/officeDocument/2006/relationships" id="263" r:id="Ree3d3b135f6c4e66"/>
    <p:sldId xmlns:r="http://schemas.openxmlformats.org/officeDocument/2006/relationships" id="264" r:id="R3aaa7acc11774167"/>
    <p:sldId xmlns:r="http://schemas.openxmlformats.org/officeDocument/2006/relationships" id="265" r:id="R8bf70701525b47f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e3613d5fde44ede" /><Relationship Type="http://schemas.openxmlformats.org/officeDocument/2006/relationships/slideMaster" Target="/ppt/slideMasters/slideMaster1.xml" Id="R63c9e2d4bc2d42ee" /><Relationship Type="http://schemas.openxmlformats.org/officeDocument/2006/relationships/notesMaster" Target="/ppt/notesMasters/notesMaster1.xml" Id="R243c1052c57c4d20" /><Relationship Type="http://schemas.openxmlformats.org/officeDocument/2006/relationships/presProps" Target="/ppt/presProps.xml" Id="R24254bff04594df6" /><Relationship Type="http://schemas.openxmlformats.org/officeDocument/2006/relationships/tableStyles" Target="/ppt/tableStyles.xml" Id="Rf3e7f710c6c84f63" /><Relationship Type="http://schemas.openxmlformats.org/officeDocument/2006/relationships/slide" Target="/ppt/slides/slide1.xml" Id="Rd35f6f33c2764035" /><Relationship Type="http://schemas.openxmlformats.org/officeDocument/2006/relationships/slide" Target="/ppt/slides/slide2.xml" Id="Rb967bbbd29db421c" /><Relationship Type="http://schemas.openxmlformats.org/officeDocument/2006/relationships/slide" Target="/ppt/slides/slide3.xml" Id="Rb5647ad114b34648" /><Relationship Type="http://schemas.openxmlformats.org/officeDocument/2006/relationships/slide" Target="/ppt/slides/slide4.xml" Id="R15b1ff74641a4d9b" /><Relationship Type="http://schemas.openxmlformats.org/officeDocument/2006/relationships/slide" Target="/ppt/slides/slide5.xml" Id="R528cdc9c1af34cc4" /><Relationship Type="http://schemas.openxmlformats.org/officeDocument/2006/relationships/slide" Target="/ppt/slides/slide6.xml" Id="R9258778ac5e146f8" /><Relationship Type="http://schemas.openxmlformats.org/officeDocument/2006/relationships/slide" Target="/ppt/slides/slide7.xml" Id="R6fd447b9efe14302" /><Relationship Type="http://schemas.openxmlformats.org/officeDocument/2006/relationships/slide" Target="/ppt/slides/slide8.xml" Id="Ree3d3b135f6c4e66" /><Relationship Type="http://schemas.openxmlformats.org/officeDocument/2006/relationships/slide" Target="/ppt/slides/slide9.xml" Id="R3aaa7acc11774167" /><Relationship Type="http://schemas.openxmlformats.org/officeDocument/2006/relationships/slide" Target="/ppt/slides/slide10.xml" Id="R8bf70701525b47f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1259946dfa47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d569cb702fd4a8f" /><Relationship Type="http://schemas.openxmlformats.org/officeDocument/2006/relationships/notesMaster" Target="/ppt/notesMasters/notesMaster1.xml" Id="Rda9ef5d470b0418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355aeb2ad042da" /><Relationship Type="http://schemas.openxmlformats.org/officeDocument/2006/relationships/notesMaster" Target="/ppt/notesMasters/notesMaster1.xml" Id="R8b0124123cdb4734" /></Relationships>
</file>

<file path=ppt/notesSlides/_rels/notesSlide3.xml.rels>&#65279;<?xml version="1.0" encoding="utf-8"?><Relationships xmlns="http://schemas.openxmlformats.org/package/2006/relationships"><Relationship Type="http://schemas.openxmlformats.org/officeDocument/2006/relationships/slide" Target="/ppt/slides/slide3.xml" Id="Radd6ba42d72046fa" /><Relationship Type="http://schemas.openxmlformats.org/officeDocument/2006/relationships/notesMaster" Target="/ppt/notesMasters/notesMaster1.xml" Id="R557ac733719845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b774623e874aae" /><Relationship Type="http://schemas.openxmlformats.org/officeDocument/2006/relationships/notesMaster" Target="/ppt/notesMasters/notesMaster1.xml" Id="R86db0e6daf8646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33c4dc4da83544e4" /><Relationship Type="http://schemas.openxmlformats.org/officeDocument/2006/relationships/notesMaster" Target="/ppt/notesMasters/notesMaster1.xml" Id="Rbdce7bd7371b4b9a" /></Relationships>
</file>

<file path=ppt/notesSlides/_rels/notesSlide6.xml.rels>&#65279;<?xml version="1.0" encoding="utf-8"?><Relationships xmlns="http://schemas.openxmlformats.org/package/2006/relationships"><Relationship Type="http://schemas.openxmlformats.org/officeDocument/2006/relationships/slide" Target="/ppt/slides/slide6.xml" Id="R8131fb299b674509" /><Relationship Type="http://schemas.openxmlformats.org/officeDocument/2006/relationships/notesMaster" Target="/ppt/notesMasters/notesMaster1.xml" Id="Rc3057300daed4a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77561382cf9f4866" /><Relationship Type="http://schemas.openxmlformats.org/officeDocument/2006/relationships/notesMaster" Target="/ppt/notesMasters/notesMaster1.xml" Id="Rfa36ed6d1d704a4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e01444f27d24a28" /><Relationship Type="http://schemas.openxmlformats.org/officeDocument/2006/relationships/notesMaster" Target="/ppt/notesMasters/notesMaster1.xml" Id="Rbba417d1ae794cb1" /></Relationships>
</file>

<file path=ppt/notesSlides/_rels/notesSlide9.xml.rels>&#65279;<?xml version="1.0" encoding="utf-8"?><Relationships xmlns="http://schemas.openxmlformats.org/package/2006/relationships"><Relationship Type="http://schemas.openxmlformats.org/officeDocument/2006/relationships/slide" Target="/ppt/slides/slide9.xml" Id="Rd27d21d2aad2438b" /><Relationship Type="http://schemas.openxmlformats.org/officeDocument/2006/relationships/notesMaster" Target="/ppt/notesMasters/notesMaster1.xml" Id="Re5f6d3a9312a4cf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7e23db64fee4518" /><Relationship Type="http://schemas.openxmlformats.org/officeDocument/2006/relationships/notesMaster" Target="/ppt/notesMasters/notesMaster1.xml" Id="R3e65cb37e5df4f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Image: NVIDIA, https://www.nvidia.com/en-us/autonomous-machines/embedded-systems/jetson-nano/product-development/</a:t>
            </a:r>
          </a:p>
          <a:p xmlns:a="http://schemas.openxmlformats.org/drawingml/2006/main">
            <a:r>
              <a:t>Asset: https://www.nvidia.com/content/nvidiaGDC/us/en_US/autonomous-machines/embedded-systems/jetson-nano/product-development/_jcr_content/root/responsivegrid/nv_container_1169488117/nv_container_copy/nv_image.coreimg.jpeg/1710770678070/jetson-nano-2560x1440.jpeg</a:t>
            </a:r>
          </a:p>
          <a:p xmlns:a="http://schemas.openxmlformats.org/drawingml/2006/main">
            <a:r>
              <a:t>Photo is a product reference, not this user’s board. Code scope: docs/EXPERIMENTS.md in https://github.com/nileshsarkar-ai/JetsonNano-Demo. No physical-board performance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dde1df32e2e44d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38db041a3564bb6" /><Relationship Type="http://schemas.openxmlformats.org/officeDocument/2006/relationships/slideLayout" Target="/ppt/slideLayouts/slideLayout1.xml" Id="Ra5c741f6d8f742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c741f6d8f742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cec74468db84d1c" /><Relationship Type="http://schemas.openxmlformats.org/officeDocument/2006/relationships/image" Target="/ppt/media/image.jpeg" Id="Rc4e22e0fe44447e8" /><Relationship Type="http://schemas.openxmlformats.org/officeDocument/2006/relationships/notesSlide" Target="/ppt/notesSlides/notesSlide1.xml" Id="R1dfc35116a1e480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7fec034042744e5" /><Relationship Type="http://schemas.openxmlformats.org/officeDocument/2006/relationships/notesSlide" Target="/ppt/notesSlides/notesSlide2.xml" Id="Rd3314ca6fc0d43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b4290931e8c4c7e" /><Relationship Type="http://schemas.openxmlformats.org/officeDocument/2006/relationships/notesSlide" Target="/ppt/notesSlides/notesSlide3.xml" Id="R5ec544b715d4412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f7687dc599343e0" /><Relationship Type="http://schemas.openxmlformats.org/officeDocument/2006/relationships/notesSlide" Target="/ppt/notesSlides/notesSlide4.xml" Id="R134a9c46e3d043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dea4423ba5f49e8" /><Relationship Type="http://schemas.openxmlformats.org/officeDocument/2006/relationships/notesSlide" Target="/ppt/notesSlides/notesSlide5.xml" Id="Rc34a2daf92514b1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78cd214530649ee" /><Relationship Type="http://schemas.openxmlformats.org/officeDocument/2006/relationships/notesSlide" Target="/ppt/notesSlides/notesSlide6.xml" Id="R8cbba73de4ff442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44d6ec6ccf64a21" /><Relationship Type="http://schemas.openxmlformats.org/officeDocument/2006/relationships/notesSlide" Target="/ppt/notesSlides/notesSlide7.xml" Id="Rb42dedd9f69f41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722d08b32104f42" /><Relationship Type="http://schemas.openxmlformats.org/officeDocument/2006/relationships/notesSlide" Target="/ppt/notesSlides/notesSlide8.xml" Id="R23a6167d2dc443e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7404205639c44ad" /><Relationship Type="http://schemas.openxmlformats.org/officeDocument/2006/relationships/notesSlide" Target="/ppt/notesSlides/notesSlide9.xml" Id="Rf0179d33ff3542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8a63f36eb784c2d" /><Relationship Type="http://schemas.openxmlformats.org/officeDocument/2006/relationships/notesSlide" Target="/ppt/notesSlides/notesSlide10.xml" Id="R967cf3eb9d3b45e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52D6817-1018-499B-AE97-27ECF4A92967}"/>
              </a:ext>
            </a:extLst>
          </p:cNvPr>
          <p:cNvSpPr>
            <a:spLocks xmlns:a="http://schemas.openxmlformats.org/drawingml/2006/main" noGrp="1"/>
          </p:cNvSpPr>
          <p:nvPr/>
        </p:nvSpPr>
        <p:spPr>
          <a:xfrm xmlns:a="http://schemas.openxmlformats.org/drawingml/2006/main">
            <a:off x="685800" y="6477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397718"/>
                </a:solidFill>
                <a:latin typeface="Arial"/>
                <a:ea typeface="Arial"/>
                <a:cs typeface="Arial"/>
              </a:defRPr>
            </a:pPr>
            <a:r>
              <a:rPr sz="1575" b="1">
                <a:solidFill>
                  <a:srgbClr val="397718"/>
                </a:solidFill>
                <a:latin typeface="Arial"/>
                <a:ea typeface="Arial"/>
                <a:cs typeface="Arial"/>
              </a:rPr>
              <a:t>LOCAL AI / CLASSROOM EXPERIMENTS</a:t>
            </a:r>
          </a:p>
        </p:txBody>
      </p:sp>
      <p:sp>
        <p:nvSpPr>
          <p:cNvPr id="2" name="">
            <a:extLst xmlns:a="http://schemas.openxmlformats.org/drawingml/2006/main">
              <a:ext uri="{FF2B5EF4-FFF2-40B4-BE49-F238E27FC236}">
                <a16:creationId xmlns:a16="http://schemas.microsoft.com/office/drawing/2014/main" id="{AB77F809-9AE7-42B4-B2C8-57DC9D6D7116}"/>
              </a:ext>
            </a:extLst>
          </p:cNvPr>
          <p:cNvSpPr>
            <a:spLocks xmlns:a="http://schemas.openxmlformats.org/drawingml/2006/main" noGrp="1"/>
          </p:cNvSpPr>
          <p:nvPr/>
        </p:nvSpPr>
        <p:spPr>
          <a:xfrm xmlns:a="http://schemas.openxmlformats.org/drawingml/2006/main">
            <a:off x="666750" y="1638300"/>
            <a:ext cx="6000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19332A"/>
                </a:solidFill>
                <a:latin typeface="Arial"/>
                <a:ea typeface="Arial"/>
                <a:cs typeface="Arial"/>
              </a:defRPr>
            </a:pPr>
            <a:r>
              <a:rPr sz="5700" b="1">
                <a:solidFill>
                  <a:srgbClr val="19332A"/>
                </a:solidFill>
                <a:latin typeface="Arial"/>
                <a:ea typeface="Arial"/>
                <a:cs typeface="Arial"/>
              </a:rPr>
              <a:t>Local AI on</a:t>
            </a:r>
          </a:p>
          <a:p xmlns:a="http://schemas.openxmlformats.org/drawingml/2006/main">
            <a:pPr>
              <a:defRPr sz="5700" b="1">
                <a:solidFill>
                  <a:srgbClr val="19332A"/>
                </a:solidFill>
                <a:latin typeface="Arial"/>
                <a:ea typeface="Arial"/>
                <a:cs typeface="Arial"/>
              </a:defRPr>
            </a:pPr>
            <a:r>
              <a:rPr sz="5700" b="1">
                <a:solidFill>
                  <a:srgbClr val="19332A"/>
                </a:solidFill>
                <a:latin typeface="Arial"/>
                <a:ea typeface="Arial"/>
                <a:cs typeface="Arial"/>
              </a:rPr>
              <a:t>Jetson Nano</a:t>
            </a:r>
          </a:p>
        </p:txBody>
      </p:sp>
      <p:sp>
        <p:nvSpPr>
          <p:cNvPr id="3" name="">
            <a:extLst xmlns:a="http://schemas.openxmlformats.org/drawingml/2006/main">
              <a:ext uri="{FF2B5EF4-FFF2-40B4-BE49-F238E27FC236}">
                <a16:creationId xmlns:a16="http://schemas.microsoft.com/office/drawing/2014/main" id="{B6BA6D0A-27ED-4EE6-A6FC-13751BB7F949}"/>
              </a:ext>
            </a:extLst>
          </p:cNvPr>
          <p:cNvSpPr>
            <a:spLocks xmlns:a="http://schemas.openxmlformats.org/drawingml/2006/main" noGrp="1"/>
          </p:cNvSpPr>
          <p:nvPr/>
        </p:nvSpPr>
        <p:spPr>
          <a:xfrm xmlns:a="http://schemas.openxmlformats.org/drawingml/2006/main">
            <a:off x="723900" y="3714750"/>
            <a:ext cx="5429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52635B"/>
                </a:solidFill>
                <a:latin typeface="Arial"/>
                <a:ea typeface="Arial"/>
                <a:cs typeface="Arial"/>
              </a:defRPr>
            </a:pPr>
            <a:r>
              <a:rPr sz="2175" b="0">
                <a:solidFill>
                  <a:srgbClr val="52635B"/>
                </a:solidFill>
                <a:latin typeface="Arial"/>
                <a:ea typeface="Arial"/>
                <a:cs typeface="Arial"/>
              </a:rPr>
              <a:t>Explore language, memory and vision</a:t>
            </a:r>
          </a:p>
          <a:p xmlns:a="http://schemas.openxmlformats.org/drawingml/2006/main">
            <a:pPr>
              <a:defRPr sz="2175" b="0">
                <a:solidFill>
                  <a:srgbClr val="52635B"/>
                </a:solidFill>
                <a:latin typeface="Arial"/>
                <a:ea typeface="Arial"/>
                <a:cs typeface="Arial"/>
              </a:defRPr>
            </a:pPr>
            <a:r>
              <a:rPr sz="2175" b="0">
                <a:solidFill>
                  <a:srgbClr val="52635B"/>
                </a:solidFill>
                <a:latin typeface="Arial"/>
                <a:ea typeface="Arial"/>
                <a:cs typeface="Arial"/>
              </a:rPr>
              <a:t>with local models and a camera.</a:t>
            </a:r>
          </a:p>
        </p:txBody>
      </p:sp>
      <p:sp>
        <p:nvSpPr>
          <p:cNvPr id="4" name="">
            <a:extLst xmlns:a="http://schemas.openxmlformats.org/drawingml/2006/main">
              <a:ext uri="{FF2B5EF4-FFF2-40B4-BE49-F238E27FC236}">
                <a16:creationId xmlns:a16="http://schemas.microsoft.com/office/drawing/2014/main" id="{B6AB0054-8BC7-4A8B-9D6C-82710923E27E}"/>
              </a:ext>
            </a:extLst>
          </p:cNvPr>
          <p:cNvSpPr>
            <a:spLocks xmlns:a="http://schemas.openxmlformats.org/drawingml/2006/main" noGrp="1"/>
          </p:cNvSpPr>
          <p:nvPr/>
        </p:nvSpPr>
        <p:spPr>
          <a:xfrm xmlns:a="http://schemas.openxmlformats.org/drawingml/2006/main">
            <a:off x="685800" y="4972050"/>
            <a:ext cx="142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000" b="1">
                <a:solidFill>
                  <a:srgbClr val="397718"/>
                </a:solidFill>
                <a:latin typeface="Arial"/>
                <a:ea typeface="Arial"/>
                <a:cs typeface="Arial"/>
              </a:defRPr>
            </a:pPr>
            <a:r>
              <a:rPr sz="6000" b="1">
                <a:solidFill>
                  <a:srgbClr val="397718"/>
                </a:solidFill>
                <a:latin typeface="Arial"/>
                <a:ea typeface="Arial"/>
                <a:cs typeface="Arial"/>
              </a:rPr>
              <a:t>27</a:t>
            </a:r>
          </a:p>
        </p:txBody>
      </p:sp>
      <p:sp>
        <p:nvSpPr>
          <p:cNvPr id="5" name="">
            <a:extLst xmlns:a="http://schemas.openxmlformats.org/drawingml/2006/main">
              <a:ext uri="{FF2B5EF4-FFF2-40B4-BE49-F238E27FC236}">
                <a16:creationId xmlns:a16="http://schemas.microsoft.com/office/drawing/2014/main" id="{00AD9E32-303F-4F9D-B29E-4536B52A5CE5}"/>
              </a:ext>
            </a:extLst>
          </p:cNvPr>
          <p:cNvSpPr>
            <a:spLocks xmlns:a="http://schemas.openxmlformats.org/drawingml/2006/main" noGrp="1"/>
          </p:cNvSpPr>
          <p:nvPr/>
        </p:nvSpPr>
        <p:spPr>
          <a:xfrm xmlns:a="http://schemas.openxmlformats.org/drawingml/2006/main">
            <a:off x="2171700" y="5181600"/>
            <a:ext cx="342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9332A"/>
                </a:solidFill>
                <a:latin typeface="Arial"/>
                <a:ea typeface="Arial"/>
                <a:cs typeface="Arial"/>
              </a:defRPr>
            </a:pPr>
            <a:r>
              <a:rPr sz="2100" b="0">
                <a:solidFill>
                  <a:srgbClr val="19332A"/>
                </a:solidFill>
                <a:latin typeface="Arial"/>
                <a:ea typeface="Arial"/>
                <a:cs typeface="Arial"/>
              </a:rPr>
              <a:t>named experiments</a:t>
            </a:r>
          </a:p>
          <a:p xmlns:a="http://schemas.openxmlformats.org/drawingml/2006/main">
            <a:pPr>
              <a:defRPr sz="2100" b="0">
                <a:solidFill>
                  <a:srgbClr val="19332A"/>
                </a:solidFill>
                <a:latin typeface="Arial"/>
                <a:ea typeface="Arial"/>
                <a:cs typeface="Arial"/>
              </a:defRPr>
            </a:pPr>
            <a:r>
              <a:rPr sz="2100" b="0">
                <a:solidFill>
                  <a:srgbClr val="19332A"/>
                </a:solidFill>
                <a:latin typeface="Arial"/>
                <a:ea typeface="Arial"/>
                <a:cs typeface="Arial"/>
              </a:rPr>
              <a:t>one Bash launcher</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c4e22e0fe44447e8"/>
          <a:stretch xmlns:a="http://schemas.openxmlformats.org/drawingml/2006/main"/>
        </p:blipFill>
        <p:spPr>
          <a:xfrm xmlns:a="http://schemas.openxmlformats.org/drawingml/2006/main">
            <a:off x="6096000" y="1980009"/>
            <a:ext cx="5524500" cy="3107531"/>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0BC6F1F-F461-4009-A0E1-F4EF8034499C}"/>
              </a:ext>
            </a:extLst>
          </p:cNvPr>
          <p:cNvSpPr>
            <a:spLocks xmlns:a="http://schemas.openxmlformats.org/drawingml/2006/main" noGrp="1"/>
          </p:cNvSpPr>
          <p:nvPr/>
        </p:nvSpPr>
        <p:spPr>
          <a:xfrm xmlns:a="http://schemas.openxmlformats.org/drawingml/2006/main">
            <a:off x="714375" y="62865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35B"/>
                </a:solidFill>
                <a:latin typeface="Arial"/>
                <a:ea typeface="Arial"/>
                <a:cs typeface="Arial"/>
              </a:defRPr>
            </a:pPr>
            <a:r>
              <a:rPr sz="1425" b="0">
                <a:solidFill>
                  <a:srgbClr val="52635B"/>
                </a:solidFill>
                <a:latin typeface="Arial"/>
                <a:ea typeface="Arial"/>
                <a:cs typeface="Arial"/>
              </a:rPr>
              <a:t>Original Nano 4GB, JetPack 4, Python 3.6</a:t>
            </a:r>
          </a:p>
        </p:txBody>
      </p:sp>
    </p:spTree>
    <p:extLst>
      <p:ext uri="{BB962C8B-B14F-4D97-AF65-F5344CB8AC3E}">
        <p14:creationId xmlns:p14="http://schemas.microsoft.com/office/powerpoint/2010/main" val="18099431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249BB3B-3496-4B0F-81C3-033DD8A6921B}"/>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Setup and the experiment menu</a:t>
            </a:r>
          </a:p>
        </p:txBody>
      </p:sp>
      <p:sp>
        <p:nvSpPr>
          <p:cNvPr id="2" name="">
            <a:extLst xmlns:a="http://schemas.openxmlformats.org/drawingml/2006/main">
              <a:ext uri="{FF2B5EF4-FFF2-40B4-BE49-F238E27FC236}">
                <a16:creationId xmlns:a16="http://schemas.microsoft.com/office/drawing/2014/main" id="{7A60ECE8-7FDD-473B-AACA-5C11AB29F4BA}"/>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Run these commands in a terminal on the Nano.</a:t>
            </a:r>
          </a:p>
        </p:txBody>
      </p:sp>
      <p:sp>
        <p:nvSpPr>
          <p:cNvPr id="3" name="">
            <a:extLst xmlns:a="http://schemas.openxmlformats.org/drawingml/2006/main">
              <a:ext uri="{FF2B5EF4-FFF2-40B4-BE49-F238E27FC236}">
                <a16:creationId xmlns:a16="http://schemas.microsoft.com/office/drawing/2014/main" id="{E1B0C650-546B-4D1D-BE08-6B38301F309C}"/>
              </a:ext>
            </a:extLst>
          </p:cNvPr>
          <p:cNvSpPr>
            <a:spLocks xmlns:a="http://schemas.openxmlformats.org/drawingml/2006/main" noGrp="1"/>
          </p:cNvSpPr>
          <p:nvPr/>
        </p:nvSpPr>
        <p:spPr>
          <a:xfrm xmlns:a="http://schemas.openxmlformats.org/drawingml/2006/main">
            <a:off x="666750" y="61912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35B"/>
                </a:solidFill>
                <a:latin typeface="Arial"/>
                <a:ea typeface="Arial"/>
                <a:cs typeface="Arial"/>
              </a:defRPr>
            </a:pPr>
            <a:r>
              <a:rPr sz="1350" b="0">
                <a:solidFill>
                  <a:srgbClr val="52635B"/>
                </a:solidFill>
                <a:latin typeface="Arial"/>
                <a:ea typeface="Arial"/>
                <a:cs typeface="Arial"/>
              </a:rPr>
              <a:t>Prepare once, then choose a local AI experiment by its menu number.</a:t>
            </a:r>
          </a:p>
        </p:txBody>
      </p:sp>
      <p:sp>
        <p:nvSpPr>
          <p:cNvPr id="4" name="">
            <a:extLst xmlns:a="http://schemas.openxmlformats.org/drawingml/2006/main">
              <a:ext uri="{FF2B5EF4-FFF2-40B4-BE49-F238E27FC236}">
                <a16:creationId xmlns:a16="http://schemas.microsoft.com/office/drawing/2014/main" id="{C884B7E3-C81E-4A04-A6E7-0C5452ABD5EB}"/>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5912FAA5-619F-4479-BF73-44A2DA90D71F}"/>
              </a:ext>
            </a:extLst>
          </p:cNvPr>
          <p:cNvSpPr>
            <a:spLocks xmlns:a="http://schemas.openxmlformats.org/drawingml/2006/main" noGrp="1"/>
          </p:cNvSpPr>
          <p:nvPr/>
        </p:nvSpPr>
        <p:spPr>
          <a:xfrm xmlns:a="http://schemas.openxmlformats.org/drawingml/2006/main">
            <a:off x="723900" y="23050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9332A"/>
                </a:solidFill>
                <a:latin typeface="Courier New"/>
                <a:ea typeface="Courier New"/>
                <a:cs typeface="Courier New"/>
              </a:defRPr>
            </a:pPr>
            <a:r>
              <a:rPr sz="1875" b="0">
                <a:solidFill>
                  <a:srgbClr val="19332A"/>
                </a:solidFill>
                <a:latin typeface="Courier New"/>
                <a:ea typeface="Courier New"/>
                <a:cs typeface="Courier New"/>
              </a:rPr>
              <a:t>git clone https://github.com/nileshsarkar-ai/JetsonNano-Demo.git</a:t>
            </a:r>
          </a:p>
        </p:txBody>
      </p:sp>
      <p:sp>
        <p:nvSpPr>
          <p:cNvPr id="6" name="">
            <a:extLst xmlns:a="http://schemas.openxmlformats.org/drawingml/2006/main">
              <a:ext uri="{FF2B5EF4-FFF2-40B4-BE49-F238E27FC236}">
                <a16:creationId xmlns:a16="http://schemas.microsoft.com/office/drawing/2014/main" id="{4DC9035A-760C-440B-BB84-4A63280DF73A}"/>
              </a:ext>
            </a:extLst>
          </p:cNvPr>
          <p:cNvSpPr>
            <a:spLocks xmlns:a="http://schemas.openxmlformats.org/drawingml/2006/main" noGrp="1"/>
          </p:cNvSpPr>
          <p:nvPr/>
        </p:nvSpPr>
        <p:spPr>
          <a:xfrm xmlns:a="http://schemas.openxmlformats.org/drawingml/2006/main">
            <a:off x="723900" y="293370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9332A"/>
                </a:solidFill>
                <a:latin typeface="Courier New"/>
                <a:ea typeface="Courier New"/>
                <a:cs typeface="Courier New"/>
              </a:defRPr>
            </a:pPr>
            <a:r>
              <a:rPr sz="2025" b="0">
                <a:solidFill>
                  <a:srgbClr val="19332A"/>
                </a:solidFill>
                <a:latin typeface="Courier New"/>
                <a:ea typeface="Courier New"/>
                <a:cs typeface="Courier New"/>
              </a:rPr>
              <a:t>cd JetsonNano-Demo</a:t>
            </a:r>
          </a:p>
        </p:txBody>
      </p:sp>
      <p:sp>
        <p:nvSpPr>
          <p:cNvPr id="7" name="">
            <a:extLst xmlns:a="http://schemas.openxmlformats.org/drawingml/2006/main">
              <a:ext uri="{FF2B5EF4-FFF2-40B4-BE49-F238E27FC236}">
                <a16:creationId xmlns:a16="http://schemas.microsoft.com/office/drawing/2014/main" id="{BC72FDE0-176F-4EEE-9B6A-926169FE43A2}"/>
              </a:ext>
            </a:extLst>
          </p:cNvPr>
          <p:cNvSpPr>
            <a:spLocks xmlns:a="http://schemas.openxmlformats.org/drawingml/2006/main" noGrp="1"/>
          </p:cNvSpPr>
          <p:nvPr/>
        </p:nvSpPr>
        <p:spPr>
          <a:xfrm xmlns:a="http://schemas.openxmlformats.org/drawingml/2006/main">
            <a:off x="723900" y="356235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397718"/>
                </a:solidFill>
                <a:latin typeface="Courier New"/>
                <a:ea typeface="Courier New"/>
                <a:cs typeface="Courier New"/>
              </a:defRPr>
            </a:pPr>
            <a:r>
              <a:rPr sz="2550" b="1">
                <a:solidFill>
                  <a:srgbClr val="397718"/>
                </a:solidFill>
                <a:latin typeface="Courier New"/>
                <a:ea typeface="Courier New"/>
                <a:cs typeface="Courier New"/>
              </a:rPr>
              <a:t>bash scripts/run_demo.sh</a:t>
            </a:r>
          </a:p>
        </p:txBody>
      </p:sp>
      <p:sp>
        <p:nvSpPr>
          <p:cNvPr id="8" name="">
            <a:extLst xmlns:a="http://schemas.openxmlformats.org/drawingml/2006/main">
              <a:ext uri="{FF2B5EF4-FFF2-40B4-BE49-F238E27FC236}">
                <a16:creationId xmlns:a16="http://schemas.microsoft.com/office/drawing/2014/main" id="{602850A4-3540-42D2-A4DE-0053D8690FA1}"/>
              </a:ext>
            </a:extLst>
          </p:cNvPr>
          <p:cNvSpPr>
            <a:spLocks xmlns:a="http://schemas.openxmlformats.org/drawingml/2006/main" noGrp="1"/>
          </p:cNvSpPr>
          <p:nvPr/>
        </p:nvSpPr>
        <p:spPr>
          <a:xfrm xmlns:a="http://schemas.openxmlformats.org/drawingml/2006/main">
            <a:off x="742950" y="4762500"/>
            <a:ext cx="2571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9332A"/>
                </a:solidFill>
                <a:latin typeface="Arial"/>
                <a:ea typeface="Arial"/>
                <a:cs typeface="Arial"/>
              </a:defRPr>
            </a:pPr>
            <a:r>
              <a:rPr sz="2175" b="1">
                <a:solidFill>
                  <a:srgbClr val="19332A"/>
                </a:solidFill>
                <a:latin typeface="Arial"/>
                <a:ea typeface="Arial"/>
                <a:cs typeface="Arial"/>
              </a:rPr>
              <a:t>Prepare</a:t>
            </a:r>
          </a:p>
        </p:txBody>
      </p:sp>
      <p:sp>
        <p:nvSpPr>
          <p:cNvPr id="9" name="">
            <a:extLst xmlns:a="http://schemas.openxmlformats.org/drawingml/2006/main">
              <a:ext uri="{FF2B5EF4-FFF2-40B4-BE49-F238E27FC236}">
                <a16:creationId xmlns:a16="http://schemas.microsoft.com/office/drawing/2014/main" id="{04DC4B2D-9A69-44D8-B0B8-3F56FFB532DF}"/>
              </a:ext>
            </a:extLst>
          </p:cNvPr>
          <p:cNvSpPr>
            <a:spLocks xmlns:a="http://schemas.openxmlformats.org/drawingml/2006/main" noGrp="1"/>
          </p:cNvSpPr>
          <p:nvPr/>
        </p:nvSpPr>
        <p:spPr>
          <a:xfrm xmlns:a="http://schemas.openxmlformats.org/drawingml/2006/main">
            <a:off x="742950" y="5248275"/>
            <a:ext cx="285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35B"/>
                </a:solidFill>
                <a:latin typeface="Arial"/>
                <a:ea typeface="Arial"/>
                <a:cs typeface="Arial"/>
              </a:defRPr>
            </a:pPr>
            <a:r>
              <a:rPr sz="1800" b="0">
                <a:solidFill>
                  <a:srgbClr val="52635B"/>
                </a:solidFill>
                <a:latin typeface="Arial"/>
                <a:ea typeface="Arial"/>
                <a:cs typeface="Arial"/>
              </a:rPr>
              <a:t>Choose 1 before class.</a:t>
            </a:r>
          </a:p>
        </p:txBody>
      </p:sp>
      <p:sp>
        <p:nvSpPr>
          <p:cNvPr id="10" name="">
            <a:extLst xmlns:a="http://schemas.openxmlformats.org/drawingml/2006/main">
              <a:ext uri="{FF2B5EF4-FFF2-40B4-BE49-F238E27FC236}">
                <a16:creationId xmlns:a16="http://schemas.microsoft.com/office/drawing/2014/main" id="{C2D2093F-4752-4CF0-815C-EB24FDB90871}"/>
              </a:ext>
            </a:extLst>
          </p:cNvPr>
          <p:cNvSpPr>
            <a:spLocks xmlns:a="http://schemas.openxmlformats.org/drawingml/2006/main" noGrp="1"/>
          </p:cNvSpPr>
          <p:nvPr/>
        </p:nvSpPr>
        <p:spPr>
          <a:xfrm xmlns:a="http://schemas.openxmlformats.org/drawingml/2006/main">
            <a:off x="4314825" y="4762500"/>
            <a:ext cx="2571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9332A"/>
                </a:solidFill>
                <a:latin typeface="Arial"/>
                <a:ea typeface="Arial"/>
                <a:cs typeface="Arial"/>
              </a:defRPr>
            </a:pPr>
            <a:r>
              <a:rPr sz="2175" b="1">
                <a:solidFill>
                  <a:srgbClr val="19332A"/>
                </a:solidFill>
                <a:latin typeface="Arial"/>
                <a:ea typeface="Arial"/>
                <a:cs typeface="Arial"/>
              </a:rPr>
              <a:t>Check</a:t>
            </a:r>
          </a:p>
        </p:txBody>
      </p:sp>
      <p:sp>
        <p:nvSpPr>
          <p:cNvPr id="11" name="">
            <a:extLst xmlns:a="http://schemas.openxmlformats.org/drawingml/2006/main">
              <a:ext uri="{FF2B5EF4-FFF2-40B4-BE49-F238E27FC236}">
                <a16:creationId xmlns:a16="http://schemas.microsoft.com/office/drawing/2014/main" id="{7668139E-4F1C-4FDB-ACC2-6D2F707743FF}"/>
              </a:ext>
            </a:extLst>
          </p:cNvPr>
          <p:cNvSpPr>
            <a:spLocks xmlns:a="http://schemas.openxmlformats.org/drawingml/2006/main" noGrp="1"/>
          </p:cNvSpPr>
          <p:nvPr/>
        </p:nvSpPr>
        <p:spPr>
          <a:xfrm xmlns:a="http://schemas.openxmlformats.org/drawingml/2006/main">
            <a:off x="4314825" y="5248275"/>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35B"/>
                </a:solidFill>
                <a:latin typeface="Arial"/>
                <a:ea typeface="Arial"/>
                <a:cs typeface="Arial"/>
              </a:defRPr>
            </a:pPr>
            <a:r>
              <a:rPr sz="1800" b="0">
                <a:solidFill>
                  <a:srgbClr val="52635B"/>
                </a:solidFill>
                <a:latin typeface="Arial"/>
                <a:ea typeface="Arial"/>
                <a:cs typeface="Arial"/>
              </a:rPr>
              <a:t>Choose 2 for board status.</a:t>
            </a:r>
          </a:p>
        </p:txBody>
      </p:sp>
      <p:sp>
        <p:nvSpPr>
          <p:cNvPr id="12" name="">
            <a:extLst xmlns:a="http://schemas.openxmlformats.org/drawingml/2006/main">
              <a:ext uri="{FF2B5EF4-FFF2-40B4-BE49-F238E27FC236}">
                <a16:creationId xmlns:a16="http://schemas.microsoft.com/office/drawing/2014/main" id="{EA006D79-F7E9-4330-ADF8-EFA14E2A90F5}"/>
              </a:ext>
            </a:extLst>
          </p:cNvPr>
          <p:cNvSpPr>
            <a:spLocks xmlns:a="http://schemas.openxmlformats.org/drawingml/2006/main" noGrp="1"/>
          </p:cNvSpPr>
          <p:nvPr/>
        </p:nvSpPr>
        <p:spPr>
          <a:xfrm xmlns:a="http://schemas.openxmlformats.org/drawingml/2006/main">
            <a:off x="8039100" y="4762500"/>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9332A"/>
                </a:solidFill>
                <a:latin typeface="Arial"/>
                <a:ea typeface="Arial"/>
                <a:cs typeface="Arial"/>
              </a:defRPr>
            </a:pPr>
            <a:r>
              <a:rPr sz="2175" b="1">
                <a:solidFill>
                  <a:srgbClr val="19332A"/>
                </a:solidFill>
                <a:latin typeface="Arial"/>
                <a:ea typeface="Arial"/>
                <a:cs typeface="Arial"/>
              </a:rPr>
              <a:t>Explore</a:t>
            </a:r>
          </a:p>
        </p:txBody>
      </p:sp>
      <p:sp>
        <p:nvSpPr>
          <p:cNvPr id="13" name="">
            <a:extLst xmlns:a="http://schemas.openxmlformats.org/drawingml/2006/main">
              <a:ext uri="{FF2B5EF4-FFF2-40B4-BE49-F238E27FC236}">
                <a16:creationId xmlns:a16="http://schemas.microsoft.com/office/drawing/2014/main" id="{5CD72529-7107-455A-A1DC-6269ABD027E5}"/>
              </a:ext>
            </a:extLst>
          </p:cNvPr>
          <p:cNvSpPr>
            <a:spLocks xmlns:a="http://schemas.openxmlformats.org/drawingml/2006/main" noGrp="1"/>
          </p:cNvSpPr>
          <p:nvPr/>
        </p:nvSpPr>
        <p:spPr>
          <a:xfrm xmlns:a="http://schemas.openxmlformats.org/drawingml/2006/main">
            <a:off x="8039100" y="5248275"/>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35B"/>
                </a:solidFill>
                <a:latin typeface="Arial"/>
                <a:ea typeface="Arial"/>
                <a:cs typeface="Arial"/>
              </a:defRPr>
            </a:pPr>
            <a:r>
              <a:rPr sz="1800" b="0">
                <a:solidFill>
                  <a:srgbClr val="52635B"/>
                </a:solidFill>
                <a:latin typeface="Arial"/>
                <a:ea typeface="Arial"/>
                <a:cs typeface="Arial"/>
              </a:rPr>
              <a:t>Select any experiment number.</a:t>
            </a:r>
          </a:p>
        </p:txBody>
      </p:sp>
    </p:spTree>
    <p:extLst>
      <p:ext uri="{BB962C8B-B14F-4D97-AF65-F5344CB8AC3E}">
        <p14:creationId xmlns:p14="http://schemas.microsoft.com/office/powerpoint/2010/main" val="80114266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50E9F42-3427-4566-BB27-DA649C0919D7}"/>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Conversations that involve the class</a:t>
            </a:r>
          </a:p>
        </p:txBody>
      </p:sp>
      <p:sp>
        <p:nvSpPr>
          <p:cNvPr id="2" name="">
            <a:extLst xmlns:a="http://schemas.openxmlformats.org/drawingml/2006/main">
              <a:ext uri="{FF2B5EF4-FFF2-40B4-BE49-F238E27FC236}">
                <a16:creationId xmlns:a16="http://schemas.microsoft.com/office/drawing/2014/main" id="{2D4EA3AB-3FD3-415A-A1CB-102F550EC9A8}"/>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Students take the next turn and shape what happens.</a:t>
            </a:r>
          </a:p>
        </p:txBody>
      </p:sp>
      <p:sp>
        <p:nvSpPr>
          <p:cNvPr id="3" name="">
            <a:extLst xmlns:a="http://schemas.openxmlformats.org/drawingml/2006/main">
              <a:ext uri="{FF2B5EF4-FFF2-40B4-BE49-F238E27FC236}">
                <a16:creationId xmlns:a16="http://schemas.microsoft.com/office/drawing/2014/main" id="{0D195F22-FDBC-4B14-AD10-B623A09107B5}"/>
              </a:ext>
            </a:extLst>
          </p:cNvPr>
          <p:cNvSpPr>
            <a:spLocks xmlns:a="http://schemas.openxmlformats.org/drawingml/2006/main" noGrp="1"/>
          </p:cNvSpPr>
          <p:nvPr/>
        </p:nvSpPr>
        <p:spPr>
          <a:xfrm xmlns:a="http://schemas.openxmlformats.org/drawingml/2006/main">
            <a:off x="666750" y="61912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35B"/>
                </a:solidFill>
                <a:latin typeface="Arial"/>
                <a:ea typeface="Arial"/>
                <a:cs typeface="Arial"/>
              </a:defRPr>
            </a:pPr>
            <a:r>
              <a:rPr sz="1350" b="0">
                <a:solidFill>
                  <a:srgbClr val="52635B"/>
                </a:solidFill>
                <a:latin typeface="Arial"/>
                <a:ea typeface="Arial"/>
                <a:cs typeface="Arial"/>
              </a:rPr>
              <a:t>Type /quit to return to the menu. Each conversation uses the earlier turns.</a:t>
            </a:r>
          </a:p>
        </p:txBody>
      </p:sp>
      <p:sp>
        <p:nvSpPr>
          <p:cNvPr id="4" name="">
            <a:extLst xmlns:a="http://schemas.openxmlformats.org/drawingml/2006/main">
              <a:ext uri="{FF2B5EF4-FFF2-40B4-BE49-F238E27FC236}">
                <a16:creationId xmlns:a16="http://schemas.microsoft.com/office/drawing/2014/main" id="{D951B7C6-896E-445F-883B-194538FD62BD}"/>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457974C2-9E85-4C7E-B2F1-6294349D8F0C}"/>
              </a:ext>
            </a:extLst>
          </p:cNvPr>
          <p:cNvSpPr>
            <a:spLocks xmlns:a="http://schemas.openxmlformats.org/drawingml/2006/main" noGrp="1"/>
          </p:cNvSpPr>
          <p:nvPr/>
        </p:nvSpPr>
        <p:spPr>
          <a:xfrm xmlns:a="http://schemas.openxmlformats.org/drawingml/2006/main">
            <a:off x="714375" y="2133600"/>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397718"/>
                </a:solidFill>
                <a:latin typeface="Arial"/>
                <a:ea typeface="Arial"/>
                <a:cs typeface="Arial"/>
              </a:defRPr>
            </a:pPr>
            <a:r>
              <a:rPr sz="1650" b="1">
                <a:solidFill>
                  <a:srgbClr val="397718"/>
                </a:solidFill>
                <a:latin typeface="Arial"/>
                <a:ea typeface="Arial"/>
                <a:cs typeface="Arial"/>
              </a:rPr>
              <a:t>Experiment 29</a:t>
            </a:r>
          </a:p>
        </p:txBody>
      </p:sp>
      <p:sp>
        <p:nvSpPr>
          <p:cNvPr id="6" name="">
            <a:extLst xmlns:a="http://schemas.openxmlformats.org/drawingml/2006/main">
              <a:ext uri="{FF2B5EF4-FFF2-40B4-BE49-F238E27FC236}">
                <a16:creationId xmlns:a16="http://schemas.microsoft.com/office/drawing/2014/main" id="{BAC11B37-8E08-4BDC-981F-A44250A289D1}"/>
              </a:ext>
            </a:extLst>
          </p:cNvPr>
          <p:cNvSpPr>
            <a:spLocks xmlns:a="http://schemas.openxmlformats.org/drawingml/2006/main" noGrp="1"/>
          </p:cNvSpPr>
          <p:nvPr/>
        </p:nvSpPr>
        <p:spPr>
          <a:xfrm xmlns:a="http://schemas.openxmlformats.org/drawingml/2006/main">
            <a:off x="714375" y="2686050"/>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9332A"/>
                </a:solidFill>
                <a:latin typeface="Arial"/>
                <a:ea typeface="Arial"/>
                <a:cs typeface="Arial"/>
              </a:defRPr>
            </a:pPr>
            <a:r>
              <a:rPr sz="2850" b="1">
                <a:solidFill>
                  <a:srgbClr val="19332A"/>
                </a:solidFill>
                <a:latin typeface="Arial"/>
                <a:ea typeface="Arial"/>
                <a:cs typeface="Arial"/>
              </a:rPr>
              <a:t>Socratic Study Partner</a:t>
            </a:r>
          </a:p>
        </p:txBody>
      </p:sp>
      <p:sp>
        <p:nvSpPr>
          <p:cNvPr id="7" name="">
            <a:extLst xmlns:a="http://schemas.openxmlformats.org/drawingml/2006/main">
              <a:ext uri="{FF2B5EF4-FFF2-40B4-BE49-F238E27FC236}">
                <a16:creationId xmlns:a16="http://schemas.microsoft.com/office/drawing/2014/main" id="{C380692F-1154-4B3C-A589-3D70670AD934}"/>
              </a:ext>
            </a:extLst>
          </p:cNvPr>
          <p:cNvSpPr>
            <a:spLocks xmlns:a="http://schemas.openxmlformats.org/drawingml/2006/main" noGrp="1"/>
          </p:cNvSpPr>
          <p:nvPr/>
        </p:nvSpPr>
        <p:spPr>
          <a:xfrm xmlns:a="http://schemas.openxmlformats.org/drawingml/2006/main">
            <a:off x="742950" y="3743325"/>
            <a:ext cx="49053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2635B"/>
                </a:solidFill>
                <a:latin typeface="Arial"/>
                <a:ea typeface="Arial"/>
                <a:cs typeface="Arial"/>
              </a:defRPr>
            </a:pPr>
            <a:r>
              <a:rPr sz="2100" b="0">
                <a:solidFill>
                  <a:srgbClr val="52635B"/>
                </a:solidFill>
                <a:latin typeface="Arial"/>
                <a:ea typeface="Arial"/>
                <a:cs typeface="Arial"/>
              </a:rPr>
              <a:t>Choose a topic. Answer one guiding</a:t>
            </a:r>
          </a:p>
          <a:p xmlns:a="http://schemas.openxmlformats.org/drawingml/2006/main">
            <a:pPr>
              <a:defRPr sz="2100" b="0">
                <a:solidFill>
                  <a:srgbClr val="52635B"/>
                </a:solidFill>
                <a:latin typeface="Arial"/>
                <a:ea typeface="Arial"/>
                <a:cs typeface="Arial"/>
              </a:defRPr>
            </a:pPr>
            <a:r>
              <a:rPr sz="2100" b="0">
                <a:solidFill>
                  <a:srgbClr val="52635B"/>
                </a:solidFill>
                <a:latin typeface="Arial"/>
                <a:ea typeface="Arial"/>
                <a:cs typeface="Arial"/>
              </a:rPr>
              <a:t>question at a time and explain</a:t>
            </a:r>
          </a:p>
          <a:p xmlns:a="http://schemas.openxmlformats.org/drawingml/2006/main">
            <a:pPr>
              <a:defRPr sz="2100" b="0">
                <a:solidFill>
                  <a:srgbClr val="52635B"/>
                </a:solidFill>
                <a:latin typeface="Arial"/>
                <a:ea typeface="Arial"/>
                <a:cs typeface="Arial"/>
              </a:defRPr>
            </a:pPr>
            <a:r>
              <a:rPr sz="2100" b="0">
                <a:solidFill>
                  <a:srgbClr val="52635B"/>
                </a:solidFill>
                <a:latin typeface="Arial"/>
                <a:ea typeface="Arial"/>
                <a:cs typeface="Arial"/>
              </a:rPr>
              <a:t>your reasoning.</a:t>
            </a:r>
          </a:p>
        </p:txBody>
      </p:sp>
      <p:sp>
        <p:nvSpPr>
          <p:cNvPr id="8" name="">
            <a:extLst xmlns:a="http://schemas.openxmlformats.org/drawingml/2006/main">
              <a:ext uri="{FF2B5EF4-FFF2-40B4-BE49-F238E27FC236}">
                <a16:creationId xmlns:a16="http://schemas.microsoft.com/office/drawing/2014/main" id="{304F5F94-9507-4599-A6F8-BA11F7F51092}"/>
              </a:ext>
            </a:extLst>
          </p:cNvPr>
          <p:cNvSpPr>
            <a:spLocks xmlns:a="http://schemas.openxmlformats.org/drawingml/2006/main" noGrp="1"/>
          </p:cNvSpPr>
          <p:nvPr/>
        </p:nvSpPr>
        <p:spPr>
          <a:xfrm xmlns:a="http://schemas.openxmlformats.org/drawingml/2006/main">
            <a:off x="742950" y="535305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397718"/>
                </a:solidFill>
                <a:latin typeface="Arial"/>
                <a:ea typeface="Arial"/>
                <a:cs typeface="Arial"/>
              </a:defRPr>
            </a:pPr>
            <a:r>
              <a:rPr sz="1875" b="1">
                <a:solidFill>
                  <a:srgbClr val="397718"/>
                </a:solidFill>
                <a:latin typeface="Arial"/>
                <a:ea typeface="Arial"/>
                <a:cs typeface="Arial"/>
              </a:rPr>
              <a:t>Try: Why do objects float?</a:t>
            </a:r>
          </a:p>
        </p:txBody>
      </p:sp>
      <p:sp>
        <p:nvSpPr>
          <p:cNvPr id="9" name="">
            <a:extLst xmlns:a="http://schemas.openxmlformats.org/drawingml/2006/main">
              <a:ext uri="{FF2B5EF4-FFF2-40B4-BE49-F238E27FC236}">
                <a16:creationId xmlns:a16="http://schemas.microsoft.com/office/drawing/2014/main" id="{123D050F-184F-4014-895D-4A5E890F68C9}"/>
              </a:ext>
            </a:extLst>
          </p:cNvPr>
          <p:cNvSpPr>
            <a:spLocks xmlns:a="http://schemas.openxmlformats.org/drawingml/2006/main" noGrp="1"/>
          </p:cNvSpPr>
          <p:nvPr/>
        </p:nvSpPr>
        <p:spPr>
          <a:xfrm xmlns:a="http://schemas.openxmlformats.org/drawingml/2006/main">
            <a:off x="6629400" y="2133600"/>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397718"/>
                </a:solidFill>
                <a:latin typeface="Arial"/>
                <a:ea typeface="Arial"/>
                <a:cs typeface="Arial"/>
              </a:defRPr>
            </a:pPr>
            <a:r>
              <a:rPr sz="1650" b="1">
                <a:solidFill>
                  <a:srgbClr val="397718"/>
                </a:solidFill>
                <a:latin typeface="Arial"/>
                <a:ea typeface="Arial"/>
                <a:cs typeface="Arial"/>
              </a:rPr>
              <a:t>Experiment 30</a:t>
            </a:r>
          </a:p>
        </p:txBody>
      </p:sp>
      <p:sp>
        <p:nvSpPr>
          <p:cNvPr id="10" name="">
            <a:extLst xmlns:a="http://schemas.openxmlformats.org/drawingml/2006/main">
              <a:ext uri="{FF2B5EF4-FFF2-40B4-BE49-F238E27FC236}">
                <a16:creationId xmlns:a16="http://schemas.microsoft.com/office/drawing/2014/main" id="{AC41D485-7B2D-4A2C-B4D9-D0AD381F3642}"/>
              </a:ext>
            </a:extLst>
          </p:cNvPr>
          <p:cNvSpPr>
            <a:spLocks xmlns:a="http://schemas.openxmlformats.org/drawingml/2006/main" noGrp="1"/>
          </p:cNvSpPr>
          <p:nvPr/>
        </p:nvSpPr>
        <p:spPr>
          <a:xfrm xmlns:a="http://schemas.openxmlformats.org/drawingml/2006/main">
            <a:off x="6629400" y="26860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9332A"/>
                </a:solidFill>
                <a:latin typeface="Arial"/>
                <a:ea typeface="Arial"/>
                <a:cs typeface="Arial"/>
              </a:defRPr>
            </a:pPr>
            <a:r>
              <a:rPr sz="2850" b="1">
                <a:solidFill>
                  <a:srgbClr val="19332A"/>
                </a:solidFill>
                <a:latin typeface="Arial"/>
                <a:ea typeface="Arial"/>
                <a:cs typeface="Arial"/>
              </a:rPr>
              <a:t>Mystery Character</a:t>
            </a:r>
          </a:p>
          <a:p xmlns:a="http://schemas.openxmlformats.org/drawingml/2006/main">
            <a:pPr>
              <a:defRPr sz="2850" b="1">
                <a:solidFill>
                  <a:srgbClr val="19332A"/>
                </a:solidFill>
                <a:latin typeface="Arial"/>
                <a:ea typeface="Arial"/>
                <a:cs typeface="Arial"/>
              </a:defRPr>
            </a:pPr>
            <a:r>
              <a:rPr sz="2850" b="1">
                <a:solidFill>
                  <a:srgbClr val="19332A"/>
                </a:solidFill>
                <a:latin typeface="Arial"/>
                <a:ea typeface="Arial"/>
                <a:cs typeface="Arial"/>
              </a:rPr>
              <a:t>Interview</a:t>
            </a:r>
          </a:p>
        </p:txBody>
      </p:sp>
      <p:sp>
        <p:nvSpPr>
          <p:cNvPr id="11" name="">
            <a:extLst xmlns:a="http://schemas.openxmlformats.org/drawingml/2006/main">
              <a:ext uri="{FF2B5EF4-FFF2-40B4-BE49-F238E27FC236}">
                <a16:creationId xmlns:a16="http://schemas.microsoft.com/office/drawing/2014/main" id="{F0862BC0-C5D8-4535-822C-534EF85EC51C}"/>
              </a:ext>
            </a:extLst>
          </p:cNvPr>
          <p:cNvSpPr>
            <a:spLocks xmlns:a="http://schemas.openxmlformats.org/drawingml/2006/main" noGrp="1"/>
          </p:cNvSpPr>
          <p:nvPr/>
        </p:nvSpPr>
        <p:spPr>
          <a:xfrm xmlns:a="http://schemas.openxmlformats.org/drawingml/2006/main">
            <a:off x="6657975" y="3895725"/>
            <a:ext cx="48577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2635B"/>
                </a:solidFill>
                <a:latin typeface="Arial"/>
                <a:ea typeface="Arial"/>
                <a:cs typeface="Arial"/>
              </a:defRPr>
            </a:pPr>
            <a:r>
              <a:rPr sz="2100" b="0">
                <a:solidFill>
                  <a:srgbClr val="52635B"/>
                </a:solidFill>
                <a:latin typeface="Arial"/>
                <a:ea typeface="Arial"/>
                <a:cs typeface="Arial"/>
              </a:rPr>
              <a:t>Interview a fictional character.</a:t>
            </a:r>
          </a:p>
          <a:p xmlns:a="http://schemas.openxmlformats.org/drawingml/2006/main">
            <a:pPr>
              <a:defRPr sz="2100" b="0">
                <a:solidFill>
                  <a:srgbClr val="52635B"/>
                </a:solidFill>
                <a:latin typeface="Arial"/>
                <a:ea typeface="Arial"/>
                <a:cs typeface="Arial"/>
              </a:defRPr>
            </a:pPr>
            <a:r>
              <a:rPr sz="2100" b="0">
                <a:solidFill>
                  <a:srgbClr val="52635B"/>
                </a:solidFill>
                <a:latin typeface="Arial"/>
                <a:ea typeface="Arial"/>
                <a:cs typeface="Arial"/>
              </a:rPr>
              <a:t>Collect clues, then guess</a:t>
            </a:r>
          </a:p>
          <a:p xmlns:a="http://schemas.openxmlformats.org/drawingml/2006/main">
            <a:pPr>
              <a:defRPr sz="2100" b="0">
                <a:solidFill>
                  <a:srgbClr val="52635B"/>
                </a:solidFill>
                <a:latin typeface="Arial"/>
                <a:ea typeface="Arial"/>
                <a:cs typeface="Arial"/>
              </a:defRPr>
            </a:pPr>
            <a:r>
              <a:rPr sz="2100" b="0">
                <a:solidFill>
                  <a:srgbClr val="52635B"/>
                </a:solidFill>
                <a:latin typeface="Arial"/>
                <a:ea typeface="Arial"/>
                <a:cs typeface="Arial"/>
              </a:rPr>
              <a:t>their profession.</a:t>
            </a:r>
          </a:p>
        </p:txBody>
      </p:sp>
      <p:sp>
        <p:nvSpPr>
          <p:cNvPr id="12" name="">
            <a:extLst xmlns:a="http://schemas.openxmlformats.org/drawingml/2006/main">
              <a:ext uri="{FF2B5EF4-FFF2-40B4-BE49-F238E27FC236}">
                <a16:creationId xmlns:a16="http://schemas.microsoft.com/office/drawing/2014/main" id="{52C5A8BD-BFA7-4E3D-90D8-6C0B0FBDF60E}"/>
              </a:ext>
            </a:extLst>
          </p:cNvPr>
          <p:cNvSpPr>
            <a:spLocks xmlns:a="http://schemas.openxmlformats.org/drawingml/2006/main" noGrp="1"/>
          </p:cNvSpPr>
          <p:nvPr/>
        </p:nvSpPr>
        <p:spPr>
          <a:xfrm xmlns:a="http://schemas.openxmlformats.org/drawingml/2006/main">
            <a:off x="6657975" y="53530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397718"/>
                </a:solidFill>
                <a:latin typeface="Arial"/>
                <a:ea typeface="Arial"/>
                <a:cs typeface="Arial"/>
              </a:defRPr>
            </a:pPr>
            <a:r>
              <a:rPr sz="1875" b="1">
                <a:solidFill>
                  <a:srgbClr val="397718"/>
                </a:solidFill>
                <a:latin typeface="Arial"/>
                <a:ea typeface="Arial"/>
                <a:cs typeface="Arial"/>
              </a:rPr>
              <a:t>Use /guess followed by your answer.</a:t>
            </a:r>
          </a:p>
        </p:txBody>
      </p:sp>
    </p:spTree>
    <p:extLst>
      <p:ext uri="{BB962C8B-B14F-4D97-AF65-F5344CB8AC3E}">
        <p14:creationId xmlns:p14="http://schemas.microsoft.com/office/powerpoint/2010/main" val="187951882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76B20AC-5C7D-4C7F-92F9-18CFC195FDD2}"/>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Assistants with visible evidence</a:t>
            </a:r>
          </a:p>
        </p:txBody>
      </p:sp>
      <p:sp>
        <p:nvSpPr>
          <p:cNvPr id="2" name="">
            <a:extLst xmlns:a="http://schemas.openxmlformats.org/drawingml/2006/main">
              <a:ext uri="{FF2B5EF4-FFF2-40B4-BE49-F238E27FC236}">
                <a16:creationId xmlns:a16="http://schemas.microsoft.com/office/drawing/2014/main" id="{7FCA11F6-C36A-447C-8D79-E1F7CFF49C50}"/>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Inspect what the model knows, retrieves and calls.</a:t>
            </a:r>
          </a:p>
        </p:txBody>
      </p:sp>
      <p:sp>
        <p:nvSpPr>
          <p:cNvPr id="3" name="">
            <a:extLst xmlns:a="http://schemas.openxmlformats.org/drawingml/2006/main">
              <a:ext uri="{FF2B5EF4-FFF2-40B4-BE49-F238E27FC236}">
                <a16:creationId xmlns:a16="http://schemas.microsoft.com/office/drawing/2014/main" id="{7FD4D6CD-BCCF-4117-86AA-F5841D2DB4EB}"/>
              </a:ext>
            </a:extLst>
          </p:cNvPr>
          <p:cNvSpPr>
            <a:spLocks xmlns:a="http://schemas.openxmlformats.org/drawingml/2006/main" noGrp="1"/>
          </p:cNvSpPr>
          <p:nvPr/>
        </p:nvSpPr>
        <p:spPr>
          <a:xfrm xmlns:a="http://schemas.openxmlformats.org/drawingml/2006/main">
            <a:off x="666750" y="61912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35B"/>
                </a:solidFill>
                <a:latin typeface="Arial"/>
                <a:ea typeface="Arial"/>
                <a:cs typeface="Arial"/>
              </a:defRPr>
            </a:pPr>
            <a:r>
              <a:rPr sz="1350" b="0">
                <a:solidFill>
                  <a:srgbClr val="52635B"/>
                </a:solidFill>
                <a:latin typeface="Arial"/>
                <a:ea typeface="Arial"/>
                <a:cs typeface="Arial"/>
              </a:rPr>
              <a:t>Read-only tools. Explicit local memory. BM25 retrieval over your own documents.</a:t>
            </a:r>
          </a:p>
        </p:txBody>
      </p:sp>
      <p:sp>
        <p:nvSpPr>
          <p:cNvPr id="4" name="">
            <a:extLst xmlns:a="http://schemas.openxmlformats.org/drawingml/2006/main">
              <a:ext uri="{FF2B5EF4-FFF2-40B4-BE49-F238E27FC236}">
                <a16:creationId xmlns:a16="http://schemas.microsoft.com/office/drawing/2014/main" id="{431F1BC3-6AD8-48B9-B4AC-CAF1DB19ACF0}"/>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04</a:t>
            </a:r>
          </a:p>
        </p:txBody>
      </p:sp>
      <p:graphicFrame>
        <p:nvGraphicFramePr>
          <p:cNvPr id="10" name=""/>
          <p:cNvGraphicFramePr/>
          <p:nvPr/>
        </p:nvGraphicFramePr>
        <p:xfrm>
          <a:off xmlns:a="http://schemas.openxmlformats.org/drawingml/2006/main" x="666750" y="2038350"/>
          <a:ext xmlns:a="http://schemas.openxmlformats.org/drawingml/2006/main" cx="10858500" cy="3857625"/>
        </p:xfrm>
        <a:graphic xmlns:a="http://schemas.openxmlformats.org/drawingml/2006/main">
          <a:graphicData uri="http://schemas.openxmlformats.org/drawingml/2006/table">
            <a:tbl>
              <a:tblPr firstRow="0" bandRow="0"/>
              <a:tblGrid>
                <a:gridCol w="809625"/>
                <a:gridCol w="4286250"/>
                <a:gridCol w="5762625"/>
              </a:tblGrid>
              <a:tr h="400050">
                <a:tc>
                  <a:txBody>
                    <a:bodyPr>
                      <a:noAutofit/>
                    </a:bodyPr>
                    <a:lstStyle/>
                    <a:p>
                      <a:r>
                        <a:rPr sz="1350" b="1">
                          <a:solidFill>
                            <a:srgbClr val="397718"/>
                          </a:solidFill>
                          <a:latin typeface="Arial"/>
                          <a:ea typeface="Arial"/>
                          <a:cs typeface="Arial"/>
                        </a:rPr>
                        <a:t>MENU</a:t>
                      </a:r>
                    </a:p>
                  </a:txBody>
                  <a:tcPr marL="95250" marR="95250" marT="38100" marB="38100">
                    <a:solidFill>
                      <a:srgbClr val="EFF6E9"/>
                    </a:solidFill>
                  </a:tcPr>
                </a:tc>
                <a:tc>
                  <a:txBody>
                    <a:bodyPr>
                      <a:noAutofit/>
                    </a:bodyPr>
                    <a:lstStyle/>
                    <a:p>
                      <a:r>
                        <a:rPr sz="1350" b="1">
                          <a:solidFill>
                            <a:srgbClr val="19332A"/>
                          </a:solidFill>
                          <a:latin typeface="Arial"/>
                          <a:ea typeface="Arial"/>
                          <a:cs typeface="Arial"/>
                        </a:rPr>
                        <a:t>EXPERIMENT</a:t>
                      </a:r>
                    </a:p>
                  </a:txBody>
                  <a:tcPr marL="95250" marR="95250" marT="38100" marB="38100">
                    <a:solidFill>
                      <a:srgbClr val="EFF6E9"/>
                    </a:solidFill>
                  </a:tcPr>
                </a:tc>
                <a:tc>
                  <a:txBody>
                    <a:bodyPr>
                      <a:noAutofit/>
                    </a:bodyPr>
                    <a:lstStyle/>
                    <a:p>
                      <a:r>
                        <a:rPr sz="1350" b="1">
                          <a:solidFill>
                            <a:srgbClr val="19332A"/>
                          </a:solidFill>
                          <a:latin typeface="Arial"/>
                          <a:ea typeface="Arial"/>
                          <a:cs typeface="Arial"/>
                        </a:rPr>
                        <a:t>WHAT STUDENTS DO</a:t>
                      </a:r>
                    </a:p>
                  </a:txBody>
                  <a:tcPr marL="95250" marR="95250" marT="38100" marB="38100">
                    <a:solidFill>
                      <a:srgbClr val="EFF6E9"/>
                    </a:solidFill>
                  </a:tcPr>
                </a:tc>
              </a:tr>
              <a:tr h="691515">
                <a:tc>
                  <a:txBody>
                    <a:bodyPr>
                      <a:noAutofit/>
                    </a:bodyPr>
                    <a:lstStyle/>
                    <a:p>
                      <a:r>
                        <a:rPr sz="1725" b="1">
                          <a:solidFill>
                            <a:srgbClr val="397718"/>
                          </a:solidFill>
                          <a:latin typeface="Arial"/>
                          <a:ea typeface="Arial"/>
                          <a:cs typeface="Arial"/>
                        </a:rPr>
                        <a:t>15</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Mission Control: Tool-Planning Assistant</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Give a mission, inspect its tool plan, then check the evidence.</a:t>
                      </a:r>
                    </a:p>
                  </a:txBody>
                  <a:tcPr marL="95250" marR="95250" marT="38100" marB="38100">
                    <a:solidFill>
                      <a:srgbClr val="FFFFFF"/>
                    </a:solidFill>
                  </a:tcPr>
                </a:tc>
              </a:tr>
              <a:tr h="691515">
                <a:tc>
                  <a:txBody>
                    <a:bodyPr>
                      <a:noAutofit/>
                    </a:bodyPr>
                    <a:lstStyle/>
                    <a:p>
                      <a:r>
                        <a:rPr sz="1725" b="1">
                          <a:solidFill>
                            <a:srgbClr val="397718"/>
                          </a:solidFill>
                          <a:latin typeface="Arial"/>
                          <a:ea typeface="Arial"/>
                          <a:cs typeface="Arial"/>
                        </a:rPr>
                        <a:t>16</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Document Detective: Answers with Evidence</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Ask the exhibit brief a question and inspect source passages.</a:t>
                      </a:r>
                    </a:p>
                  </a:txBody>
                  <a:tcPr marL="95250" marR="95250" marT="38100" marB="38100">
                    <a:solidFill>
                      <a:srgbClr val="FFFFFF"/>
                    </a:solidFill>
                  </a:tcPr>
                </a:tc>
              </a:tr>
              <a:tr h="691515">
                <a:tc>
                  <a:txBody>
                    <a:bodyPr>
                      <a:noAutofit/>
                    </a:bodyPr>
                    <a:lstStyle/>
                    <a:p>
                      <a:r>
                        <a:rPr sz="1725" b="1">
                          <a:solidFill>
                            <a:srgbClr val="397718"/>
                          </a:solidFill>
                          <a:latin typeface="Arial"/>
                          <a:ea typeface="Arial"/>
                          <a:cs typeface="Arial"/>
                        </a:rPr>
                        <a:t>9</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Persistent Memory Assistant</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Store a fictional preference and reuse it in a later session.</a:t>
                      </a:r>
                    </a:p>
                  </a:txBody>
                  <a:tcPr marL="95250" marR="95250" marT="38100" marB="38100">
                    <a:solidFill>
                      <a:srgbClr val="FFFFFF"/>
                    </a:solidFill>
                  </a:tcPr>
                </a:tc>
              </a:tr>
              <a:tr h="691515">
                <a:tc>
                  <a:txBody>
                    <a:bodyPr>
                      <a:noAutofit/>
                    </a:bodyPr>
                    <a:lstStyle/>
                    <a:p>
                      <a:r>
                        <a:rPr sz="1725" b="1">
                          <a:solidFill>
                            <a:srgbClr val="397718"/>
                          </a:solidFill>
                          <a:latin typeface="Arial"/>
                          <a:ea typeface="Arial"/>
                          <a:cs typeface="Arial"/>
                        </a:rPr>
                        <a:t>8</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Class Notes Retrieval and Grounded Answers</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Index notes, retrieve passages and question the answer.</a:t>
                      </a:r>
                    </a:p>
                  </a:txBody>
                  <a:tcPr marL="95250" marR="95250" marT="38100" marB="38100">
                    <a:solidFill>
                      <a:srgbClr val="FFFFFF"/>
                    </a:solidFill>
                  </a:tcPr>
                </a:tc>
              </a:tr>
              <a:tr h="691515">
                <a:tc>
                  <a:txBody>
                    <a:bodyPr>
                      <a:noAutofit/>
                    </a:bodyPr>
                    <a:lstStyle/>
                    <a:p>
                      <a:r>
                        <a:rPr sz="1725" b="1">
                          <a:solidFill>
                            <a:srgbClr val="397718"/>
                          </a:solidFill>
                          <a:latin typeface="Arial"/>
                          <a:ea typeface="Arial"/>
                          <a:cs typeface="Arial"/>
                        </a:rPr>
                        <a:t>3</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Offline Conversation Assistant</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Hold a short local conversation and inspect its memory.</a:t>
                      </a:r>
                    </a:p>
                  </a:txBody>
                  <a:tcPr marL="95250" marR="95250" marT="38100" marB="38100">
                    <a:solidFill>
                      <a:srgbClr val="FFFFFF"/>
                    </a:solidFill>
                  </a:tcPr>
                </a:tc>
              </a:tr>
            </a:tbl>
          </a:graphicData>
        </a:graphic>
      </p:graphicFrame>
    </p:spTree>
    <p:extLst>
      <p:ext uri="{BB962C8B-B14F-4D97-AF65-F5344CB8AC3E}">
        <p14:creationId xmlns:p14="http://schemas.microsoft.com/office/powerpoint/2010/main" val="8542865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052940C-26EA-4A18-BD62-3107ECA14A20}"/>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Language under the microscope</a:t>
            </a:r>
          </a:p>
        </p:txBody>
      </p:sp>
      <p:sp>
        <p:nvSpPr>
          <p:cNvPr id="2" name="">
            <a:extLst xmlns:a="http://schemas.openxmlformats.org/drawingml/2006/main">
              <a:ext uri="{FF2B5EF4-FFF2-40B4-BE49-F238E27FC236}">
                <a16:creationId xmlns:a16="http://schemas.microsoft.com/office/drawing/2014/main" id="{2A128034-1918-4072-92C7-3CE823D95D79}"/>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Change the input or decoding settings and compare the response.</a:t>
            </a:r>
          </a:p>
        </p:txBody>
      </p:sp>
      <p:sp>
        <p:nvSpPr>
          <p:cNvPr id="3" name="">
            <a:extLst xmlns:a="http://schemas.openxmlformats.org/drawingml/2006/main">
              <a:ext uri="{FF2B5EF4-FFF2-40B4-BE49-F238E27FC236}">
                <a16:creationId xmlns:a16="http://schemas.microsoft.com/office/drawing/2014/main" id="{DC00DC30-E760-4F3A-BD5A-A88F6F597602}"/>
              </a:ext>
            </a:extLst>
          </p:cNvPr>
          <p:cNvSpPr>
            <a:spLocks xmlns:a="http://schemas.openxmlformats.org/drawingml/2006/main" noGrp="1"/>
          </p:cNvSpPr>
          <p:nvPr/>
        </p:nvSpPr>
        <p:spPr>
          <a:xfrm xmlns:a="http://schemas.openxmlformats.org/drawingml/2006/main">
            <a:off x="666750" y="61912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35B"/>
                </a:solidFill>
                <a:latin typeface="Arial"/>
                <a:ea typeface="Arial"/>
                <a:cs typeface="Arial"/>
              </a:defRPr>
            </a:pPr>
            <a:r>
              <a:rPr sz="1350" b="0">
                <a:solidFill>
                  <a:srgbClr val="52635B"/>
                </a:solidFill>
                <a:latin typeface="Arial"/>
                <a:ea typeface="Arial"/>
                <a:cs typeface="Arial"/>
              </a:rPr>
              <a:t>Ask the class to predict how each change will affect the answer.</a:t>
            </a:r>
          </a:p>
        </p:txBody>
      </p:sp>
      <p:sp>
        <p:nvSpPr>
          <p:cNvPr id="4" name="">
            <a:extLst xmlns:a="http://schemas.openxmlformats.org/drawingml/2006/main">
              <a:ext uri="{FF2B5EF4-FFF2-40B4-BE49-F238E27FC236}">
                <a16:creationId xmlns:a16="http://schemas.microsoft.com/office/drawing/2014/main" id="{512D35F5-0B15-486C-AD63-C23DAA1F968D}"/>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05</a:t>
            </a:r>
          </a:p>
        </p:txBody>
      </p:sp>
      <p:graphicFrame>
        <p:nvGraphicFramePr>
          <p:cNvPr id="10" name=""/>
          <p:cNvGraphicFramePr/>
          <p:nvPr/>
        </p:nvGraphicFramePr>
        <p:xfrm>
          <a:off xmlns:a="http://schemas.openxmlformats.org/drawingml/2006/main" x="666750" y="1962150"/>
          <a:ext xmlns:a="http://schemas.openxmlformats.org/drawingml/2006/main" cx="10858500" cy="4019550"/>
        </p:xfrm>
        <a:graphic xmlns:a="http://schemas.openxmlformats.org/drawingml/2006/main">
          <a:graphicData uri="http://schemas.openxmlformats.org/drawingml/2006/table">
            <a:tbl>
              <a:tblPr firstRow="0" bandRow="0"/>
              <a:tblGrid>
                <a:gridCol w="809625"/>
                <a:gridCol w="4286250"/>
                <a:gridCol w="5762625"/>
              </a:tblGrid>
              <a:tr h="400050">
                <a:tc>
                  <a:txBody>
                    <a:bodyPr>
                      <a:noAutofit/>
                    </a:bodyPr>
                    <a:lstStyle/>
                    <a:p>
                      <a:r>
                        <a:rPr sz="1350" b="1">
                          <a:solidFill>
                            <a:srgbClr val="397718"/>
                          </a:solidFill>
                          <a:latin typeface="Arial"/>
                          <a:ea typeface="Arial"/>
                          <a:cs typeface="Arial"/>
                        </a:rPr>
                        <a:t>MENU</a:t>
                      </a:r>
                    </a:p>
                  </a:txBody>
                  <a:tcPr marL="95250" marR="95250" marT="38100" marB="38100">
                    <a:solidFill>
                      <a:srgbClr val="EFF6E9"/>
                    </a:solidFill>
                  </a:tcPr>
                </a:tc>
                <a:tc>
                  <a:txBody>
                    <a:bodyPr>
                      <a:noAutofit/>
                    </a:bodyPr>
                    <a:lstStyle/>
                    <a:p>
                      <a:r>
                        <a:rPr sz="1350" b="1">
                          <a:solidFill>
                            <a:srgbClr val="19332A"/>
                          </a:solidFill>
                          <a:latin typeface="Arial"/>
                          <a:ea typeface="Arial"/>
                          <a:cs typeface="Arial"/>
                        </a:rPr>
                        <a:t>EXPERIMENT</a:t>
                      </a:r>
                    </a:p>
                  </a:txBody>
                  <a:tcPr marL="95250" marR="95250" marT="38100" marB="38100">
                    <a:solidFill>
                      <a:srgbClr val="EFF6E9"/>
                    </a:solidFill>
                  </a:tcPr>
                </a:tc>
                <a:tc>
                  <a:txBody>
                    <a:bodyPr>
                      <a:noAutofit/>
                    </a:bodyPr>
                    <a:lstStyle/>
                    <a:p>
                      <a:r>
                        <a:rPr sz="1350" b="1">
                          <a:solidFill>
                            <a:srgbClr val="19332A"/>
                          </a:solidFill>
                          <a:latin typeface="Arial"/>
                          <a:ea typeface="Arial"/>
                          <a:cs typeface="Arial"/>
                        </a:rPr>
                        <a:t>WHAT STUDENTS DO</a:t>
                      </a:r>
                    </a:p>
                  </a:txBody>
                  <a:tcPr marL="95250" marR="95250" marT="38100" marB="38100">
                    <a:solidFill>
                      <a:srgbClr val="EFF6E9"/>
                    </a:solidFill>
                  </a:tcPr>
                </a:tc>
              </a:tr>
              <a:tr h="603250">
                <a:tc>
                  <a:txBody>
                    <a:bodyPr>
                      <a:noAutofit/>
                    </a:bodyPr>
                    <a:lstStyle/>
                    <a:p>
                      <a:r>
                        <a:rPr sz="1725" b="1">
                          <a:solidFill>
                            <a:srgbClr val="397718"/>
                          </a:solidFill>
                          <a:latin typeface="Arial"/>
                          <a:ea typeface="Arial"/>
                          <a:cs typeface="Arial"/>
                        </a:rPr>
                        <a:t>4</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Ask the Local Language Model</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Test a short question with the configured small model.</a:t>
                      </a:r>
                    </a:p>
                  </a:txBody>
                  <a:tcPr marL="95250" marR="95250" marT="38100" marB="38100">
                    <a:solidFill>
                      <a:srgbClr val="FFFFFF"/>
                    </a:solidFill>
                  </a:tcPr>
                </a:tc>
              </a:tr>
              <a:tr h="603250">
                <a:tc>
                  <a:txBody>
                    <a:bodyPr>
                      <a:noAutofit/>
                    </a:bodyPr>
                    <a:lstStyle/>
                    <a:p>
                      <a:r>
                        <a:rPr sz="1725" b="1">
                          <a:solidFill>
                            <a:srgbClr val="397718"/>
                          </a:solidFill>
                          <a:latin typeface="Arial"/>
                          <a:ea typeface="Arial"/>
                          <a:cs typeface="Arial"/>
                        </a:rPr>
                        <a:t>5</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Tokenization Microscope</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Compare how words, code and symbols split into tokens.</a:t>
                      </a:r>
                    </a:p>
                  </a:txBody>
                  <a:tcPr marL="95250" marR="95250" marT="38100" marB="38100">
                    <a:solidFill>
                      <a:srgbClr val="FFFFFF"/>
                    </a:solidFill>
                  </a:tcPr>
                </a:tc>
              </a:tr>
              <a:tr h="603250">
                <a:tc>
                  <a:txBody>
                    <a:bodyPr>
                      <a:noAutofit/>
                    </a:bodyPr>
                    <a:lstStyle/>
                    <a:p>
                      <a:r>
                        <a:rPr sz="1725" b="1">
                          <a:solidFill>
                            <a:srgbClr val="397718"/>
                          </a:solidFill>
                          <a:latin typeface="Arial"/>
                          <a:ea typeface="Arial"/>
                          <a:cs typeface="Arial"/>
                        </a:rPr>
                        <a:t>6</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Structured Information Extraction</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Turn text into constrained JSON fields.</a:t>
                      </a:r>
                    </a:p>
                  </a:txBody>
                  <a:tcPr marL="95250" marR="95250" marT="38100" marB="38100">
                    <a:solidFill>
                      <a:srgbClr val="FFFFFF"/>
                    </a:solidFill>
                  </a:tcPr>
                </a:tc>
              </a:tr>
              <a:tr h="603250">
                <a:tc>
                  <a:txBody>
                    <a:bodyPr>
                      <a:noAutofit/>
                    </a:bodyPr>
                    <a:lstStyle/>
                    <a:p>
                      <a:r>
                        <a:rPr sz="1725" b="1">
                          <a:solidFill>
                            <a:srgbClr val="397718"/>
                          </a:solidFill>
                          <a:latin typeface="Arial"/>
                          <a:ea typeface="Arial"/>
                          <a:cs typeface="Arial"/>
                        </a:rPr>
                        <a:t>14</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Sampling Playground</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Compare greedy output with two seeded creative samples.</a:t>
                      </a:r>
                    </a:p>
                  </a:txBody>
                  <a:tcPr marL="95250" marR="95250" marT="38100" marB="38100">
                    <a:solidFill>
                      <a:srgbClr val="FFFFFF"/>
                    </a:solidFill>
                  </a:tcPr>
                </a:tc>
              </a:tr>
              <a:tr h="603250">
                <a:tc>
                  <a:txBody>
                    <a:bodyPr>
                      <a:noAutofit/>
                    </a:bodyPr>
                    <a:lstStyle/>
                    <a:p>
                      <a:r>
                        <a:rPr sz="1725" b="1">
                          <a:solidFill>
                            <a:srgbClr val="397718"/>
                          </a:solidFill>
                          <a:latin typeface="Arial"/>
                          <a:ea typeface="Arial"/>
                          <a:cs typeface="Arial"/>
                        </a:rPr>
                        <a:t>22</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Prompt Design Studio</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Compare a minimal prompt with explicit audience instructions.</a:t>
                      </a:r>
                    </a:p>
                  </a:txBody>
                  <a:tcPr marL="95250" marR="95250" marT="38100" marB="38100">
                    <a:solidFill>
                      <a:srgbClr val="FFFFFF"/>
                    </a:solidFill>
                  </a:tcPr>
                </a:tc>
              </a:tr>
              <a:tr h="603250">
                <a:tc>
                  <a:txBody>
                    <a:bodyPr>
                      <a:noAutofit/>
                    </a:bodyPr>
                    <a:lstStyle/>
                    <a:p>
                      <a:r>
                        <a:rPr sz="1725" b="1">
                          <a:solidFill>
                            <a:srgbClr val="397718"/>
                          </a:solidFill>
                          <a:latin typeface="Arial"/>
                          <a:ea typeface="Arial"/>
                          <a:cs typeface="Arial"/>
                        </a:rPr>
                        <a:t>23</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Few-Shot Pattern Learner</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Compare classification with zero examples and four examples.</a:t>
                      </a:r>
                    </a:p>
                  </a:txBody>
                  <a:tcPr marL="95250" marR="95250" marT="38100" marB="38100">
                    <a:solidFill>
                      <a:srgbClr val="FFFFFF"/>
                    </a:solidFill>
                  </a:tcPr>
                </a:tc>
              </a:tr>
            </a:tbl>
          </a:graphicData>
        </a:graphic>
      </p:graphicFrame>
    </p:spTree>
    <p:extLst>
      <p:ext uri="{BB962C8B-B14F-4D97-AF65-F5344CB8AC3E}">
        <p14:creationId xmlns:p14="http://schemas.microsoft.com/office/powerpoint/2010/main" val="26483676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4A515BD-39B8-44A1-8641-8D94B5DF303B}"/>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Creativity and practical text tasks</a:t>
            </a:r>
          </a:p>
        </p:txBody>
      </p:sp>
      <p:sp>
        <p:nvSpPr>
          <p:cNvPr id="2" name="">
            <a:extLst xmlns:a="http://schemas.openxmlformats.org/drawingml/2006/main">
              <a:ext uri="{FF2B5EF4-FFF2-40B4-BE49-F238E27FC236}">
                <a16:creationId xmlns:a16="http://schemas.microsoft.com/office/drawing/2014/main" id="{DA383EA6-2759-4F79-BA73-1381A7BE2E4C}"/>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Let students supply a twist, a message or a passage.</a:t>
            </a:r>
          </a:p>
        </p:txBody>
      </p:sp>
      <p:sp>
        <p:nvSpPr>
          <p:cNvPr id="3" name="">
            <a:extLst xmlns:a="http://schemas.openxmlformats.org/drawingml/2006/main">
              <a:ext uri="{FF2B5EF4-FFF2-40B4-BE49-F238E27FC236}">
                <a16:creationId xmlns:a16="http://schemas.microsoft.com/office/drawing/2014/main" id="{AF8ED5C8-C3FA-4354-B52C-35EDBE6B0206}"/>
              </a:ext>
            </a:extLst>
          </p:cNvPr>
          <p:cNvSpPr>
            <a:spLocks xmlns:a="http://schemas.openxmlformats.org/drawingml/2006/main" noGrp="1"/>
          </p:cNvSpPr>
          <p:nvPr/>
        </p:nvSpPr>
        <p:spPr>
          <a:xfrm xmlns:a="http://schemas.openxmlformats.org/drawingml/2006/main">
            <a:off x="666750" y="61912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35B"/>
                </a:solidFill>
                <a:latin typeface="Arial"/>
                <a:ea typeface="Arial"/>
                <a:cs typeface="Arial"/>
              </a:defRPr>
            </a:pPr>
            <a:r>
              <a:rPr sz="1350" b="0">
                <a:solidFill>
                  <a:srgbClr val="52635B"/>
                </a:solidFill>
                <a:latin typeface="Arial"/>
                <a:ea typeface="Arial"/>
                <a:cs typeface="Arial"/>
              </a:rPr>
              <a:t>Invite students to bring a story twist, a classroom message or a short passage.</a:t>
            </a:r>
          </a:p>
        </p:txBody>
      </p:sp>
      <p:sp>
        <p:nvSpPr>
          <p:cNvPr id="4" name="">
            <a:extLst xmlns:a="http://schemas.openxmlformats.org/drawingml/2006/main">
              <a:ext uri="{FF2B5EF4-FFF2-40B4-BE49-F238E27FC236}">
                <a16:creationId xmlns:a16="http://schemas.microsoft.com/office/drawing/2014/main" id="{04B1D60E-820B-4C93-BBC9-4E36F9BF9211}"/>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06</a:t>
            </a:r>
          </a:p>
        </p:txBody>
      </p:sp>
      <p:graphicFrame>
        <p:nvGraphicFramePr>
          <p:cNvPr id="10" name=""/>
          <p:cNvGraphicFramePr/>
          <p:nvPr/>
        </p:nvGraphicFramePr>
        <p:xfrm>
          <a:off xmlns:a="http://schemas.openxmlformats.org/drawingml/2006/main" x="666750" y="2038350"/>
          <a:ext xmlns:a="http://schemas.openxmlformats.org/drawingml/2006/main" cx="10858500" cy="3857625"/>
        </p:xfrm>
        <a:graphic xmlns:a="http://schemas.openxmlformats.org/drawingml/2006/main">
          <a:graphicData uri="http://schemas.openxmlformats.org/drawingml/2006/table">
            <a:tbl>
              <a:tblPr firstRow="0" bandRow="0"/>
              <a:tblGrid>
                <a:gridCol w="809625"/>
                <a:gridCol w="4286250"/>
                <a:gridCol w="5762625"/>
              </a:tblGrid>
              <a:tr h="400050">
                <a:tc>
                  <a:txBody>
                    <a:bodyPr>
                      <a:noAutofit/>
                    </a:bodyPr>
                    <a:lstStyle/>
                    <a:p>
                      <a:r>
                        <a:rPr sz="1350" b="1">
                          <a:solidFill>
                            <a:srgbClr val="397718"/>
                          </a:solidFill>
                          <a:latin typeface="Arial"/>
                          <a:ea typeface="Arial"/>
                          <a:cs typeface="Arial"/>
                        </a:rPr>
                        <a:t>MENU</a:t>
                      </a:r>
                    </a:p>
                  </a:txBody>
                  <a:tcPr marL="95250" marR="95250" marT="38100" marB="38100">
                    <a:solidFill>
                      <a:srgbClr val="EFF6E9"/>
                    </a:solidFill>
                  </a:tcPr>
                </a:tc>
                <a:tc>
                  <a:txBody>
                    <a:bodyPr>
                      <a:noAutofit/>
                    </a:bodyPr>
                    <a:lstStyle/>
                    <a:p>
                      <a:r>
                        <a:rPr sz="1350" b="1">
                          <a:solidFill>
                            <a:srgbClr val="19332A"/>
                          </a:solidFill>
                          <a:latin typeface="Arial"/>
                          <a:ea typeface="Arial"/>
                          <a:cs typeface="Arial"/>
                        </a:rPr>
                        <a:t>EXPERIMENT</a:t>
                      </a:r>
                    </a:p>
                  </a:txBody>
                  <a:tcPr marL="95250" marR="95250" marT="38100" marB="38100">
                    <a:solidFill>
                      <a:srgbClr val="EFF6E9"/>
                    </a:solidFill>
                  </a:tcPr>
                </a:tc>
                <a:tc>
                  <a:txBody>
                    <a:bodyPr>
                      <a:noAutofit/>
                    </a:bodyPr>
                    <a:lstStyle/>
                    <a:p>
                      <a:r>
                        <a:rPr sz="1350" b="1">
                          <a:solidFill>
                            <a:srgbClr val="19332A"/>
                          </a:solidFill>
                          <a:latin typeface="Arial"/>
                          <a:ea typeface="Arial"/>
                          <a:cs typeface="Arial"/>
                        </a:rPr>
                        <a:t>WHAT STUDENTS DO</a:t>
                      </a:r>
                    </a:p>
                  </a:txBody>
                  <a:tcPr marL="95250" marR="95250" marT="38100" marB="38100">
                    <a:solidFill>
                      <a:srgbClr val="EFF6E9"/>
                    </a:solidFill>
                  </a:tcPr>
                </a:tc>
              </a:tr>
              <a:tr h="691515">
                <a:tc>
                  <a:txBody>
                    <a:bodyPr>
                      <a:noAutofit/>
                    </a:bodyPr>
                    <a:lstStyle/>
                    <a:p>
                      <a:r>
                        <a:rPr sz="1725" b="1">
                          <a:solidFill>
                            <a:srgbClr val="397718"/>
                          </a:solidFill>
                          <a:latin typeface="Arial"/>
                          <a:ea typeface="Arial"/>
                          <a:cs typeface="Arial"/>
                        </a:rPr>
                        <a:t>17</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Story Director: Audience-Controlled Fiction</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Choose a setting, then change the generated story with a twist.</a:t>
                      </a:r>
                    </a:p>
                  </a:txBody>
                  <a:tcPr marL="95250" marR="95250" marT="38100" marB="38100">
                    <a:solidFill>
                      <a:srgbClr val="FFFFFF"/>
                    </a:solidFill>
                  </a:tcPr>
                </a:tc>
              </a:tr>
              <a:tr h="691515">
                <a:tc>
                  <a:txBody>
                    <a:bodyPr>
                      <a:noAutofit/>
                    </a:bodyPr>
                    <a:lstStyle/>
                    <a:p>
                      <a:r>
                        <a:rPr sz="1725" b="1">
                          <a:solidFill>
                            <a:srgbClr val="397718"/>
                          </a:solidFill>
                          <a:latin typeface="Arial"/>
                          <a:ea typeface="Arial"/>
                          <a:cs typeface="Arial"/>
                        </a:rPr>
                        <a:t>10</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TinyStories Generator</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Continue a story with a small dedicated language model.</a:t>
                      </a:r>
                    </a:p>
                  </a:txBody>
                  <a:tcPr marL="95250" marR="95250" marT="38100" marB="38100">
                    <a:solidFill>
                      <a:srgbClr val="FFFFFF"/>
                    </a:solidFill>
                  </a:tcPr>
                </a:tc>
              </a:tr>
              <a:tr h="691515">
                <a:tc>
                  <a:txBody>
                    <a:bodyPr>
                      <a:noAutofit/>
                    </a:bodyPr>
                    <a:lstStyle/>
                    <a:p>
                      <a:r>
                        <a:rPr sz="1725" b="1">
                          <a:solidFill>
                            <a:srgbClr val="397718"/>
                          </a:solidFill>
                          <a:latin typeface="Arial"/>
                          <a:ea typeface="Arial"/>
                          <a:cs typeface="Arial"/>
                        </a:rPr>
                        <a:t>24</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Message Triage Desk</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Validate a model-proposed category before routing.</a:t>
                      </a:r>
                    </a:p>
                  </a:txBody>
                  <a:tcPr marL="95250" marR="95250" marT="38100" marB="38100">
                    <a:solidFill>
                      <a:srgbClr val="FFFFFF"/>
                    </a:solidFill>
                  </a:tcPr>
                </a:tc>
              </a:tr>
              <a:tr h="691515">
                <a:tc>
                  <a:txBody>
                    <a:bodyPr>
                      <a:noAutofit/>
                    </a:bodyPr>
                    <a:lstStyle/>
                    <a:p>
                      <a:r>
                        <a:rPr sz="1725" b="1">
                          <a:solidFill>
                            <a:srgbClr val="397718"/>
                          </a:solidFill>
                          <a:latin typeface="Arial"/>
                          <a:ea typeface="Arial"/>
                          <a:cs typeface="Arial"/>
                        </a:rPr>
                        <a:t>25</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Summary Fact Checker</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Read the source, summary and separate model critique.</a:t>
                      </a:r>
                    </a:p>
                  </a:txBody>
                  <a:tcPr marL="95250" marR="95250" marT="38100" marB="38100">
                    <a:solidFill>
                      <a:srgbClr val="FFFFFF"/>
                    </a:solidFill>
                  </a:tcPr>
                </a:tc>
              </a:tr>
              <a:tr h="691515">
                <a:tc>
                  <a:txBody>
                    <a:bodyPr>
                      <a:noAutofit/>
                    </a:bodyPr>
                    <a:lstStyle/>
                    <a:p>
                      <a:r>
                        <a:rPr sz="1725" b="1">
                          <a:solidFill>
                            <a:srgbClr val="397718"/>
                          </a:solidFill>
                          <a:latin typeface="Arial"/>
                          <a:ea typeface="Arial"/>
                          <a:cs typeface="Arial"/>
                        </a:rPr>
                        <a:t>7</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Calculator Tool Assistant</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Inspect how a tool performs arithmetic for a language model.</a:t>
                      </a:r>
                    </a:p>
                  </a:txBody>
                  <a:tcPr marL="95250" marR="95250" marT="38100" marB="38100">
                    <a:solidFill>
                      <a:srgbClr val="FFFFFF"/>
                    </a:solidFill>
                  </a:tcPr>
                </a:tc>
              </a:tr>
            </a:tbl>
          </a:graphicData>
        </a:graphic>
      </p:graphicFrame>
    </p:spTree>
    <p:extLst>
      <p:ext uri="{BB962C8B-B14F-4D97-AF65-F5344CB8AC3E}">
        <p14:creationId xmlns:p14="http://schemas.microsoft.com/office/powerpoint/2010/main" val="72668394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ED31DCA-7B77-4825-9E1D-AE42344DB9AB}"/>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Memory, uncertainty and trust</a:t>
            </a:r>
          </a:p>
        </p:txBody>
      </p:sp>
      <p:sp>
        <p:nvSpPr>
          <p:cNvPr id="2" name="">
            <a:extLst xmlns:a="http://schemas.openxmlformats.org/drawingml/2006/main">
              <a:ext uri="{FF2B5EF4-FFF2-40B4-BE49-F238E27FC236}">
                <a16:creationId xmlns:a16="http://schemas.microsoft.com/office/drawing/2014/main" id="{2F895C9B-E7DB-497D-BB53-C018B77DC6A6}"/>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Explore how an assistant handles instructions, missing facts and memory.</a:t>
            </a:r>
          </a:p>
        </p:txBody>
      </p:sp>
      <p:sp>
        <p:nvSpPr>
          <p:cNvPr id="3" name="">
            <a:extLst xmlns:a="http://schemas.openxmlformats.org/drawingml/2006/main">
              <a:ext uri="{FF2B5EF4-FFF2-40B4-BE49-F238E27FC236}">
                <a16:creationId xmlns:a16="http://schemas.microsoft.com/office/drawing/2014/main" id="{C7F8F860-EBC3-4E4D-B814-86B521E27433}"/>
              </a:ext>
            </a:extLst>
          </p:cNvPr>
          <p:cNvSpPr>
            <a:spLocks xmlns:a="http://schemas.openxmlformats.org/drawingml/2006/main" noGrp="1"/>
          </p:cNvSpPr>
          <p:nvPr/>
        </p:nvSpPr>
        <p:spPr>
          <a:xfrm xmlns:a="http://schemas.openxmlformats.org/drawingml/2006/main">
            <a:off x="666750" y="61912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35B"/>
                </a:solidFill>
                <a:latin typeface="Arial"/>
                <a:ea typeface="Arial"/>
                <a:cs typeface="Arial"/>
              </a:defRPr>
            </a:pPr>
            <a:r>
              <a:rPr sz="1350" b="0">
                <a:solidFill>
                  <a:srgbClr val="52635B"/>
                </a:solidFill>
                <a:latin typeface="Arial"/>
                <a:ea typeface="Arial"/>
                <a:cs typeface="Arial"/>
              </a:rPr>
              <a:t>Challenge the assistant, inspect its answer, and compare it with the source facts.</a:t>
            </a:r>
          </a:p>
        </p:txBody>
      </p:sp>
      <p:sp>
        <p:nvSpPr>
          <p:cNvPr id="4" name="">
            <a:extLst xmlns:a="http://schemas.openxmlformats.org/drawingml/2006/main">
              <a:ext uri="{FF2B5EF4-FFF2-40B4-BE49-F238E27FC236}">
                <a16:creationId xmlns:a16="http://schemas.microsoft.com/office/drawing/2014/main" id="{C90618C9-7B1C-4471-BB85-3FDF9BAC3FA6}"/>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726D0ED5-DED1-419A-8A1A-4FB4811F6603}"/>
              </a:ext>
            </a:extLst>
          </p:cNvPr>
          <p:cNvSpPr>
            <a:spLocks xmlns:a="http://schemas.openxmlformats.org/drawingml/2006/main" noGrp="1"/>
          </p:cNvSpPr>
          <p:nvPr/>
        </p:nvSpPr>
        <p:spPr>
          <a:xfrm xmlns:a="http://schemas.openxmlformats.org/drawingml/2006/main">
            <a:off x="704850" y="2133600"/>
            <a:ext cx="247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397718"/>
                </a:solidFill>
                <a:latin typeface="Arial"/>
                <a:ea typeface="Arial"/>
                <a:cs typeface="Arial"/>
              </a:defRPr>
            </a:pPr>
            <a:r>
              <a:rPr sz="1575" b="1">
                <a:solidFill>
                  <a:srgbClr val="397718"/>
                </a:solidFill>
                <a:latin typeface="Arial"/>
                <a:ea typeface="Arial"/>
                <a:cs typeface="Arial"/>
              </a:rPr>
              <a:t>Experiment 26</a:t>
            </a:r>
          </a:p>
        </p:txBody>
      </p:sp>
      <p:sp>
        <p:nvSpPr>
          <p:cNvPr id="6" name="">
            <a:extLst xmlns:a="http://schemas.openxmlformats.org/drawingml/2006/main">
              <a:ext uri="{FF2B5EF4-FFF2-40B4-BE49-F238E27FC236}">
                <a16:creationId xmlns:a16="http://schemas.microsoft.com/office/drawing/2014/main" id="{29F17C53-8140-40A4-9E48-911159DCEF2E}"/>
              </a:ext>
            </a:extLst>
          </p:cNvPr>
          <p:cNvSpPr>
            <a:spLocks xmlns:a="http://schemas.openxmlformats.org/drawingml/2006/main" noGrp="1"/>
          </p:cNvSpPr>
          <p:nvPr/>
        </p:nvSpPr>
        <p:spPr>
          <a:xfrm xmlns:a="http://schemas.openxmlformats.org/drawingml/2006/main">
            <a:off x="704850" y="2533650"/>
            <a:ext cx="10429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9332A"/>
                </a:solidFill>
                <a:latin typeface="Arial"/>
                <a:ea typeface="Arial"/>
                <a:cs typeface="Arial"/>
              </a:defRPr>
            </a:pPr>
            <a:r>
              <a:rPr sz="2550" b="1">
                <a:solidFill>
                  <a:srgbClr val="19332A"/>
                </a:solidFill>
                <a:latin typeface="Arial"/>
                <a:ea typeface="Arial"/>
                <a:cs typeface="Arial"/>
              </a:rPr>
              <a:t>Prompt Injection Defense Lab</a:t>
            </a:r>
          </a:p>
        </p:txBody>
      </p:sp>
      <p:sp>
        <p:nvSpPr>
          <p:cNvPr id="7" name="">
            <a:extLst xmlns:a="http://schemas.openxmlformats.org/drawingml/2006/main">
              <a:ext uri="{FF2B5EF4-FFF2-40B4-BE49-F238E27FC236}">
                <a16:creationId xmlns:a16="http://schemas.microsoft.com/office/drawing/2014/main" id="{1641CA58-E882-47C6-ADFC-6E417F941C55}"/>
              </a:ext>
            </a:extLst>
          </p:cNvPr>
          <p:cNvSpPr>
            <a:spLocks xmlns:a="http://schemas.openxmlformats.org/drawingml/2006/main" noGrp="1"/>
          </p:cNvSpPr>
          <p:nvPr/>
        </p:nvSpPr>
        <p:spPr>
          <a:xfrm xmlns:a="http://schemas.openxmlformats.org/drawingml/2006/main">
            <a:off x="733425" y="30289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35B"/>
                </a:solidFill>
                <a:latin typeface="Arial"/>
                <a:ea typeface="Arial"/>
                <a:cs typeface="Arial"/>
              </a:defRPr>
            </a:pPr>
            <a:r>
              <a:rPr sz="1875" b="0">
                <a:solidFill>
                  <a:srgbClr val="52635B"/>
                </a:solidFill>
                <a:latin typeface="Arial"/>
                <a:ea typeface="Arial"/>
                <a:cs typeface="Arial"/>
              </a:rPr>
              <a:t>Compare an injected document with and without instruction separation.</a:t>
            </a:r>
          </a:p>
        </p:txBody>
      </p:sp>
      <p:sp>
        <p:nvSpPr>
          <p:cNvPr id="8" name="">
            <a:extLst xmlns:a="http://schemas.openxmlformats.org/drawingml/2006/main">
              <a:ext uri="{FF2B5EF4-FFF2-40B4-BE49-F238E27FC236}">
                <a16:creationId xmlns:a16="http://schemas.microsoft.com/office/drawing/2014/main" id="{816BB589-333A-4134-B91D-2DD85B53AB8C}"/>
              </a:ext>
            </a:extLst>
          </p:cNvPr>
          <p:cNvSpPr>
            <a:spLocks xmlns:a="http://schemas.openxmlformats.org/drawingml/2006/main" noGrp="1"/>
          </p:cNvSpPr>
          <p:nvPr/>
        </p:nvSpPr>
        <p:spPr>
          <a:xfrm xmlns:a="http://schemas.openxmlformats.org/drawingml/2006/main">
            <a:off x="704850" y="3743325"/>
            <a:ext cx="247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397718"/>
                </a:solidFill>
                <a:latin typeface="Arial"/>
                <a:ea typeface="Arial"/>
                <a:cs typeface="Arial"/>
              </a:defRPr>
            </a:pPr>
            <a:r>
              <a:rPr sz="1575" b="1">
                <a:solidFill>
                  <a:srgbClr val="397718"/>
                </a:solidFill>
                <a:latin typeface="Arial"/>
                <a:ea typeface="Arial"/>
                <a:cs typeface="Arial"/>
              </a:rPr>
              <a:t>Experiment 27</a:t>
            </a:r>
          </a:p>
        </p:txBody>
      </p:sp>
      <p:sp>
        <p:nvSpPr>
          <p:cNvPr id="9" name="">
            <a:extLst xmlns:a="http://schemas.openxmlformats.org/drawingml/2006/main">
              <a:ext uri="{FF2B5EF4-FFF2-40B4-BE49-F238E27FC236}">
                <a16:creationId xmlns:a16="http://schemas.microsoft.com/office/drawing/2014/main" id="{B8FF8D72-B20B-4049-9B2C-BA505BBDAC07}"/>
              </a:ext>
            </a:extLst>
          </p:cNvPr>
          <p:cNvSpPr>
            <a:spLocks xmlns:a="http://schemas.openxmlformats.org/drawingml/2006/main" noGrp="1"/>
          </p:cNvSpPr>
          <p:nvPr/>
        </p:nvSpPr>
        <p:spPr>
          <a:xfrm xmlns:a="http://schemas.openxmlformats.org/drawingml/2006/main">
            <a:off x="704850" y="4124325"/>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9332A"/>
                </a:solidFill>
                <a:latin typeface="Arial"/>
                <a:ea typeface="Arial"/>
                <a:cs typeface="Arial"/>
              </a:defRPr>
            </a:pPr>
            <a:r>
              <a:rPr sz="2550" b="1">
                <a:solidFill>
                  <a:srgbClr val="19332A"/>
                </a:solidFill>
                <a:latin typeface="Arial"/>
                <a:ea typeface="Arial"/>
                <a:cs typeface="Arial"/>
              </a:rPr>
              <a:t>Answer or Abstain: Hallucination Challenge</a:t>
            </a:r>
          </a:p>
        </p:txBody>
      </p:sp>
      <p:sp>
        <p:nvSpPr>
          <p:cNvPr id="10" name="">
            <a:extLst xmlns:a="http://schemas.openxmlformats.org/drawingml/2006/main">
              <a:ext uri="{FF2B5EF4-FFF2-40B4-BE49-F238E27FC236}">
                <a16:creationId xmlns:a16="http://schemas.microsoft.com/office/drawing/2014/main" id="{F660FA5B-DDCF-429D-8A5F-F42901D36035}"/>
              </a:ext>
            </a:extLst>
          </p:cNvPr>
          <p:cNvSpPr>
            <a:spLocks xmlns:a="http://schemas.openxmlformats.org/drawingml/2006/main" noGrp="1"/>
          </p:cNvSpPr>
          <p:nvPr/>
        </p:nvSpPr>
        <p:spPr>
          <a:xfrm xmlns:a="http://schemas.openxmlformats.org/drawingml/2006/main">
            <a:off x="733425" y="4610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35B"/>
                </a:solidFill>
                <a:latin typeface="Arial"/>
                <a:ea typeface="Arial"/>
                <a:cs typeface="Arial"/>
              </a:defRPr>
            </a:pPr>
            <a:r>
              <a:rPr sz="1875" b="0">
                <a:solidFill>
                  <a:srgbClr val="52635B"/>
                </a:solidFill>
                <a:latin typeface="Arial"/>
                <a:ea typeface="Arial"/>
                <a:cs typeface="Arial"/>
              </a:rPr>
              <a:t>Ask one answerable question and one whose answer is deliberately missing.</a:t>
            </a:r>
          </a:p>
        </p:txBody>
      </p:sp>
      <p:sp>
        <p:nvSpPr>
          <p:cNvPr id="11" name="">
            <a:extLst xmlns:a="http://schemas.openxmlformats.org/drawingml/2006/main">
              <a:ext uri="{FF2B5EF4-FFF2-40B4-BE49-F238E27FC236}">
                <a16:creationId xmlns:a16="http://schemas.microsoft.com/office/drawing/2014/main" id="{E9693CC6-F79E-4E52-B2C6-BE5CDD345D36}"/>
              </a:ext>
            </a:extLst>
          </p:cNvPr>
          <p:cNvSpPr>
            <a:spLocks xmlns:a="http://schemas.openxmlformats.org/drawingml/2006/main" noGrp="1"/>
          </p:cNvSpPr>
          <p:nvPr/>
        </p:nvSpPr>
        <p:spPr>
          <a:xfrm xmlns:a="http://schemas.openxmlformats.org/drawingml/2006/main">
            <a:off x="714375" y="53816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9332A"/>
                </a:solidFill>
                <a:latin typeface="Arial"/>
                <a:ea typeface="Arial"/>
                <a:cs typeface="Arial"/>
              </a:defRPr>
            </a:pPr>
            <a:r>
              <a:rPr sz="2100" b="1">
                <a:solidFill>
                  <a:srgbClr val="19332A"/>
                </a:solidFill>
                <a:latin typeface="Arial"/>
                <a:ea typeface="Arial"/>
                <a:cs typeface="Arial"/>
              </a:rPr>
              <a:t>Experiment 28: Context Memory Challenge</a:t>
            </a:r>
          </a:p>
        </p:txBody>
      </p:sp>
      <p:sp>
        <p:nvSpPr>
          <p:cNvPr id="12" name="">
            <a:extLst xmlns:a="http://schemas.openxmlformats.org/drawingml/2006/main">
              <a:ext uri="{FF2B5EF4-FFF2-40B4-BE49-F238E27FC236}">
                <a16:creationId xmlns:a16="http://schemas.microsoft.com/office/drawing/2014/main" id="{9AB07230-0B47-43BB-9BBE-DEED6BAD8E58}"/>
              </a:ext>
            </a:extLst>
          </p:cNvPr>
          <p:cNvSpPr>
            <a:spLocks xmlns:a="http://schemas.openxmlformats.org/drawingml/2006/main" noGrp="1"/>
          </p:cNvSpPr>
          <p:nvPr/>
        </p:nvSpPr>
        <p:spPr>
          <a:xfrm xmlns:a="http://schemas.openxmlformats.org/drawingml/2006/main">
            <a:off x="733425" y="5791200"/>
            <a:ext cx="1000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35B"/>
                </a:solidFill>
                <a:latin typeface="Arial"/>
                <a:ea typeface="Arial"/>
                <a:cs typeface="Arial"/>
              </a:defRPr>
            </a:pPr>
            <a:r>
              <a:rPr sz="1725" b="0">
                <a:solidFill>
                  <a:srgbClr val="52635B"/>
                </a:solidFill>
                <a:latin typeface="Arial"/>
                <a:ea typeface="Arial"/>
                <a:cs typeface="Arial"/>
              </a:rPr>
              <a:t>Recall the same fact as irrelevant context grows.</a:t>
            </a:r>
          </a:p>
        </p:txBody>
      </p:sp>
    </p:spTree>
    <p:extLst>
      <p:ext uri="{BB962C8B-B14F-4D97-AF65-F5344CB8AC3E}">
        <p14:creationId xmlns:p14="http://schemas.microsoft.com/office/powerpoint/2010/main" val="3799534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43E3006-0661-4D69-AF3C-EAB1C8E49FF4}"/>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Camera projects beyond detection</a:t>
            </a:r>
          </a:p>
        </p:txBody>
      </p:sp>
      <p:sp>
        <p:nvSpPr>
          <p:cNvPr id="2" name="">
            <a:extLst xmlns:a="http://schemas.openxmlformats.org/drawingml/2006/main">
              <a:ext uri="{FF2B5EF4-FFF2-40B4-BE49-F238E27FC236}">
                <a16:creationId xmlns:a16="http://schemas.microsoft.com/office/drawing/2014/main" id="{3FB96AED-A273-40D8-8882-1FCB199807ED}"/>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Keep the camera fixed. Move ordinary objects in the scene.</a:t>
            </a:r>
          </a:p>
        </p:txBody>
      </p:sp>
      <p:sp>
        <p:nvSpPr>
          <p:cNvPr id="3" name="">
            <a:extLst xmlns:a="http://schemas.openxmlformats.org/drawingml/2006/main">
              <a:ext uri="{FF2B5EF4-FFF2-40B4-BE49-F238E27FC236}">
                <a16:creationId xmlns:a16="http://schemas.microsoft.com/office/drawing/2014/main" id="{EFCB9428-03D2-4401-9CEB-C144681BF218}"/>
              </a:ext>
            </a:extLst>
          </p:cNvPr>
          <p:cNvSpPr>
            <a:spLocks xmlns:a="http://schemas.openxmlformats.org/drawingml/2006/main" noGrp="1"/>
          </p:cNvSpPr>
          <p:nvPr/>
        </p:nvSpPr>
        <p:spPr>
          <a:xfrm xmlns:a="http://schemas.openxmlformats.org/drawingml/2006/main">
            <a:off x="666750" y="61912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35B"/>
                </a:solidFill>
                <a:latin typeface="Arial"/>
                <a:ea typeface="Arial"/>
                <a:cs typeface="Arial"/>
              </a:defRPr>
            </a:pPr>
            <a:r>
              <a:rPr sz="1350" b="0">
                <a:solidFill>
                  <a:srgbClr val="52635B"/>
                </a:solidFill>
                <a:latin typeface="Arial"/>
                <a:ea typeface="Arial"/>
                <a:cs typeface="Arial"/>
              </a:rPr>
              <a:t>Run 13 → install and rehearse detection first. Vision and the language model run sequentially.</a:t>
            </a:r>
          </a:p>
        </p:txBody>
      </p:sp>
      <p:sp>
        <p:nvSpPr>
          <p:cNvPr id="4" name="">
            <a:extLst xmlns:a="http://schemas.openxmlformats.org/drawingml/2006/main">
              <a:ext uri="{FF2B5EF4-FFF2-40B4-BE49-F238E27FC236}">
                <a16:creationId xmlns:a16="http://schemas.microsoft.com/office/drawing/2014/main" id="{9405CB78-00D6-4411-8237-50AFDDE894FC}"/>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08</a:t>
            </a:r>
          </a:p>
        </p:txBody>
      </p:sp>
      <p:graphicFrame>
        <p:nvGraphicFramePr>
          <p:cNvPr id="11" name=""/>
          <p:cNvGraphicFramePr/>
          <p:nvPr/>
        </p:nvGraphicFramePr>
        <p:xfrm>
          <a:off xmlns:a="http://schemas.openxmlformats.org/drawingml/2006/main" x="666750" y="2114550"/>
          <a:ext xmlns:a="http://schemas.openxmlformats.org/drawingml/2006/main" cx="10858500" cy="3314700"/>
        </p:xfrm>
        <a:graphic xmlns:a="http://schemas.openxmlformats.org/drawingml/2006/main">
          <a:graphicData uri="http://schemas.openxmlformats.org/drawingml/2006/table">
            <a:tbl>
              <a:tblPr firstRow="0" bandRow="0"/>
              <a:tblGrid>
                <a:gridCol w="809625"/>
                <a:gridCol w="4286250"/>
                <a:gridCol w="5762625"/>
              </a:tblGrid>
              <a:tr h="400050">
                <a:tc>
                  <a:txBody>
                    <a:bodyPr>
                      <a:noAutofit/>
                    </a:bodyPr>
                    <a:lstStyle/>
                    <a:p>
                      <a:r>
                        <a:rPr sz="1350" b="1">
                          <a:solidFill>
                            <a:srgbClr val="397718"/>
                          </a:solidFill>
                          <a:latin typeface="Arial"/>
                          <a:ea typeface="Arial"/>
                          <a:cs typeface="Arial"/>
                        </a:rPr>
                        <a:t>MENU</a:t>
                      </a:r>
                    </a:p>
                  </a:txBody>
                  <a:tcPr marL="95250" marR="95250" marT="38100" marB="38100">
                    <a:solidFill>
                      <a:srgbClr val="EFF6E9"/>
                    </a:solidFill>
                  </a:tcPr>
                </a:tc>
                <a:tc>
                  <a:txBody>
                    <a:bodyPr>
                      <a:noAutofit/>
                    </a:bodyPr>
                    <a:lstStyle/>
                    <a:p>
                      <a:r>
                        <a:rPr sz="1350" b="1">
                          <a:solidFill>
                            <a:srgbClr val="19332A"/>
                          </a:solidFill>
                          <a:latin typeface="Arial"/>
                          <a:ea typeface="Arial"/>
                          <a:cs typeface="Arial"/>
                        </a:rPr>
                        <a:t>EXPERIMENT</a:t>
                      </a:r>
                    </a:p>
                  </a:txBody>
                  <a:tcPr marL="95250" marR="95250" marT="38100" marB="38100">
                    <a:solidFill>
                      <a:srgbClr val="EFF6E9"/>
                    </a:solidFill>
                  </a:tcPr>
                </a:tc>
                <a:tc>
                  <a:txBody>
                    <a:bodyPr>
                      <a:noAutofit/>
                    </a:bodyPr>
                    <a:lstStyle/>
                    <a:p>
                      <a:r>
                        <a:rPr sz="1350" b="1">
                          <a:solidFill>
                            <a:srgbClr val="19332A"/>
                          </a:solidFill>
                          <a:latin typeface="Arial"/>
                          <a:ea typeface="Arial"/>
                          <a:cs typeface="Arial"/>
                        </a:rPr>
                        <a:t>WHAT STUDENTS DO</a:t>
                      </a:r>
                    </a:p>
                  </a:txBody>
                  <a:tcPr marL="95250" marR="95250" marT="38100" marB="38100">
                    <a:solidFill>
                      <a:srgbClr val="EFF6E9"/>
                    </a:solidFill>
                  </a:tcPr>
                </a:tc>
              </a:tr>
              <a:tr h="728663">
                <a:tc>
                  <a:txBody>
                    <a:bodyPr>
                      <a:noAutofit/>
                    </a:bodyPr>
                    <a:lstStyle/>
                    <a:p>
                      <a:r>
                        <a:rPr sz="1725" b="1">
                          <a:solidFill>
                            <a:srgbClr val="397718"/>
                          </a:solidFill>
                          <a:latin typeface="Arial"/>
                          <a:ea typeface="Arial"/>
                          <a:cs typeface="Arial"/>
                        </a:rPr>
                        <a:t>18</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Scene Memory Detective</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Observe the desk, change something, then explain the measured difference.</a:t>
                      </a:r>
                    </a:p>
                  </a:txBody>
                  <a:tcPr marL="95250" marR="95250" marT="38100" marB="38100">
                    <a:solidFill>
                      <a:srgbClr val="FFFFFF"/>
                    </a:solidFill>
                  </a:tcPr>
                </a:tc>
              </a:tr>
              <a:tr h="728663">
                <a:tc>
                  <a:txBody>
                    <a:bodyPr>
                      <a:noAutofit/>
                    </a:bodyPr>
                    <a:lstStyle/>
                    <a:p>
                      <a:r>
                        <a:rPr sz="1725" b="1">
                          <a:solidFill>
                            <a:srgbClr val="397718"/>
                          </a:solidFill>
                          <a:latin typeface="Arial"/>
                          <a:ea typeface="Arial"/>
                          <a:cs typeface="Arial"/>
                        </a:rPr>
                        <a:t>19</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AI Visual Scavenger Hunt</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Arrange objects for an AI-generated quest; detector evidence determines the score.</a:t>
                      </a:r>
                    </a:p>
                  </a:txBody>
                  <a:tcPr marL="95250" marR="95250" marT="38100" marB="38100">
                    <a:solidFill>
                      <a:srgbClr val="FFFFFF"/>
                    </a:solidFill>
                  </a:tcPr>
                </a:tc>
              </a:tr>
              <a:tr h="728663">
                <a:tc>
                  <a:txBody>
                    <a:bodyPr>
                      <a:noAutofit/>
                    </a:bodyPr>
                    <a:lstStyle/>
                    <a:p>
                      <a:r>
                        <a:rPr sz="1725" b="1">
                          <a:solidFill>
                            <a:srgbClr val="397718"/>
                          </a:solidFill>
                          <a:latin typeface="Arial"/>
                          <a:ea typeface="Arial"/>
                          <a:cs typeface="Arial"/>
                        </a:rPr>
                        <a:t>20</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Camera Change Journal</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Capture three observations and summarize the recorded changes.</a:t>
                      </a:r>
                    </a:p>
                  </a:txBody>
                  <a:tcPr marL="95250" marR="95250" marT="38100" marB="38100">
                    <a:solidFill>
                      <a:srgbClr val="FFFFFF"/>
                    </a:solidFill>
                  </a:tcPr>
                </a:tc>
              </a:tr>
              <a:tr h="728663">
                <a:tc>
                  <a:txBody>
                    <a:bodyPr>
                      <a:noAutofit/>
                    </a:bodyPr>
                    <a:lstStyle/>
                    <a:p>
                      <a:r>
                        <a:rPr sz="1725" b="1">
                          <a:solidFill>
                            <a:srgbClr val="397718"/>
                          </a:solidFill>
                          <a:latin typeface="Arial"/>
                          <a:ea typeface="Arial"/>
                          <a:cs typeface="Arial"/>
                        </a:rPr>
                        <a:t>13</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Camera Perception Lab</a:t>
                      </a:r>
                    </a:p>
                  </a:txBody>
                  <a:tcPr marL="95250" marR="95250" marT="38100" marB="38100">
                    <a:solidFill>
                      <a:srgbClr val="FFFFFF"/>
                    </a:solidFill>
                  </a:tcPr>
                </a:tc>
                <a:tc>
                  <a:txBody>
                    <a:bodyPr>
                      <a:noAutofit/>
                    </a:bodyPr>
                    <a:lstStyle/>
                    <a:p>
                      <a:r>
                        <a:rPr sz="1725" b="0">
                          <a:solidFill>
                            <a:srgbClr val="19332A"/>
                          </a:solidFill>
                          <a:latin typeface="Arial"/>
                          <a:ea typeface="Arial"/>
                          <a:cs typeface="Arial"/>
                        </a:rPr>
                        <a:t>Explore detection, classification, pose or segmentation.</a:t>
                      </a:r>
                    </a:p>
                  </a:txBody>
                  <a:tcPr marL="95250" marR="95250" marT="38100" marB="3810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9BF8FC52-3999-4277-9CDF-D3F54FE2ECD4}"/>
              </a:ext>
            </a:extLst>
          </p:cNvPr>
          <p:cNvSpPr>
            <a:spLocks xmlns:a="http://schemas.openxmlformats.org/drawingml/2006/main" noGrp="1"/>
          </p:cNvSpPr>
          <p:nvPr/>
        </p:nvSpPr>
        <p:spPr>
          <a:xfrm xmlns:a="http://schemas.openxmlformats.org/drawingml/2006/main">
            <a:off x="723900" y="5591175"/>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397718"/>
                </a:solidFill>
                <a:latin typeface="Arial"/>
                <a:ea typeface="Arial"/>
                <a:cs typeface="Arial"/>
              </a:defRPr>
            </a:pPr>
            <a:r>
              <a:rPr sz="2250" b="1">
                <a:solidFill>
                  <a:srgbClr val="397718"/>
                </a:solidFill>
                <a:latin typeface="Arial"/>
                <a:ea typeface="Arial"/>
                <a:cs typeface="Arial"/>
              </a:rPr>
              <a:t>Try it with a cup, a book or a bottle.</a:t>
            </a:r>
          </a:p>
        </p:txBody>
      </p:sp>
    </p:spTree>
    <p:extLst>
      <p:ext uri="{BB962C8B-B14F-4D97-AF65-F5344CB8AC3E}">
        <p14:creationId xmlns:p14="http://schemas.microsoft.com/office/powerpoint/2010/main" val="121163257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4B9A307-1337-42F5-A365-DD34E580A834}"/>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Model performance and evaluation</a:t>
            </a:r>
          </a:p>
        </p:txBody>
      </p:sp>
      <p:sp>
        <p:nvSpPr>
          <p:cNvPr id="2" name="">
            <a:extLst xmlns:a="http://schemas.openxmlformats.org/drawingml/2006/main">
              <a:ext uri="{FF2B5EF4-FFF2-40B4-BE49-F238E27FC236}">
                <a16:creationId xmlns:a16="http://schemas.microsoft.com/office/drawing/2014/main" id="{31D1AC7E-64C6-4ADD-AAF5-BFDBF1F2A22E}"/>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Inspect model responses and measure runtime.</a:t>
            </a:r>
          </a:p>
        </p:txBody>
      </p:sp>
      <p:sp>
        <p:nvSpPr>
          <p:cNvPr id="3" name="">
            <a:extLst xmlns:a="http://schemas.openxmlformats.org/drawingml/2006/main">
              <a:ext uri="{FF2B5EF4-FFF2-40B4-BE49-F238E27FC236}">
                <a16:creationId xmlns:a16="http://schemas.microsoft.com/office/drawing/2014/main" id="{339E4887-0413-4C00-8B76-96765999C083}"/>
              </a:ext>
            </a:extLst>
          </p:cNvPr>
          <p:cNvSpPr>
            <a:spLocks xmlns:a="http://schemas.openxmlformats.org/drawingml/2006/main" noGrp="1"/>
          </p:cNvSpPr>
          <p:nvPr/>
        </p:nvSpPr>
        <p:spPr>
          <a:xfrm xmlns:a="http://schemas.openxmlformats.org/drawingml/2006/main">
            <a:off x="666750" y="61912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35B"/>
                </a:solidFill>
                <a:latin typeface="Arial"/>
                <a:ea typeface="Arial"/>
                <a:cs typeface="Arial"/>
              </a:defRPr>
            </a:pPr>
            <a:r>
              <a:rPr sz="1350" b="0">
                <a:solidFill>
                  <a:srgbClr val="52635B"/>
                </a:solidFill>
                <a:latin typeface="Arial"/>
                <a:ea typeface="Arial"/>
                <a:cs typeface="Arial"/>
              </a:rPr>
              <a:t>Compare the saved outputs and timings from your chosen workload.</a:t>
            </a:r>
          </a:p>
        </p:txBody>
      </p:sp>
      <p:sp>
        <p:nvSpPr>
          <p:cNvPr id="4" name="">
            <a:extLst xmlns:a="http://schemas.openxmlformats.org/drawingml/2006/main">
              <a:ext uri="{FF2B5EF4-FFF2-40B4-BE49-F238E27FC236}">
                <a16:creationId xmlns:a16="http://schemas.microsoft.com/office/drawing/2014/main" id="{64DA0A4E-9FB7-412C-8E78-DD5B5E930959}"/>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B1F58E43-C718-4831-9023-A1C37FD3DB98}"/>
              </a:ext>
            </a:extLst>
          </p:cNvPr>
          <p:cNvSpPr>
            <a:spLocks xmlns:a="http://schemas.openxmlformats.org/drawingml/2006/main" noGrp="1"/>
          </p:cNvSpPr>
          <p:nvPr/>
        </p:nvSpPr>
        <p:spPr>
          <a:xfrm xmlns:a="http://schemas.openxmlformats.org/drawingml/2006/main">
            <a:off x="714375" y="2219325"/>
            <a:ext cx="323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397718"/>
                </a:solidFill>
                <a:latin typeface="Arial"/>
                <a:ea typeface="Arial"/>
                <a:cs typeface="Arial"/>
              </a:defRPr>
            </a:pPr>
            <a:r>
              <a:rPr sz="1650" b="1">
                <a:solidFill>
                  <a:srgbClr val="397718"/>
                </a:solidFill>
                <a:latin typeface="Arial"/>
                <a:ea typeface="Arial"/>
                <a:cs typeface="Arial"/>
              </a:rPr>
              <a:t>Experiment 11</a:t>
            </a:r>
          </a:p>
        </p:txBody>
      </p:sp>
      <p:sp>
        <p:nvSpPr>
          <p:cNvPr id="6" name="">
            <a:extLst xmlns:a="http://schemas.openxmlformats.org/drawingml/2006/main">
              <a:ext uri="{FF2B5EF4-FFF2-40B4-BE49-F238E27FC236}">
                <a16:creationId xmlns:a16="http://schemas.microsoft.com/office/drawing/2014/main" id="{993F2EA9-FD58-496A-AE58-8858A5F0B2B9}"/>
              </a:ext>
            </a:extLst>
          </p:cNvPr>
          <p:cNvSpPr>
            <a:spLocks xmlns:a="http://schemas.openxmlformats.org/drawingml/2006/main" noGrp="1"/>
          </p:cNvSpPr>
          <p:nvPr/>
        </p:nvSpPr>
        <p:spPr>
          <a:xfrm xmlns:a="http://schemas.openxmlformats.org/drawingml/2006/main">
            <a:off x="714375" y="2714625"/>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9332A"/>
                </a:solidFill>
                <a:latin typeface="Arial"/>
                <a:ea typeface="Arial"/>
                <a:cs typeface="Arial"/>
              </a:defRPr>
            </a:pPr>
            <a:r>
              <a:rPr sz="2625" b="1">
                <a:solidFill>
                  <a:srgbClr val="19332A"/>
                </a:solidFill>
                <a:latin typeface="Arial"/>
                <a:ea typeface="Arial"/>
                <a:cs typeface="Arial"/>
              </a:rPr>
              <a:t>Language Model</a:t>
            </a:r>
          </a:p>
          <a:p xmlns:a="http://schemas.openxmlformats.org/drawingml/2006/main">
            <a:pPr>
              <a:defRPr sz="2625" b="1">
                <a:solidFill>
                  <a:srgbClr val="19332A"/>
                </a:solidFill>
                <a:latin typeface="Arial"/>
                <a:ea typeface="Arial"/>
                <a:cs typeface="Arial"/>
              </a:defRPr>
            </a:pPr>
            <a:r>
              <a:rPr sz="2625" b="1">
                <a:solidFill>
                  <a:srgbClr val="19332A"/>
                </a:solidFill>
                <a:latin typeface="Arial"/>
                <a:ea typeface="Arial"/>
                <a:cs typeface="Arial"/>
              </a:rPr>
              <a:t>Performance Benchmark</a:t>
            </a:r>
          </a:p>
        </p:txBody>
      </p:sp>
      <p:sp>
        <p:nvSpPr>
          <p:cNvPr id="7" name="">
            <a:extLst xmlns:a="http://schemas.openxmlformats.org/drawingml/2006/main">
              <a:ext uri="{FF2B5EF4-FFF2-40B4-BE49-F238E27FC236}">
                <a16:creationId xmlns:a16="http://schemas.microsoft.com/office/drawing/2014/main" id="{594E3212-F208-4853-9E2A-FBF32107D80A}"/>
              </a:ext>
            </a:extLst>
          </p:cNvPr>
          <p:cNvSpPr>
            <a:spLocks xmlns:a="http://schemas.openxmlformats.org/drawingml/2006/main" noGrp="1"/>
          </p:cNvSpPr>
          <p:nvPr/>
        </p:nvSpPr>
        <p:spPr>
          <a:xfrm xmlns:a="http://schemas.openxmlformats.org/drawingml/2006/main">
            <a:off x="733425" y="40386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35B"/>
                </a:solidFill>
                <a:latin typeface="Arial"/>
                <a:ea typeface="Arial"/>
                <a:cs typeface="Arial"/>
              </a:defRPr>
            </a:pPr>
            <a:r>
              <a:rPr sz="2025" b="0">
                <a:solidFill>
                  <a:srgbClr val="52635B"/>
                </a:solidFill>
                <a:latin typeface="Arial"/>
                <a:ea typeface="Arial"/>
                <a:cs typeface="Arial"/>
              </a:rPr>
              <a:t>Run the upstream model benchmark</a:t>
            </a:r>
          </a:p>
          <a:p xmlns:a="http://schemas.openxmlformats.org/drawingml/2006/main">
            <a:pPr>
              <a:defRPr sz="2025" b="0">
                <a:solidFill>
                  <a:srgbClr val="52635B"/>
                </a:solidFill>
                <a:latin typeface="Arial"/>
                <a:ea typeface="Arial"/>
                <a:cs typeface="Arial"/>
              </a:defRPr>
            </a:pPr>
            <a:r>
              <a:rPr sz="2025" b="0">
                <a:solidFill>
                  <a:srgbClr val="52635B"/>
                </a:solidFill>
                <a:latin typeface="Arial"/>
                <a:ea typeface="Arial"/>
                <a:cs typeface="Arial"/>
              </a:rPr>
              <a:t>and inspect its saved measurements.</a:t>
            </a:r>
          </a:p>
        </p:txBody>
      </p:sp>
      <p:sp>
        <p:nvSpPr>
          <p:cNvPr id="8" name="">
            <a:extLst xmlns:a="http://schemas.openxmlformats.org/drawingml/2006/main">
              <a:ext uri="{FF2B5EF4-FFF2-40B4-BE49-F238E27FC236}">
                <a16:creationId xmlns:a16="http://schemas.microsoft.com/office/drawing/2014/main" id="{5F482AFA-9BA7-4C71-B211-EA2A60C3B0A3}"/>
              </a:ext>
            </a:extLst>
          </p:cNvPr>
          <p:cNvSpPr>
            <a:spLocks xmlns:a="http://schemas.openxmlformats.org/drawingml/2006/main" noGrp="1"/>
          </p:cNvSpPr>
          <p:nvPr/>
        </p:nvSpPr>
        <p:spPr>
          <a:xfrm xmlns:a="http://schemas.openxmlformats.org/drawingml/2006/main">
            <a:off x="6572250" y="2219325"/>
            <a:ext cx="3714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397718"/>
                </a:solidFill>
                <a:latin typeface="Arial"/>
                <a:ea typeface="Arial"/>
                <a:cs typeface="Arial"/>
              </a:defRPr>
            </a:pPr>
            <a:r>
              <a:rPr sz="1650" b="1">
                <a:solidFill>
                  <a:srgbClr val="397718"/>
                </a:solidFill>
                <a:latin typeface="Arial"/>
                <a:ea typeface="Arial"/>
                <a:cs typeface="Arial"/>
              </a:rPr>
              <a:t>Experiment 12</a:t>
            </a:r>
          </a:p>
        </p:txBody>
      </p:sp>
      <p:sp>
        <p:nvSpPr>
          <p:cNvPr id="9" name="">
            <a:extLst xmlns:a="http://schemas.openxmlformats.org/drawingml/2006/main">
              <a:ext uri="{FF2B5EF4-FFF2-40B4-BE49-F238E27FC236}">
                <a16:creationId xmlns:a16="http://schemas.microsoft.com/office/drawing/2014/main" id="{1355499E-AEF7-42A5-8D38-1C6222DBD1C0}"/>
              </a:ext>
            </a:extLst>
          </p:cNvPr>
          <p:cNvSpPr>
            <a:spLocks xmlns:a="http://schemas.openxmlformats.org/drawingml/2006/main" noGrp="1"/>
          </p:cNvSpPr>
          <p:nvPr/>
        </p:nvSpPr>
        <p:spPr>
          <a:xfrm xmlns:a="http://schemas.openxmlformats.org/drawingml/2006/main">
            <a:off x="6572250" y="2714625"/>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9332A"/>
                </a:solidFill>
                <a:latin typeface="Arial"/>
                <a:ea typeface="Arial"/>
                <a:cs typeface="Arial"/>
              </a:defRPr>
            </a:pPr>
            <a:r>
              <a:rPr sz="2625" b="1">
                <a:solidFill>
                  <a:srgbClr val="19332A"/>
                </a:solidFill>
                <a:latin typeface="Arial"/>
                <a:ea typeface="Arial"/>
                <a:cs typeface="Arial"/>
              </a:rPr>
              <a:t>Reproducible</a:t>
            </a:r>
          </a:p>
          <a:p xmlns:a="http://schemas.openxmlformats.org/drawingml/2006/main">
            <a:pPr>
              <a:defRPr sz="2625" b="1">
                <a:solidFill>
                  <a:srgbClr val="19332A"/>
                </a:solidFill>
                <a:latin typeface="Arial"/>
                <a:ea typeface="Arial"/>
                <a:cs typeface="Arial"/>
              </a:defRPr>
            </a:pPr>
            <a:r>
              <a:rPr sz="2625" b="1">
                <a:solidFill>
                  <a:srgbClr val="19332A"/>
                </a:solidFill>
                <a:latin typeface="Arial"/>
                <a:ea typeface="Arial"/>
                <a:cs typeface="Arial"/>
              </a:rPr>
              <a:t>Prompt Evaluation</a:t>
            </a:r>
          </a:p>
        </p:txBody>
      </p:sp>
      <p:sp>
        <p:nvSpPr>
          <p:cNvPr id="10" name="">
            <a:extLst xmlns:a="http://schemas.openxmlformats.org/drawingml/2006/main">
              <a:ext uri="{FF2B5EF4-FFF2-40B4-BE49-F238E27FC236}">
                <a16:creationId xmlns:a16="http://schemas.microsoft.com/office/drawing/2014/main" id="{82C63AC1-1523-4EBB-B3ED-876F489F3169}"/>
              </a:ext>
            </a:extLst>
          </p:cNvPr>
          <p:cNvSpPr>
            <a:spLocks xmlns:a="http://schemas.openxmlformats.org/drawingml/2006/main" noGrp="1"/>
          </p:cNvSpPr>
          <p:nvPr/>
        </p:nvSpPr>
        <p:spPr>
          <a:xfrm xmlns:a="http://schemas.openxmlformats.org/drawingml/2006/main">
            <a:off x="6591300" y="4038600"/>
            <a:ext cx="4762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35B"/>
                </a:solidFill>
                <a:latin typeface="Arial"/>
                <a:ea typeface="Arial"/>
                <a:cs typeface="Arial"/>
              </a:defRPr>
            </a:pPr>
            <a:r>
              <a:rPr sz="2025" b="0">
                <a:solidFill>
                  <a:srgbClr val="52635B"/>
                </a:solidFill>
                <a:latin typeface="Arial"/>
                <a:ea typeface="Arial"/>
                <a:cs typeface="Arial"/>
              </a:rPr>
              <a:t>Supply JSONL questions and reference</a:t>
            </a:r>
          </a:p>
          <a:p xmlns:a="http://schemas.openxmlformats.org/drawingml/2006/main">
            <a:pPr>
              <a:defRPr sz="2025" b="0">
                <a:solidFill>
                  <a:srgbClr val="52635B"/>
                </a:solidFill>
                <a:latin typeface="Arial"/>
                <a:ea typeface="Arial"/>
                <a:cs typeface="Arial"/>
              </a:defRPr>
            </a:pPr>
            <a:r>
              <a:rPr sz="2025" b="0">
                <a:solidFill>
                  <a:srgbClr val="52635B"/>
                </a:solidFill>
                <a:latin typeface="Arial"/>
                <a:ea typeface="Arial"/>
                <a:cs typeface="Arial"/>
              </a:rPr>
              <a:t>answers. Inspect exact matches,</a:t>
            </a:r>
          </a:p>
          <a:p xmlns:a="http://schemas.openxmlformats.org/drawingml/2006/main">
            <a:pPr>
              <a:defRPr sz="2025" b="0">
                <a:solidFill>
                  <a:srgbClr val="52635B"/>
                </a:solidFill>
                <a:latin typeface="Arial"/>
                <a:ea typeface="Arial"/>
                <a:cs typeface="Arial"/>
              </a:defRPr>
            </a:pPr>
            <a:r>
              <a:rPr sz="2025" b="0">
                <a:solidFill>
                  <a:srgbClr val="52635B"/>
                </a:solidFill>
                <a:latin typeface="Arial"/>
                <a:ea typeface="Arial"/>
                <a:cs typeface="Arial"/>
              </a:rPr>
              <a:t>responses and latency.</a:t>
            </a:r>
          </a:p>
        </p:txBody>
      </p:sp>
    </p:spTree>
    <p:extLst>
      <p:ext uri="{BB962C8B-B14F-4D97-AF65-F5344CB8AC3E}">
        <p14:creationId xmlns:p14="http://schemas.microsoft.com/office/powerpoint/2010/main" val="185539770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952B3D-2EDE-4DF9-A5DD-FEDCD7A65305}"/>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A classroom sequence</a:t>
            </a:r>
          </a:p>
        </p:txBody>
      </p:sp>
      <p:sp>
        <p:nvSpPr>
          <p:cNvPr id="2" name="">
            <a:extLst xmlns:a="http://schemas.openxmlformats.org/drawingml/2006/main">
              <a:ext uri="{FF2B5EF4-FFF2-40B4-BE49-F238E27FC236}">
                <a16:creationId xmlns:a16="http://schemas.microsoft.com/office/drawing/2014/main" id="{9DF5FB92-DF7E-49B7-A58B-BBA48F3FDD47}"/>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Choose a few experiments and let the audience steer.</a:t>
            </a:r>
          </a:p>
        </p:txBody>
      </p:sp>
      <p:sp>
        <p:nvSpPr>
          <p:cNvPr id="3" name="">
            <a:extLst xmlns:a="http://schemas.openxmlformats.org/drawingml/2006/main">
              <a:ext uri="{FF2B5EF4-FFF2-40B4-BE49-F238E27FC236}">
                <a16:creationId xmlns:a16="http://schemas.microsoft.com/office/drawing/2014/main" id="{5252BF21-84FC-489F-AFC7-111D58066FAA}"/>
              </a:ext>
            </a:extLst>
          </p:cNvPr>
          <p:cNvSpPr>
            <a:spLocks xmlns:a="http://schemas.openxmlformats.org/drawingml/2006/main" noGrp="1"/>
          </p:cNvSpPr>
          <p:nvPr/>
        </p:nvSpPr>
        <p:spPr>
          <a:xfrm xmlns:a="http://schemas.openxmlformats.org/drawingml/2006/main">
            <a:off x="666750" y="61912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35B"/>
                </a:solidFill>
                <a:latin typeface="Arial"/>
                <a:ea typeface="Arial"/>
                <a:cs typeface="Arial"/>
              </a:defRPr>
            </a:pPr>
            <a:r>
              <a:rPr sz="1350" b="0">
                <a:solidFill>
                  <a:srgbClr val="52635B"/>
                </a:solidFill>
                <a:latin typeface="Arial"/>
                <a:ea typeface="Arial"/>
                <a:cs typeface="Arial"/>
              </a:rPr>
              <a:t>Start with a conversation, invite a plot twist, then bring the camera into the demonstration.</a:t>
            </a:r>
          </a:p>
        </p:txBody>
      </p:sp>
      <p:sp>
        <p:nvSpPr>
          <p:cNvPr id="4" name="">
            <a:extLst xmlns:a="http://schemas.openxmlformats.org/drawingml/2006/main">
              <a:ext uri="{FF2B5EF4-FFF2-40B4-BE49-F238E27FC236}">
                <a16:creationId xmlns:a16="http://schemas.microsoft.com/office/drawing/2014/main" id="{33A8B963-5181-492D-B70F-032C96C7ECAA}"/>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CBE98558-B21D-48A0-95F9-4E3F561C6AD5}"/>
              </a:ext>
            </a:extLst>
          </p:cNvPr>
          <p:cNvSpPr>
            <a:spLocks xmlns:a="http://schemas.openxmlformats.org/drawingml/2006/main" noGrp="1"/>
          </p:cNvSpPr>
          <p:nvPr/>
        </p:nvSpPr>
        <p:spPr>
          <a:xfrm xmlns:a="http://schemas.openxmlformats.org/drawingml/2006/main">
            <a:off x="714375" y="218122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9332A"/>
                </a:solidFill>
                <a:latin typeface="Arial"/>
                <a:ea typeface="Arial"/>
                <a:cs typeface="Arial"/>
              </a:defRPr>
            </a:pPr>
            <a:r>
              <a:rPr sz="2550" b="1">
                <a:solidFill>
                  <a:srgbClr val="19332A"/>
                </a:solidFill>
                <a:latin typeface="Arial"/>
                <a:ea typeface="Arial"/>
                <a:cs typeface="Arial"/>
              </a:rPr>
              <a:t>Start with an assistant</a:t>
            </a:r>
          </a:p>
        </p:txBody>
      </p:sp>
      <p:sp>
        <p:nvSpPr>
          <p:cNvPr id="6" name="">
            <a:extLst xmlns:a="http://schemas.openxmlformats.org/drawingml/2006/main">
              <a:ext uri="{FF2B5EF4-FFF2-40B4-BE49-F238E27FC236}">
                <a16:creationId xmlns:a16="http://schemas.microsoft.com/office/drawing/2014/main" id="{C3EB005F-47B3-4945-8754-EA440C1DF125}"/>
              </a:ext>
            </a:extLst>
          </p:cNvPr>
          <p:cNvSpPr>
            <a:spLocks xmlns:a="http://schemas.openxmlformats.org/drawingml/2006/main" noGrp="1"/>
          </p:cNvSpPr>
          <p:nvPr/>
        </p:nvSpPr>
        <p:spPr>
          <a:xfrm xmlns:a="http://schemas.openxmlformats.org/drawingml/2006/main">
            <a:off x="742950" y="26955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15 Mission Control or 17 Story Director gives students a task to direct.</a:t>
            </a:r>
          </a:p>
        </p:txBody>
      </p:sp>
      <p:sp>
        <p:nvSpPr>
          <p:cNvPr id="7" name="">
            <a:extLst xmlns:a="http://schemas.openxmlformats.org/drawingml/2006/main">
              <a:ext uri="{FF2B5EF4-FFF2-40B4-BE49-F238E27FC236}">
                <a16:creationId xmlns:a16="http://schemas.microsoft.com/office/drawing/2014/main" id="{19F3F0B1-2928-46D8-9C61-0C6CB34BB256}"/>
              </a:ext>
            </a:extLst>
          </p:cNvPr>
          <p:cNvSpPr>
            <a:spLocks xmlns:a="http://schemas.openxmlformats.org/drawingml/2006/main" noGrp="1"/>
          </p:cNvSpPr>
          <p:nvPr/>
        </p:nvSpPr>
        <p:spPr>
          <a:xfrm xmlns:a="http://schemas.openxmlformats.org/drawingml/2006/main">
            <a:off x="714375" y="345757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9332A"/>
                </a:solidFill>
                <a:latin typeface="Arial"/>
                <a:ea typeface="Arial"/>
                <a:cs typeface="Arial"/>
              </a:defRPr>
            </a:pPr>
            <a:r>
              <a:rPr sz="2550" b="1">
                <a:solidFill>
                  <a:srgbClr val="19332A"/>
                </a:solidFill>
                <a:latin typeface="Arial"/>
                <a:ea typeface="Arial"/>
                <a:cs typeface="Arial"/>
              </a:rPr>
              <a:t>Introduce the camera</a:t>
            </a:r>
          </a:p>
        </p:txBody>
      </p:sp>
      <p:sp>
        <p:nvSpPr>
          <p:cNvPr id="8" name="">
            <a:extLst xmlns:a="http://schemas.openxmlformats.org/drawingml/2006/main">
              <a:ext uri="{FF2B5EF4-FFF2-40B4-BE49-F238E27FC236}">
                <a16:creationId xmlns:a16="http://schemas.microsoft.com/office/drawing/2014/main" id="{56AA2B63-EDA5-4390-A9E2-188B8DE2A074}"/>
              </a:ext>
            </a:extLst>
          </p:cNvPr>
          <p:cNvSpPr>
            <a:spLocks xmlns:a="http://schemas.openxmlformats.org/drawingml/2006/main" noGrp="1"/>
          </p:cNvSpPr>
          <p:nvPr/>
        </p:nvSpPr>
        <p:spPr>
          <a:xfrm xmlns:a="http://schemas.openxmlformats.org/drawingml/2006/main">
            <a:off x="742950" y="39719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18 Scene Memory turns a small change on the desk into evidence to discuss.</a:t>
            </a:r>
          </a:p>
        </p:txBody>
      </p:sp>
      <p:sp>
        <p:nvSpPr>
          <p:cNvPr id="9" name="">
            <a:extLst xmlns:a="http://schemas.openxmlformats.org/drawingml/2006/main">
              <a:ext uri="{FF2B5EF4-FFF2-40B4-BE49-F238E27FC236}">
                <a16:creationId xmlns:a16="http://schemas.microsoft.com/office/drawing/2014/main" id="{2BD6389B-8CBA-4810-B55D-F1D680D06036}"/>
              </a:ext>
            </a:extLst>
          </p:cNvPr>
          <p:cNvSpPr>
            <a:spLocks xmlns:a="http://schemas.openxmlformats.org/drawingml/2006/main" noGrp="1"/>
          </p:cNvSpPr>
          <p:nvPr/>
        </p:nvSpPr>
        <p:spPr>
          <a:xfrm xmlns:a="http://schemas.openxmlformats.org/drawingml/2006/main">
            <a:off x="714375" y="473392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9332A"/>
                </a:solidFill>
                <a:latin typeface="Arial"/>
                <a:ea typeface="Arial"/>
                <a:cs typeface="Arial"/>
              </a:defRPr>
            </a:pPr>
            <a:r>
              <a:rPr sz="2550" b="1">
                <a:solidFill>
                  <a:srgbClr val="19332A"/>
                </a:solidFill>
                <a:latin typeface="Arial"/>
                <a:ea typeface="Arial"/>
                <a:cs typeface="Arial"/>
              </a:rPr>
              <a:t>Recover and repeat</a:t>
            </a:r>
          </a:p>
        </p:txBody>
      </p:sp>
      <p:sp>
        <p:nvSpPr>
          <p:cNvPr id="10" name="">
            <a:extLst xmlns:a="http://schemas.openxmlformats.org/drawingml/2006/main">
              <a:ext uri="{FF2B5EF4-FFF2-40B4-BE49-F238E27FC236}">
                <a16:creationId xmlns:a16="http://schemas.microsoft.com/office/drawing/2014/main" id="{C23ED6FD-9E21-4643-A903-79C5821F9CFA}"/>
              </a:ext>
            </a:extLst>
          </p:cNvPr>
          <p:cNvSpPr>
            <a:spLocks xmlns:a="http://schemas.openxmlformats.org/drawingml/2006/main" noGrp="1"/>
          </p:cNvSpPr>
          <p:nvPr/>
        </p:nvSpPr>
        <p:spPr>
          <a:xfrm xmlns:a="http://schemas.openxmlformats.org/drawingml/2006/main">
            <a:off x="742950" y="52482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35B"/>
                </a:solidFill>
                <a:latin typeface="Arial"/>
                <a:ea typeface="Arial"/>
                <a:cs typeface="Arial"/>
              </a:defRPr>
            </a:pPr>
            <a:r>
              <a:rPr sz="1875" b="0">
                <a:solidFill>
                  <a:srgbClr val="52635B"/>
                </a:solidFill>
                <a:latin typeface="Arial"/>
                <a:ea typeface="Arial"/>
                <a:cs typeface="Arial"/>
              </a:rPr>
              <a:t>Ctrl+C returns to the menu. 0 exits. 21 runs the prepared demonstration sequence.</a:t>
            </a:r>
          </a:p>
        </p:txBody>
      </p:sp>
    </p:spTree>
    <p:extLst>
      <p:ext uri="{BB962C8B-B14F-4D97-AF65-F5344CB8AC3E}">
        <p14:creationId xmlns:p14="http://schemas.microsoft.com/office/powerpoint/2010/main" val="6243558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2026-09-23T15:34:11.1240000Z</dcterms:created>
  <dcterms:modified xsi:type="dcterms:W3CDTF">2026-09-23T15:34:11.1240000Z</dcterms:modified>
</coreProperties>
</file>